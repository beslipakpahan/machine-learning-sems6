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1"/>
  </p:notesMasterIdLst>
  <p:sldIdLst>
    <p:sldId id="257" r:id="rId2"/>
    <p:sldId id="295" r:id="rId3"/>
    <p:sldId id="296" r:id="rId4"/>
    <p:sldId id="353" r:id="rId5"/>
    <p:sldId id="260" r:id="rId6"/>
    <p:sldId id="286" r:id="rId7"/>
    <p:sldId id="325" r:id="rId8"/>
    <p:sldId id="326" r:id="rId9"/>
    <p:sldId id="329" r:id="rId10"/>
    <p:sldId id="330" r:id="rId11"/>
    <p:sldId id="331" r:id="rId12"/>
    <p:sldId id="332" r:id="rId13"/>
    <p:sldId id="333" r:id="rId14"/>
    <p:sldId id="334" r:id="rId15"/>
    <p:sldId id="335" r:id="rId16"/>
    <p:sldId id="336" r:id="rId17"/>
    <p:sldId id="337" r:id="rId18"/>
    <p:sldId id="338" r:id="rId19"/>
    <p:sldId id="345" r:id="rId20"/>
    <p:sldId id="340" r:id="rId21"/>
    <p:sldId id="341" r:id="rId22"/>
    <p:sldId id="343" r:id="rId23"/>
    <p:sldId id="342" r:id="rId24"/>
    <p:sldId id="344" r:id="rId25"/>
    <p:sldId id="358" r:id="rId26"/>
    <p:sldId id="346" r:id="rId27"/>
    <p:sldId id="357" r:id="rId28"/>
    <p:sldId id="347" r:id="rId29"/>
    <p:sldId id="355" r:id="rId30"/>
    <p:sldId id="356" r:id="rId31"/>
    <p:sldId id="348" r:id="rId32"/>
    <p:sldId id="349" r:id="rId33"/>
    <p:sldId id="350" r:id="rId34"/>
    <p:sldId id="351" r:id="rId35"/>
    <p:sldId id="352" r:id="rId36"/>
    <p:sldId id="280" r:id="rId37"/>
    <p:sldId id="354" r:id="rId38"/>
    <p:sldId id="279" r:id="rId39"/>
    <p:sldId id="281" r:id="rId40"/>
  </p:sldIdLst>
  <p:sldSz cx="18288000" cy="10287000"/>
  <p:notesSz cx="6858000" cy="9144000"/>
  <p:embeddedFontLst>
    <p:embeddedFont>
      <p:font typeface="Georgia" panose="02040502050405020303" pitchFamily="18" charset="0"/>
      <p:regular r:id="rId42"/>
      <p:bold r:id="rId43"/>
      <p:italic r:id="rId44"/>
      <p:boldItalic r:id="rId45"/>
    </p:embeddedFont>
    <p:embeddedFont>
      <p:font typeface="Montserrat" panose="00000500000000000000" pitchFamily="2" charset="0"/>
      <p:regular r:id="rId46"/>
      <p:bold r:id="rId47"/>
      <p:italic r:id="rId48"/>
      <p:boldItalic r:id="rId49"/>
    </p:embeddedFont>
    <p:embeddedFont>
      <p:font typeface="Montserrat Classic" panose="020B0604020202020204" charset="0"/>
      <p:regular r:id="rId50"/>
    </p:embeddedFont>
    <p:embeddedFont>
      <p:font typeface="Montserrat Classic Bold" panose="020B0604020202020204" charset="0"/>
      <p:regular r:id="rId51"/>
    </p:embeddedFont>
    <p:embeddedFont>
      <p:font typeface="Open Sans Extra Bold" panose="020B0604020202020204" charset="0"/>
      <p:regular r:id="rId52"/>
    </p:embeddedFont>
    <p:embeddedFont>
      <p:font typeface="Raleway" pitchFamily="2" charset="0"/>
      <p:regular r:id="rId53"/>
      <p:bold r:id="rId54"/>
      <p:italic r:id="rId55"/>
      <p:boldItalic r:id="rId56"/>
    </p:embeddedFont>
    <p:embeddedFont>
      <p:font typeface="Trebuchet MS" panose="020B0603020202020204" pitchFamily="34" charset="0"/>
      <p:regular r:id="rId57"/>
      <p:bold r:id="rId58"/>
      <p:italic r:id="rId59"/>
      <p:boldItalic r:id="rId6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72573" autoAdjust="0"/>
  </p:normalViewPr>
  <p:slideViewPr>
    <p:cSldViewPr>
      <p:cViewPr varScale="1">
        <p:scale>
          <a:sx n="41" d="100"/>
          <a:sy n="41" d="100"/>
        </p:scale>
        <p:origin x="1426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font" Target="fonts/font14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font" Target="fonts/font17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font" Target="fonts/font15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59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3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font" Target="fonts/font1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60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C6C227-D0A4-418D-8599-427C73C57C2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F8E4FD0-59EE-46AA-9DD8-A41375D91929}">
      <dgm:prSet/>
      <dgm:spPr/>
      <dgm:t>
        <a:bodyPr/>
        <a:lstStyle/>
        <a:p>
          <a:r>
            <a:rPr lang="en-US"/>
            <a:t>Untuk melakukan EDA, kita menggunakan library berikut:</a:t>
          </a:r>
        </a:p>
      </dgm:t>
    </dgm:pt>
    <dgm:pt modelId="{D37754F3-929B-4A4B-B6FC-19801C5A5A6A}" type="parTrans" cxnId="{C577F732-17FE-42FA-A50D-81C2B862D791}">
      <dgm:prSet/>
      <dgm:spPr/>
      <dgm:t>
        <a:bodyPr/>
        <a:lstStyle/>
        <a:p>
          <a:endParaRPr lang="en-US"/>
        </a:p>
      </dgm:t>
    </dgm:pt>
    <dgm:pt modelId="{BBE1369B-FD53-41BB-A8EB-411D5361CAB3}" type="sibTrans" cxnId="{C577F732-17FE-42FA-A50D-81C2B862D791}">
      <dgm:prSet/>
      <dgm:spPr/>
      <dgm:t>
        <a:bodyPr/>
        <a:lstStyle/>
        <a:p>
          <a:endParaRPr lang="en-US"/>
        </a:p>
      </dgm:t>
    </dgm:pt>
    <dgm:pt modelId="{4578B02B-0D6C-4891-9E80-9254A98F6FDC}">
      <dgm:prSet/>
      <dgm:spPr/>
      <dgm:t>
        <a:bodyPr/>
        <a:lstStyle/>
        <a:p>
          <a:r>
            <a:rPr lang="en-US" b="1" dirty="0"/>
            <a:t>NumPy</a:t>
          </a:r>
          <a:r>
            <a:rPr lang="en-US" dirty="0"/>
            <a:t>: </a:t>
          </a:r>
          <a:r>
            <a:rPr lang="en-US" dirty="0" err="1"/>
            <a:t>Operasi</a:t>
          </a:r>
          <a:r>
            <a:rPr lang="en-US" dirty="0"/>
            <a:t> </a:t>
          </a:r>
          <a:r>
            <a:rPr lang="en-US" dirty="0" err="1"/>
            <a:t>numerik</a:t>
          </a:r>
          <a:r>
            <a:rPr lang="en-US" dirty="0"/>
            <a:t> dan array </a:t>
          </a:r>
          <a:r>
            <a:rPr lang="en-US" dirty="0" err="1"/>
            <a:t>multidimensi</a:t>
          </a:r>
          <a:endParaRPr lang="en-US" dirty="0"/>
        </a:p>
      </dgm:t>
    </dgm:pt>
    <dgm:pt modelId="{CFEAE146-3699-4437-B9C5-0B0A0C2C0D66}" type="parTrans" cxnId="{753B999D-75F9-4BFF-BE0C-0E5F5A2CAD41}">
      <dgm:prSet/>
      <dgm:spPr/>
      <dgm:t>
        <a:bodyPr/>
        <a:lstStyle/>
        <a:p>
          <a:endParaRPr lang="en-US"/>
        </a:p>
      </dgm:t>
    </dgm:pt>
    <dgm:pt modelId="{4EC3D5FB-FA08-4FE9-8F3D-0E3A3F63B5E8}" type="sibTrans" cxnId="{753B999D-75F9-4BFF-BE0C-0E5F5A2CAD41}">
      <dgm:prSet/>
      <dgm:spPr/>
      <dgm:t>
        <a:bodyPr/>
        <a:lstStyle/>
        <a:p>
          <a:endParaRPr lang="en-US"/>
        </a:p>
      </dgm:t>
    </dgm:pt>
    <dgm:pt modelId="{8FE45636-6DC6-48C9-B3D1-BEFEFF28E0CF}">
      <dgm:prSet/>
      <dgm:spPr/>
      <dgm:t>
        <a:bodyPr/>
        <a:lstStyle/>
        <a:p>
          <a:r>
            <a:rPr lang="en-US" b="1"/>
            <a:t>pandas</a:t>
          </a:r>
          <a:r>
            <a:rPr lang="en-US"/>
            <a:t>: Manipulasi dan analisis data</a:t>
          </a:r>
        </a:p>
      </dgm:t>
    </dgm:pt>
    <dgm:pt modelId="{2BAFF046-A8A0-4004-833B-888681254CD6}" type="parTrans" cxnId="{F99B92C0-787E-49E6-8D8A-DBAEF4E8F2C1}">
      <dgm:prSet/>
      <dgm:spPr/>
      <dgm:t>
        <a:bodyPr/>
        <a:lstStyle/>
        <a:p>
          <a:endParaRPr lang="en-US"/>
        </a:p>
      </dgm:t>
    </dgm:pt>
    <dgm:pt modelId="{54567E41-0ADF-43AA-A812-720F2F46B4D8}" type="sibTrans" cxnId="{F99B92C0-787E-49E6-8D8A-DBAEF4E8F2C1}">
      <dgm:prSet/>
      <dgm:spPr/>
      <dgm:t>
        <a:bodyPr/>
        <a:lstStyle/>
        <a:p>
          <a:endParaRPr lang="en-US"/>
        </a:p>
      </dgm:t>
    </dgm:pt>
    <dgm:pt modelId="{952C9ECE-7E8E-4D11-8EA3-44FF293E77EF}">
      <dgm:prSet/>
      <dgm:spPr/>
      <dgm:t>
        <a:bodyPr/>
        <a:lstStyle/>
        <a:p>
          <a:r>
            <a:rPr lang="en-US" b="1" dirty="0"/>
            <a:t>Matplotlib dan Seaborn</a:t>
          </a:r>
          <a:r>
            <a:rPr lang="en-US" dirty="0"/>
            <a:t>: </a:t>
          </a:r>
          <a:r>
            <a:rPr lang="en-US" dirty="0" err="1"/>
            <a:t>Visualisasi</a:t>
          </a:r>
          <a:r>
            <a:rPr lang="en-US" dirty="0"/>
            <a:t> data</a:t>
          </a:r>
        </a:p>
      </dgm:t>
    </dgm:pt>
    <dgm:pt modelId="{956A20B9-18C0-43F3-BFEC-B98ED946AE37}" type="parTrans" cxnId="{544A3DFC-375D-4F23-81C2-4DA146D2917B}">
      <dgm:prSet/>
      <dgm:spPr/>
      <dgm:t>
        <a:bodyPr/>
        <a:lstStyle/>
        <a:p>
          <a:endParaRPr lang="en-US"/>
        </a:p>
      </dgm:t>
    </dgm:pt>
    <dgm:pt modelId="{A5237252-E66F-43AD-89AE-10E3061EC8DE}" type="sibTrans" cxnId="{544A3DFC-375D-4F23-81C2-4DA146D2917B}">
      <dgm:prSet/>
      <dgm:spPr/>
      <dgm:t>
        <a:bodyPr/>
        <a:lstStyle/>
        <a:p>
          <a:endParaRPr lang="en-US"/>
        </a:p>
      </dgm:t>
    </dgm:pt>
    <dgm:pt modelId="{7EEB6B38-7D1D-47EC-A6A6-DD05A87E28FB}">
      <dgm:prSet/>
      <dgm:spPr/>
      <dgm:t>
        <a:bodyPr/>
        <a:lstStyle/>
        <a:p>
          <a:r>
            <a:rPr lang="en-US" b="1" dirty="0"/>
            <a:t>SciPy</a:t>
          </a:r>
          <a:endParaRPr lang="en-US" dirty="0"/>
        </a:p>
      </dgm:t>
    </dgm:pt>
    <dgm:pt modelId="{482E2596-1418-4C77-B1D8-5AF29B0E0266}" type="parTrans" cxnId="{DE88D680-698F-44BA-BD67-C40EE7132E0F}">
      <dgm:prSet/>
      <dgm:spPr/>
      <dgm:t>
        <a:bodyPr/>
        <a:lstStyle/>
        <a:p>
          <a:endParaRPr lang="en-US"/>
        </a:p>
      </dgm:t>
    </dgm:pt>
    <dgm:pt modelId="{1B00D40E-76FF-47C2-9AA0-BB7714376AD9}" type="sibTrans" cxnId="{DE88D680-698F-44BA-BD67-C40EE7132E0F}">
      <dgm:prSet/>
      <dgm:spPr/>
      <dgm:t>
        <a:bodyPr/>
        <a:lstStyle/>
        <a:p>
          <a:endParaRPr lang="en-US"/>
        </a:p>
      </dgm:t>
    </dgm:pt>
    <dgm:pt modelId="{C28C169E-D82E-4EC0-AD2C-37E8B632698E}" type="pres">
      <dgm:prSet presAssocID="{41C6C227-D0A4-418D-8599-427C73C57C2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B7B91B9-664A-4118-A90E-A9F439EC2783}" type="pres">
      <dgm:prSet presAssocID="{9F8E4FD0-59EE-46AA-9DD8-A41375D91929}" presName="hierRoot1" presStyleCnt="0"/>
      <dgm:spPr/>
    </dgm:pt>
    <dgm:pt modelId="{B518823B-FED6-4AA1-A9FE-6A69F43FCC97}" type="pres">
      <dgm:prSet presAssocID="{9F8E4FD0-59EE-46AA-9DD8-A41375D91929}" presName="composite" presStyleCnt="0"/>
      <dgm:spPr/>
    </dgm:pt>
    <dgm:pt modelId="{6693D6D9-3BB5-433C-9CFE-587D9D1AA5F0}" type="pres">
      <dgm:prSet presAssocID="{9F8E4FD0-59EE-46AA-9DD8-A41375D91929}" presName="background" presStyleLbl="node0" presStyleIdx="0" presStyleCnt="1"/>
      <dgm:spPr/>
    </dgm:pt>
    <dgm:pt modelId="{6F3CF3C4-1F7D-4B2D-8D14-65B92E44CA42}" type="pres">
      <dgm:prSet presAssocID="{9F8E4FD0-59EE-46AA-9DD8-A41375D91929}" presName="text" presStyleLbl="fgAcc0" presStyleIdx="0" presStyleCnt="1">
        <dgm:presLayoutVars>
          <dgm:chPref val="3"/>
        </dgm:presLayoutVars>
      </dgm:prSet>
      <dgm:spPr/>
    </dgm:pt>
    <dgm:pt modelId="{811A5C26-4619-4D9A-B2DD-17900AE82975}" type="pres">
      <dgm:prSet presAssocID="{9F8E4FD0-59EE-46AA-9DD8-A41375D91929}" presName="hierChild2" presStyleCnt="0"/>
      <dgm:spPr/>
    </dgm:pt>
    <dgm:pt modelId="{6E94994F-588F-4835-936A-207B82526F6E}" type="pres">
      <dgm:prSet presAssocID="{CFEAE146-3699-4437-B9C5-0B0A0C2C0D66}" presName="Name10" presStyleLbl="parChTrans1D2" presStyleIdx="0" presStyleCnt="4"/>
      <dgm:spPr/>
    </dgm:pt>
    <dgm:pt modelId="{D93A6DA9-6A73-40EB-B545-A57480FA2D27}" type="pres">
      <dgm:prSet presAssocID="{4578B02B-0D6C-4891-9E80-9254A98F6FDC}" presName="hierRoot2" presStyleCnt="0"/>
      <dgm:spPr/>
    </dgm:pt>
    <dgm:pt modelId="{06614996-B1D1-4E83-92D2-9D4650A3FB44}" type="pres">
      <dgm:prSet presAssocID="{4578B02B-0D6C-4891-9E80-9254A98F6FDC}" presName="composite2" presStyleCnt="0"/>
      <dgm:spPr/>
    </dgm:pt>
    <dgm:pt modelId="{2D844202-18FF-419D-B329-CC5C42423D3A}" type="pres">
      <dgm:prSet presAssocID="{4578B02B-0D6C-4891-9E80-9254A98F6FDC}" presName="background2" presStyleLbl="node2" presStyleIdx="0" presStyleCnt="4"/>
      <dgm:spPr/>
    </dgm:pt>
    <dgm:pt modelId="{9A18B055-92CD-4118-A400-D4869C20C796}" type="pres">
      <dgm:prSet presAssocID="{4578B02B-0D6C-4891-9E80-9254A98F6FDC}" presName="text2" presStyleLbl="fgAcc2" presStyleIdx="0" presStyleCnt="4">
        <dgm:presLayoutVars>
          <dgm:chPref val="3"/>
        </dgm:presLayoutVars>
      </dgm:prSet>
      <dgm:spPr/>
    </dgm:pt>
    <dgm:pt modelId="{53592003-F882-4DEA-9B2D-0F88E9DAD11E}" type="pres">
      <dgm:prSet presAssocID="{4578B02B-0D6C-4891-9E80-9254A98F6FDC}" presName="hierChild3" presStyleCnt="0"/>
      <dgm:spPr/>
    </dgm:pt>
    <dgm:pt modelId="{877C8AE1-33E8-41D1-B16C-19A51551E515}" type="pres">
      <dgm:prSet presAssocID="{2BAFF046-A8A0-4004-833B-888681254CD6}" presName="Name10" presStyleLbl="parChTrans1D2" presStyleIdx="1" presStyleCnt="4"/>
      <dgm:spPr/>
    </dgm:pt>
    <dgm:pt modelId="{8165279C-0D29-4AC8-AE78-D096D47506E6}" type="pres">
      <dgm:prSet presAssocID="{8FE45636-6DC6-48C9-B3D1-BEFEFF28E0CF}" presName="hierRoot2" presStyleCnt="0"/>
      <dgm:spPr/>
    </dgm:pt>
    <dgm:pt modelId="{23F85041-1477-4050-ABD5-0938EDA6D414}" type="pres">
      <dgm:prSet presAssocID="{8FE45636-6DC6-48C9-B3D1-BEFEFF28E0CF}" presName="composite2" presStyleCnt="0"/>
      <dgm:spPr/>
    </dgm:pt>
    <dgm:pt modelId="{83E73860-65DE-4A5E-A331-0CE94539F916}" type="pres">
      <dgm:prSet presAssocID="{8FE45636-6DC6-48C9-B3D1-BEFEFF28E0CF}" presName="background2" presStyleLbl="node2" presStyleIdx="1" presStyleCnt="4"/>
      <dgm:spPr/>
    </dgm:pt>
    <dgm:pt modelId="{54BE705F-50D6-44D5-8403-4AAF2A9A6C61}" type="pres">
      <dgm:prSet presAssocID="{8FE45636-6DC6-48C9-B3D1-BEFEFF28E0CF}" presName="text2" presStyleLbl="fgAcc2" presStyleIdx="1" presStyleCnt="4">
        <dgm:presLayoutVars>
          <dgm:chPref val="3"/>
        </dgm:presLayoutVars>
      </dgm:prSet>
      <dgm:spPr/>
    </dgm:pt>
    <dgm:pt modelId="{6E3605DC-A278-4C50-B3D7-BB0E58F4A14C}" type="pres">
      <dgm:prSet presAssocID="{8FE45636-6DC6-48C9-B3D1-BEFEFF28E0CF}" presName="hierChild3" presStyleCnt="0"/>
      <dgm:spPr/>
    </dgm:pt>
    <dgm:pt modelId="{AA169F08-2F0C-4811-95CC-693889A0BA5B}" type="pres">
      <dgm:prSet presAssocID="{956A20B9-18C0-43F3-BFEC-B98ED946AE37}" presName="Name10" presStyleLbl="parChTrans1D2" presStyleIdx="2" presStyleCnt="4"/>
      <dgm:spPr/>
    </dgm:pt>
    <dgm:pt modelId="{F7947DF4-75B3-48D0-8C6B-C68FC175381C}" type="pres">
      <dgm:prSet presAssocID="{952C9ECE-7E8E-4D11-8EA3-44FF293E77EF}" presName="hierRoot2" presStyleCnt="0"/>
      <dgm:spPr/>
    </dgm:pt>
    <dgm:pt modelId="{B32E3694-0F38-4B9A-98C8-0800A9554830}" type="pres">
      <dgm:prSet presAssocID="{952C9ECE-7E8E-4D11-8EA3-44FF293E77EF}" presName="composite2" presStyleCnt="0"/>
      <dgm:spPr/>
    </dgm:pt>
    <dgm:pt modelId="{C901DBCF-32FA-45E0-BEB3-088FCC1BE262}" type="pres">
      <dgm:prSet presAssocID="{952C9ECE-7E8E-4D11-8EA3-44FF293E77EF}" presName="background2" presStyleLbl="node2" presStyleIdx="2" presStyleCnt="4"/>
      <dgm:spPr/>
    </dgm:pt>
    <dgm:pt modelId="{21F2A989-E090-42AF-B319-1AB99BCFB2B0}" type="pres">
      <dgm:prSet presAssocID="{952C9ECE-7E8E-4D11-8EA3-44FF293E77EF}" presName="text2" presStyleLbl="fgAcc2" presStyleIdx="2" presStyleCnt="4">
        <dgm:presLayoutVars>
          <dgm:chPref val="3"/>
        </dgm:presLayoutVars>
      </dgm:prSet>
      <dgm:spPr/>
    </dgm:pt>
    <dgm:pt modelId="{6543D798-C08A-4861-ACBE-CCD17C117FB2}" type="pres">
      <dgm:prSet presAssocID="{952C9ECE-7E8E-4D11-8EA3-44FF293E77EF}" presName="hierChild3" presStyleCnt="0"/>
      <dgm:spPr/>
    </dgm:pt>
    <dgm:pt modelId="{3B057E8F-911D-4C35-877B-FFC9BA946543}" type="pres">
      <dgm:prSet presAssocID="{482E2596-1418-4C77-B1D8-5AF29B0E0266}" presName="Name10" presStyleLbl="parChTrans1D2" presStyleIdx="3" presStyleCnt="4"/>
      <dgm:spPr/>
    </dgm:pt>
    <dgm:pt modelId="{3BEBA8A5-8B6F-465D-AF13-F44FC70D837B}" type="pres">
      <dgm:prSet presAssocID="{7EEB6B38-7D1D-47EC-A6A6-DD05A87E28FB}" presName="hierRoot2" presStyleCnt="0"/>
      <dgm:spPr/>
    </dgm:pt>
    <dgm:pt modelId="{A2240D22-03B7-4C7D-BB49-68773FD1FDE6}" type="pres">
      <dgm:prSet presAssocID="{7EEB6B38-7D1D-47EC-A6A6-DD05A87E28FB}" presName="composite2" presStyleCnt="0"/>
      <dgm:spPr/>
    </dgm:pt>
    <dgm:pt modelId="{E084998A-E5C6-4F67-9182-AF70F753ACF9}" type="pres">
      <dgm:prSet presAssocID="{7EEB6B38-7D1D-47EC-A6A6-DD05A87E28FB}" presName="background2" presStyleLbl="node2" presStyleIdx="3" presStyleCnt="4"/>
      <dgm:spPr/>
    </dgm:pt>
    <dgm:pt modelId="{8BAC5AFF-ED8F-43F5-BA4C-6DA6CAB86372}" type="pres">
      <dgm:prSet presAssocID="{7EEB6B38-7D1D-47EC-A6A6-DD05A87E28FB}" presName="text2" presStyleLbl="fgAcc2" presStyleIdx="3" presStyleCnt="4">
        <dgm:presLayoutVars>
          <dgm:chPref val="3"/>
        </dgm:presLayoutVars>
      </dgm:prSet>
      <dgm:spPr/>
    </dgm:pt>
    <dgm:pt modelId="{38A22362-8E88-4ACC-A4D4-69DA2EE9F42A}" type="pres">
      <dgm:prSet presAssocID="{7EEB6B38-7D1D-47EC-A6A6-DD05A87E28FB}" presName="hierChild3" presStyleCnt="0"/>
      <dgm:spPr/>
    </dgm:pt>
  </dgm:ptLst>
  <dgm:cxnLst>
    <dgm:cxn modelId="{9A88520A-6C49-4B32-BDE4-528357AC2EDA}" type="presOf" srcId="{8FE45636-6DC6-48C9-B3D1-BEFEFF28E0CF}" destId="{54BE705F-50D6-44D5-8403-4AAF2A9A6C61}" srcOrd="0" destOrd="0" presId="urn:microsoft.com/office/officeart/2005/8/layout/hierarchy1"/>
    <dgm:cxn modelId="{83A8BD23-18AA-49C6-8F09-7140D5B9FB26}" type="presOf" srcId="{2BAFF046-A8A0-4004-833B-888681254CD6}" destId="{877C8AE1-33E8-41D1-B16C-19A51551E515}" srcOrd="0" destOrd="0" presId="urn:microsoft.com/office/officeart/2005/8/layout/hierarchy1"/>
    <dgm:cxn modelId="{C577F732-17FE-42FA-A50D-81C2B862D791}" srcId="{41C6C227-D0A4-418D-8599-427C73C57C23}" destId="{9F8E4FD0-59EE-46AA-9DD8-A41375D91929}" srcOrd="0" destOrd="0" parTransId="{D37754F3-929B-4A4B-B6FC-19801C5A5A6A}" sibTransId="{BBE1369B-FD53-41BB-A8EB-411D5361CAB3}"/>
    <dgm:cxn modelId="{8239A35E-0F47-4EC3-B444-682242E8297E}" type="presOf" srcId="{7EEB6B38-7D1D-47EC-A6A6-DD05A87E28FB}" destId="{8BAC5AFF-ED8F-43F5-BA4C-6DA6CAB86372}" srcOrd="0" destOrd="0" presId="urn:microsoft.com/office/officeart/2005/8/layout/hierarchy1"/>
    <dgm:cxn modelId="{2658636C-6B8A-4A12-AA1F-3F6FCD317DEF}" type="presOf" srcId="{952C9ECE-7E8E-4D11-8EA3-44FF293E77EF}" destId="{21F2A989-E090-42AF-B319-1AB99BCFB2B0}" srcOrd="0" destOrd="0" presId="urn:microsoft.com/office/officeart/2005/8/layout/hierarchy1"/>
    <dgm:cxn modelId="{DE88D680-698F-44BA-BD67-C40EE7132E0F}" srcId="{9F8E4FD0-59EE-46AA-9DD8-A41375D91929}" destId="{7EEB6B38-7D1D-47EC-A6A6-DD05A87E28FB}" srcOrd="3" destOrd="0" parTransId="{482E2596-1418-4C77-B1D8-5AF29B0E0266}" sibTransId="{1B00D40E-76FF-47C2-9AA0-BB7714376AD9}"/>
    <dgm:cxn modelId="{753B999D-75F9-4BFF-BE0C-0E5F5A2CAD41}" srcId="{9F8E4FD0-59EE-46AA-9DD8-A41375D91929}" destId="{4578B02B-0D6C-4891-9E80-9254A98F6FDC}" srcOrd="0" destOrd="0" parTransId="{CFEAE146-3699-4437-B9C5-0B0A0C2C0D66}" sibTransId="{4EC3D5FB-FA08-4FE9-8F3D-0E3A3F63B5E8}"/>
    <dgm:cxn modelId="{2AD620A7-2DE7-4AF3-9043-E61F2FC90885}" type="presOf" srcId="{9F8E4FD0-59EE-46AA-9DD8-A41375D91929}" destId="{6F3CF3C4-1F7D-4B2D-8D14-65B92E44CA42}" srcOrd="0" destOrd="0" presId="urn:microsoft.com/office/officeart/2005/8/layout/hierarchy1"/>
    <dgm:cxn modelId="{487211B0-02E7-4941-A1B9-B00EEF5D4B50}" type="presOf" srcId="{956A20B9-18C0-43F3-BFEC-B98ED946AE37}" destId="{AA169F08-2F0C-4811-95CC-693889A0BA5B}" srcOrd="0" destOrd="0" presId="urn:microsoft.com/office/officeart/2005/8/layout/hierarchy1"/>
    <dgm:cxn modelId="{91B903B6-B52D-4B1B-BE7A-B419AC10B16C}" type="presOf" srcId="{482E2596-1418-4C77-B1D8-5AF29B0E0266}" destId="{3B057E8F-911D-4C35-877B-FFC9BA946543}" srcOrd="0" destOrd="0" presId="urn:microsoft.com/office/officeart/2005/8/layout/hierarchy1"/>
    <dgm:cxn modelId="{A023F0BC-8EAD-4DFA-8422-4E72F855A08D}" type="presOf" srcId="{41C6C227-D0A4-418D-8599-427C73C57C23}" destId="{C28C169E-D82E-4EC0-AD2C-37E8B632698E}" srcOrd="0" destOrd="0" presId="urn:microsoft.com/office/officeart/2005/8/layout/hierarchy1"/>
    <dgm:cxn modelId="{F99B92C0-787E-49E6-8D8A-DBAEF4E8F2C1}" srcId="{9F8E4FD0-59EE-46AA-9DD8-A41375D91929}" destId="{8FE45636-6DC6-48C9-B3D1-BEFEFF28E0CF}" srcOrd="1" destOrd="0" parTransId="{2BAFF046-A8A0-4004-833B-888681254CD6}" sibTransId="{54567E41-0ADF-43AA-A812-720F2F46B4D8}"/>
    <dgm:cxn modelId="{20A879F6-F3CD-4277-8C4A-9FDF96648E0B}" type="presOf" srcId="{CFEAE146-3699-4437-B9C5-0B0A0C2C0D66}" destId="{6E94994F-588F-4835-936A-207B82526F6E}" srcOrd="0" destOrd="0" presId="urn:microsoft.com/office/officeart/2005/8/layout/hierarchy1"/>
    <dgm:cxn modelId="{BD937AF6-6BEE-4252-ADC2-CCE44A52E7EA}" type="presOf" srcId="{4578B02B-0D6C-4891-9E80-9254A98F6FDC}" destId="{9A18B055-92CD-4118-A400-D4869C20C796}" srcOrd="0" destOrd="0" presId="urn:microsoft.com/office/officeart/2005/8/layout/hierarchy1"/>
    <dgm:cxn modelId="{544A3DFC-375D-4F23-81C2-4DA146D2917B}" srcId="{9F8E4FD0-59EE-46AA-9DD8-A41375D91929}" destId="{952C9ECE-7E8E-4D11-8EA3-44FF293E77EF}" srcOrd="2" destOrd="0" parTransId="{956A20B9-18C0-43F3-BFEC-B98ED946AE37}" sibTransId="{A5237252-E66F-43AD-89AE-10E3061EC8DE}"/>
    <dgm:cxn modelId="{CFCB9AB8-FFE0-4524-A8B3-1867603CE127}" type="presParOf" srcId="{C28C169E-D82E-4EC0-AD2C-37E8B632698E}" destId="{8B7B91B9-664A-4118-A90E-A9F439EC2783}" srcOrd="0" destOrd="0" presId="urn:microsoft.com/office/officeart/2005/8/layout/hierarchy1"/>
    <dgm:cxn modelId="{E89652BF-F67F-4844-903A-14C83F3AC46D}" type="presParOf" srcId="{8B7B91B9-664A-4118-A90E-A9F439EC2783}" destId="{B518823B-FED6-4AA1-A9FE-6A69F43FCC97}" srcOrd="0" destOrd="0" presId="urn:microsoft.com/office/officeart/2005/8/layout/hierarchy1"/>
    <dgm:cxn modelId="{471F83ED-8AAF-41B4-BEB9-74284279D740}" type="presParOf" srcId="{B518823B-FED6-4AA1-A9FE-6A69F43FCC97}" destId="{6693D6D9-3BB5-433C-9CFE-587D9D1AA5F0}" srcOrd="0" destOrd="0" presId="urn:microsoft.com/office/officeart/2005/8/layout/hierarchy1"/>
    <dgm:cxn modelId="{65F8FE8E-79B1-42D5-8BDD-8E971991BEDE}" type="presParOf" srcId="{B518823B-FED6-4AA1-A9FE-6A69F43FCC97}" destId="{6F3CF3C4-1F7D-4B2D-8D14-65B92E44CA42}" srcOrd="1" destOrd="0" presId="urn:microsoft.com/office/officeart/2005/8/layout/hierarchy1"/>
    <dgm:cxn modelId="{F3FF45EF-05B9-4DC6-BB24-F83A2DF2BFDC}" type="presParOf" srcId="{8B7B91B9-664A-4118-A90E-A9F439EC2783}" destId="{811A5C26-4619-4D9A-B2DD-17900AE82975}" srcOrd="1" destOrd="0" presId="urn:microsoft.com/office/officeart/2005/8/layout/hierarchy1"/>
    <dgm:cxn modelId="{473183D5-C64B-4469-A028-7741049B197F}" type="presParOf" srcId="{811A5C26-4619-4D9A-B2DD-17900AE82975}" destId="{6E94994F-588F-4835-936A-207B82526F6E}" srcOrd="0" destOrd="0" presId="urn:microsoft.com/office/officeart/2005/8/layout/hierarchy1"/>
    <dgm:cxn modelId="{93D7B949-D3E0-4485-B648-6918DA7EAED5}" type="presParOf" srcId="{811A5C26-4619-4D9A-B2DD-17900AE82975}" destId="{D93A6DA9-6A73-40EB-B545-A57480FA2D27}" srcOrd="1" destOrd="0" presId="urn:microsoft.com/office/officeart/2005/8/layout/hierarchy1"/>
    <dgm:cxn modelId="{710298EE-C427-4ABC-A98F-6E978E1998DA}" type="presParOf" srcId="{D93A6DA9-6A73-40EB-B545-A57480FA2D27}" destId="{06614996-B1D1-4E83-92D2-9D4650A3FB44}" srcOrd="0" destOrd="0" presId="urn:microsoft.com/office/officeart/2005/8/layout/hierarchy1"/>
    <dgm:cxn modelId="{F1021B54-D739-4D55-90D7-E14C4AB49C2C}" type="presParOf" srcId="{06614996-B1D1-4E83-92D2-9D4650A3FB44}" destId="{2D844202-18FF-419D-B329-CC5C42423D3A}" srcOrd="0" destOrd="0" presId="urn:microsoft.com/office/officeart/2005/8/layout/hierarchy1"/>
    <dgm:cxn modelId="{43AA3909-B083-4745-8629-7A353390468F}" type="presParOf" srcId="{06614996-B1D1-4E83-92D2-9D4650A3FB44}" destId="{9A18B055-92CD-4118-A400-D4869C20C796}" srcOrd="1" destOrd="0" presId="urn:microsoft.com/office/officeart/2005/8/layout/hierarchy1"/>
    <dgm:cxn modelId="{630A0559-8847-4F55-A30E-18715C12EB36}" type="presParOf" srcId="{D93A6DA9-6A73-40EB-B545-A57480FA2D27}" destId="{53592003-F882-4DEA-9B2D-0F88E9DAD11E}" srcOrd="1" destOrd="0" presId="urn:microsoft.com/office/officeart/2005/8/layout/hierarchy1"/>
    <dgm:cxn modelId="{0C882050-8D8E-40E9-8EED-5EB497160313}" type="presParOf" srcId="{811A5C26-4619-4D9A-B2DD-17900AE82975}" destId="{877C8AE1-33E8-41D1-B16C-19A51551E515}" srcOrd="2" destOrd="0" presId="urn:microsoft.com/office/officeart/2005/8/layout/hierarchy1"/>
    <dgm:cxn modelId="{7A46288B-3767-45CA-BAF7-DF77DD32F926}" type="presParOf" srcId="{811A5C26-4619-4D9A-B2DD-17900AE82975}" destId="{8165279C-0D29-4AC8-AE78-D096D47506E6}" srcOrd="3" destOrd="0" presId="urn:microsoft.com/office/officeart/2005/8/layout/hierarchy1"/>
    <dgm:cxn modelId="{EBFF1B1B-DD24-4A22-83C7-E0BA56696D30}" type="presParOf" srcId="{8165279C-0D29-4AC8-AE78-D096D47506E6}" destId="{23F85041-1477-4050-ABD5-0938EDA6D414}" srcOrd="0" destOrd="0" presId="urn:microsoft.com/office/officeart/2005/8/layout/hierarchy1"/>
    <dgm:cxn modelId="{736A1399-EFB9-497B-8D70-FBC6BC5F0628}" type="presParOf" srcId="{23F85041-1477-4050-ABD5-0938EDA6D414}" destId="{83E73860-65DE-4A5E-A331-0CE94539F916}" srcOrd="0" destOrd="0" presId="urn:microsoft.com/office/officeart/2005/8/layout/hierarchy1"/>
    <dgm:cxn modelId="{D6446A1F-9B87-4A1E-ACE5-E775DC352DC5}" type="presParOf" srcId="{23F85041-1477-4050-ABD5-0938EDA6D414}" destId="{54BE705F-50D6-44D5-8403-4AAF2A9A6C61}" srcOrd="1" destOrd="0" presId="urn:microsoft.com/office/officeart/2005/8/layout/hierarchy1"/>
    <dgm:cxn modelId="{ECA84F9B-646D-467F-8F91-32DDBDBFB194}" type="presParOf" srcId="{8165279C-0D29-4AC8-AE78-D096D47506E6}" destId="{6E3605DC-A278-4C50-B3D7-BB0E58F4A14C}" srcOrd="1" destOrd="0" presId="urn:microsoft.com/office/officeart/2005/8/layout/hierarchy1"/>
    <dgm:cxn modelId="{4E162297-3D8A-444E-BE57-3A7BEBD5A3E3}" type="presParOf" srcId="{811A5C26-4619-4D9A-B2DD-17900AE82975}" destId="{AA169F08-2F0C-4811-95CC-693889A0BA5B}" srcOrd="4" destOrd="0" presId="urn:microsoft.com/office/officeart/2005/8/layout/hierarchy1"/>
    <dgm:cxn modelId="{573C3357-B08F-46CA-97B0-AF65F24503E4}" type="presParOf" srcId="{811A5C26-4619-4D9A-B2DD-17900AE82975}" destId="{F7947DF4-75B3-48D0-8C6B-C68FC175381C}" srcOrd="5" destOrd="0" presId="urn:microsoft.com/office/officeart/2005/8/layout/hierarchy1"/>
    <dgm:cxn modelId="{09A4569A-1741-4788-BD30-4CF1D59AEDA9}" type="presParOf" srcId="{F7947DF4-75B3-48D0-8C6B-C68FC175381C}" destId="{B32E3694-0F38-4B9A-98C8-0800A9554830}" srcOrd="0" destOrd="0" presId="urn:microsoft.com/office/officeart/2005/8/layout/hierarchy1"/>
    <dgm:cxn modelId="{3A16561D-D236-4B64-B223-C87985122DE7}" type="presParOf" srcId="{B32E3694-0F38-4B9A-98C8-0800A9554830}" destId="{C901DBCF-32FA-45E0-BEB3-088FCC1BE262}" srcOrd="0" destOrd="0" presId="urn:microsoft.com/office/officeart/2005/8/layout/hierarchy1"/>
    <dgm:cxn modelId="{DE3CA8C9-799C-4AE8-B83A-D94571C0A22F}" type="presParOf" srcId="{B32E3694-0F38-4B9A-98C8-0800A9554830}" destId="{21F2A989-E090-42AF-B319-1AB99BCFB2B0}" srcOrd="1" destOrd="0" presId="urn:microsoft.com/office/officeart/2005/8/layout/hierarchy1"/>
    <dgm:cxn modelId="{8E80C4DB-104C-4044-BC2F-3F6142644895}" type="presParOf" srcId="{F7947DF4-75B3-48D0-8C6B-C68FC175381C}" destId="{6543D798-C08A-4861-ACBE-CCD17C117FB2}" srcOrd="1" destOrd="0" presId="urn:microsoft.com/office/officeart/2005/8/layout/hierarchy1"/>
    <dgm:cxn modelId="{4CC29254-8659-44D4-A7BA-16CDC1026866}" type="presParOf" srcId="{811A5C26-4619-4D9A-B2DD-17900AE82975}" destId="{3B057E8F-911D-4C35-877B-FFC9BA946543}" srcOrd="6" destOrd="0" presId="urn:microsoft.com/office/officeart/2005/8/layout/hierarchy1"/>
    <dgm:cxn modelId="{B05844C9-DD34-4A1A-A503-9836A5471CA8}" type="presParOf" srcId="{811A5C26-4619-4D9A-B2DD-17900AE82975}" destId="{3BEBA8A5-8B6F-465D-AF13-F44FC70D837B}" srcOrd="7" destOrd="0" presId="urn:microsoft.com/office/officeart/2005/8/layout/hierarchy1"/>
    <dgm:cxn modelId="{651B5719-D40E-426E-83C4-B576E548ABDF}" type="presParOf" srcId="{3BEBA8A5-8B6F-465D-AF13-F44FC70D837B}" destId="{A2240D22-03B7-4C7D-BB49-68773FD1FDE6}" srcOrd="0" destOrd="0" presId="urn:microsoft.com/office/officeart/2005/8/layout/hierarchy1"/>
    <dgm:cxn modelId="{AD837BD2-87AD-4747-9B69-AC65B633465F}" type="presParOf" srcId="{A2240D22-03B7-4C7D-BB49-68773FD1FDE6}" destId="{E084998A-E5C6-4F67-9182-AF70F753ACF9}" srcOrd="0" destOrd="0" presId="urn:microsoft.com/office/officeart/2005/8/layout/hierarchy1"/>
    <dgm:cxn modelId="{3AC77294-2209-4390-AF2B-6CD2ABDCCE89}" type="presParOf" srcId="{A2240D22-03B7-4C7D-BB49-68773FD1FDE6}" destId="{8BAC5AFF-ED8F-43F5-BA4C-6DA6CAB86372}" srcOrd="1" destOrd="0" presId="urn:microsoft.com/office/officeart/2005/8/layout/hierarchy1"/>
    <dgm:cxn modelId="{29AA5F46-FB66-4597-9478-F6D61B7AFC8E}" type="presParOf" srcId="{3BEBA8A5-8B6F-465D-AF13-F44FC70D837B}" destId="{38A22362-8E88-4ACC-A4D4-69DA2EE9F42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057E8F-911D-4C35-877B-FFC9BA946543}">
      <dsp:nvSpPr>
        <dsp:cNvPr id="0" name=""/>
        <dsp:cNvSpPr/>
      </dsp:nvSpPr>
      <dsp:spPr>
        <a:xfrm>
          <a:off x="7838386" y="1920804"/>
          <a:ext cx="5540877" cy="8789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9002"/>
              </a:lnTo>
              <a:lnTo>
                <a:pt x="5540877" y="599002"/>
              </a:lnTo>
              <a:lnTo>
                <a:pt x="5540877" y="87898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169F08-2F0C-4811-95CC-693889A0BA5B}">
      <dsp:nvSpPr>
        <dsp:cNvPr id="0" name=""/>
        <dsp:cNvSpPr/>
      </dsp:nvSpPr>
      <dsp:spPr>
        <a:xfrm>
          <a:off x="7838386" y="1920804"/>
          <a:ext cx="1846959" cy="8789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9002"/>
              </a:lnTo>
              <a:lnTo>
                <a:pt x="1846959" y="599002"/>
              </a:lnTo>
              <a:lnTo>
                <a:pt x="1846959" y="87898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7C8AE1-33E8-41D1-B16C-19A51551E515}">
      <dsp:nvSpPr>
        <dsp:cNvPr id="0" name=""/>
        <dsp:cNvSpPr/>
      </dsp:nvSpPr>
      <dsp:spPr>
        <a:xfrm>
          <a:off x="5991427" y="1920804"/>
          <a:ext cx="1846959" cy="878984"/>
        </a:xfrm>
        <a:custGeom>
          <a:avLst/>
          <a:gdLst/>
          <a:ahLst/>
          <a:cxnLst/>
          <a:rect l="0" t="0" r="0" b="0"/>
          <a:pathLst>
            <a:path>
              <a:moveTo>
                <a:pt x="1846959" y="0"/>
              </a:moveTo>
              <a:lnTo>
                <a:pt x="1846959" y="599002"/>
              </a:lnTo>
              <a:lnTo>
                <a:pt x="0" y="599002"/>
              </a:lnTo>
              <a:lnTo>
                <a:pt x="0" y="87898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94994F-588F-4835-936A-207B82526F6E}">
      <dsp:nvSpPr>
        <dsp:cNvPr id="0" name=""/>
        <dsp:cNvSpPr/>
      </dsp:nvSpPr>
      <dsp:spPr>
        <a:xfrm>
          <a:off x="2297508" y="1920804"/>
          <a:ext cx="5540877" cy="878984"/>
        </a:xfrm>
        <a:custGeom>
          <a:avLst/>
          <a:gdLst/>
          <a:ahLst/>
          <a:cxnLst/>
          <a:rect l="0" t="0" r="0" b="0"/>
          <a:pathLst>
            <a:path>
              <a:moveTo>
                <a:pt x="5540877" y="0"/>
              </a:moveTo>
              <a:lnTo>
                <a:pt x="5540877" y="599002"/>
              </a:lnTo>
              <a:lnTo>
                <a:pt x="0" y="599002"/>
              </a:lnTo>
              <a:lnTo>
                <a:pt x="0" y="87898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93D6D9-3BB5-433C-9CFE-587D9D1AA5F0}">
      <dsp:nvSpPr>
        <dsp:cNvPr id="0" name=""/>
        <dsp:cNvSpPr/>
      </dsp:nvSpPr>
      <dsp:spPr>
        <a:xfrm>
          <a:off x="6327238" y="1645"/>
          <a:ext cx="3022297" cy="19191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3CF3C4-1F7D-4B2D-8D14-65B92E44CA42}">
      <dsp:nvSpPr>
        <dsp:cNvPr id="0" name=""/>
        <dsp:cNvSpPr/>
      </dsp:nvSpPr>
      <dsp:spPr>
        <a:xfrm>
          <a:off x="6663048" y="320666"/>
          <a:ext cx="3022297" cy="19191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Untuk melakukan EDA, kita menggunakan library berikut:</a:t>
          </a:r>
        </a:p>
      </dsp:txBody>
      <dsp:txXfrm>
        <a:off x="6719258" y="376876"/>
        <a:ext cx="2909877" cy="1806738"/>
      </dsp:txXfrm>
    </dsp:sp>
    <dsp:sp modelId="{2D844202-18FF-419D-B329-CC5C42423D3A}">
      <dsp:nvSpPr>
        <dsp:cNvPr id="0" name=""/>
        <dsp:cNvSpPr/>
      </dsp:nvSpPr>
      <dsp:spPr>
        <a:xfrm>
          <a:off x="786360" y="2799789"/>
          <a:ext cx="3022297" cy="19191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18B055-92CD-4118-A400-D4869C20C796}">
      <dsp:nvSpPr>
        <dsp:cNvPr id="0" name=""/>
        <dsp:cNvSpPr/>
      </dsp:nvSpPr>
      <dsp:spPr>
        <a:xfrm>
          <a:off x="1122170" y="3118809"/>
          <a:ext cx="3022297" cy="19191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NumPy</a:t>
          </a:r>
          <a:r>
            <a:rPr lang="en-US" sz="2800" kern="1200" dirty="0"/>
            <a:t>: </a:t>
          </a:r>
          <a:r>
            <a:rPr lang="en-US" sz="2800" kern="1200" dirty="0" err="1"/>
            <a:t>Operasi</a:t>
          </a:r>
          <a:r>
            <a:rPr lang="en-US" sz="2800" kern="1200" dirty="0"/>
            <a:t> </a:t>
          </a:r>
          <a:r>
            <a:rPr lang="en-US" sz="2800" kern="1200" dirty="0" err="1"/>
            <a:t>numerik</a:t>
          </a:r>
          <a:r>
            <a:rPr lang="en-US" sz="2800" kern="1200" dirty="0"/>
            <a:t> dan array </a:t>
          </a:r>
          <a:r>
            <a:rPr lang="en-US" sz="2800" kern="1200" dirty="0" err="1"/>
            <a:t>multidimensi</a:t>
          </a:r>
          <a:endParaRPr lang="en-US" sz="2800" kern="1200" dirty="0"/>
        </a:p>
      </dsp:txBody>
      <dsp:txXfrm>
        <a:off x="1178380" y="3175019"/>
        <a:ext cx="2909877" cy="1806738"/>
      </dsp:txXfrm>
    </dsp:sp>
    <dsp:sp modelId="{83E73860-65DE-4A5E-A331-0CE94539F916}">
      <dsp:nvSpPr>
        <dsp:cNvPr id="0" name=""/>
        <dsp:cNvSpPr/>
      </dsp:nvSpPr>
      <dsp:spPr>
        <a:xfrm>
          <a:off x="4480278" y="2799789"/>
          <a:ext cx="3022297" cy="19191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BE705F-50D6-44D5-8403-4AAF2A9A6C61}">
      <dsp:nvSpPr>
        <dsp:cNvPr id="0" name=""/>
        <dsp:cNvSpPr/>
      </dsp:nvSpPr>
      <dsp:spPr>
        <a:xfrm>
          <a:off x="4816089" y="3118809"/>
          <a:ext cx="3022297" cy="19191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pandas</a:t>
          </a:r>
          <a:r>
            <a:rPr lang="en-US" sz="2800" kern="1200"/>
            <a:t>: Manipulasi dan analisis data</a:t>
          </a:r>
        </a:p>
      </dsp:txBody>
      <dsp:txXfrm>
        <a:off x="4872299" y="3175019"/>
        <a:ext cx="2909877" cy="1806738"/>
      </dsp:txXfrm>
    </dsp:sp>
    <dsp:sp modelId="{C901DBCF-32FA-45E0-BEB3-088FCC1BE262}">
      <dsp:nvSpPr>
        <dsp:cNvPr id="0" name=""/>
        <dsp:cNvSpPr/>
      </dsp:nvSpPr>
      <dsp:spPr>
        <a:xfrm>
          <a:off x="8174197" y="2799789"/>
          <a:ext cx="3022297" cy="19191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F2A989-E090-42AF-B319-1AB99BCFB2B0}">
      <dsp:nvSpPr>
        <dsp:cNvPr id="0" name=""/>
        <dsp:cNvSpPr/>
      </dsp:nvSpPr>
      <dsp:spPr>
        <a:xfrm>
          <a:off x="8510008" y="3118809"/>
          <a:ext cx="3022297" cy="19191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Matplotlib dan Seaborn</a:t>
          </a:r>
          <a:r>
            <a:rPr lang="en-US" sz="2800" kern="1200" dirty="0"/>
            <a:t>: </a:t>
          </a:r>
          <a:r>
            <a:rPr lang="en-US" sz="2800" kern="1200" dirty="0" err="1"/>
            <a:t>Visualisasi</a:t>
          </a:r>
          <a:r>
            <a:rPr lang="en-US" sz="2800" kern="1200" dirty="0"/>
            <a:t> data</a:t>
          </a:r>
        </a:p>
      </dsp:txBody>
      <dsp:txXfrm>
        <a:off x="8566218" y="3175019"/>
        <a:ext cx="2909877" cy="1806738"/>
      </dsp:txXfrm>
    </dsp:sp>
    <dsp:sp modelId="{E084998A-E5C6-4F67-9182-AF70F753ACF9}">
      <dsp:nvSpPr>
        <dsp:cNvPr id="0" name=""/>
        <dsp:cNvSpPr/>
      </dsp:nvSpPr>
      <dsp:spPr>
        <a:xfrm>
          <a:off x="11868116" y="2799789"/>
          <a:ext cx="3022297" cy="19191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AC5AFF-ED8F-43F5-BA4C-6DA6CAB86372}">
      <dsp:nvSpPr>
        <dsp:cNvPr id="0" name=""/>
        <dsp:cNvSpPr/>
      </dsp:nvSpPr>
      <dsp:spPr>
        <a:xfrm>
          <a:off x="12203926" y="3118809"/>
          <a:ext cx="3022297" cy="19191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SciPy</a:t>
          </a:r>
          <a:endParaRPr lang="en-US" sz="2800" kern="1200" dirty="0"/>
        </a:p>
      </dsp:txBody>
      <dsp:txXfrm>
        <a:off x="12260136" y="3175019"/>
        <a:ext cx="2909877" cy="18067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91C830-9C34-4941-A1BF-6C8F11E448ED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DCA36-99ED-481A-ADCF-ED808D660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193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586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3E965-B06B-C8CC-7198-BC92C4590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86C295-3D65-6D88-8454-544343FC8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866F0A-872B-73BF-CF95-EF5B05BD4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0DB5C-CEBB-E4EB-2031-471D5CB904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112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BCA64-208D-594B-40FD-6EC644D67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5156DF-316C-AA5A-4FA6-0828E7C31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8DD62-AB17-03C7-EA6E-7D02C77CB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2A652-1351-1DF7-20A9-320192BCA2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64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DC9D3-6416-7483-805D-CB6053896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4DA18A-1D66-C524-8B80-B2EDE09DC7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E6C88D-C436-0D8D-4A4F-8A1DFEDD1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F0000"/>
                </a:solidFill>
                <a:latin typeface="Montserrat" panose="00000500000000000000" pitchFamily="2" charset="0"/>
              </a:rPr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936D7-F15B-5A1F-CADC-962F3DB98B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812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39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7EE39-37F4-19B4-3FB5-5D9AB999E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D52F0B-C179-7D2C-99D1-CC0F4EFCE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E1770C-A791-E849-77D0-11D12DC1A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B7B76-6A9F-F51C-DF4E-19B48E173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960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B05D6-348D-EC41-7D56-DFA6D6585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0F928-DD9E-0455-4960-CE812ED26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FB7E4E-639C-E756-537C-6CEBDBC51C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8835F-97A1-A7A5-A23D-10FF07DBC1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0981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E2482-DB21-CFB6-2DCE-F9A635BDB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0C2E0D-E56D-09B8-61CB-2764166F6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4B223E-DC37-9ED6-AA04-0D322765E6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7281E-912E-C8E7-186C-93508C71F5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59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B4F17-06A8-CB56-E174-5808C3303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18B67B-9BAC-5A12-733D-9A2DA0CA6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7F5E5C-97FC-267C-65D4-EBD3481F3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3D004-A121-4AE1-E5CF-7F0A7AACA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0233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25F45-8CC3-F5D4-5B53-921169995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22586-305A-7069-D96B-A3998757F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C3BA8E-F2B6-DBD7-D73E-BFDF1E0367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49E87-21C4-34BC-CE8F-D7C5CBE34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7773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EA2CB-4C01-D96F-CA7A-F079BD00C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947F92-0528-DDCC-7D33-BE19B2A83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78AE61-C55E-C4E5-4D38-AE11FC3230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ADCD1-4E2F-D28A-01B7-4F2999E8E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858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F67D8-3299-FB23-745B-482CB438A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F3DA7F-C251-99F0-5628-304FA4748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4266F4-4F81-628B-31BF-591FD8B4E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E9EE2-E3F7-63AF-9A39-8C31BBC11C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1595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5B8DC-0151-5BF5-7F87-5ABEF6A61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43125-22E7-A074-B27E-9490F261C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F7B7E-20FC-C912-4193-AC3A1D016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BA650-FF4F-C08B-FDE4-918FA16B4C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2243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1EA34-604F-99BB-FE0C-D9F9F4655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2B2AB2-5EA3-2B37-603E-7DC408C73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F5321B-DD4A-F01C-F1FB-6F6F80FDA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97BD0-69AB-E1BA-7BDD-C79EA70CC6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153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18DC7-33C2-E921-4150-A16C9F144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1738F3-A2A0-FA02-DD9B-C16AB28A7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4CD8D0-16FD-7C44-18D1-32D9259C3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C5BF4-719C-7917-C167-24C22E475C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460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4690F-7122-BD1E-EE06-5D4226A75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3ADCCA-5577-9F41-E029-B80B14119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3DF17C-161B-2643-CFCE-4240B0B53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59CB2-6563-57CF-953C-B60C5BB80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274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A0BC3-3723-649D-DDBE-A5528B000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65D70-F7A5-7617-CC97-6D5ADD223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8D8CED-2206-3A8B-14FB-EB01C6050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00B17-3A9B-FCFB-BE98-78A63E3EEF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9256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AD2C3-14E7-C39E-73F1-319EF9D76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E475C2-3D40-5368-44AA-87925291F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F581D-AFE7-03B1-77A7-0153F113E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9B5F2-3D7A-36BC-78FF-966D61A39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026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1624C-0B2A-37B4-F4E4-BADC2AC54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F1A82-93BC-061E-5720-A56045792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1C5C9-3871-46FE-6E96-04A8D3996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CC675-D5E3-6C7D-5355-7862DA4F9F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129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8A224-9027-3181-B620-EAACA7E7D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FF7EF5-DC3B-2577-EE58-B995D3DB8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568A93-D947-D95F-D5F2-AF74430A5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C50CB-4B7F-95AE-0E47-8D04E8ADB9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116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1EA98-822E-1748-0CCA-D210B2EA3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B27786-42E6-E559-A8E0-2C34C7EC0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9B608-9475-AE81-1B41-0F274C513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CE20D-4D23-8B9F-6DCB-1E31CD0BA8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0608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C0AC0-0C44-DA12-29E0-579FEE636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4ABE24-6776-CFAA-9D97-8B4D2B1ED2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303CA8-07A1-BD72-D48F-B79E00EDF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A3D28-1ECF-B595-9CA7-05AAD7F46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313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AB842-4BFA-B78E-6C01-2DFB4C667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798AE6-360B-3A98-57C2-D74C35190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0DC4A-CFF5-BC7C-30D2-85630693EF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E650B-0F9B-9485-9AC0-610E36A916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5417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111D3-5E00-5CB3-23CA-D2C758EA9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B2BD82-4DEB-8624-7927-39074507E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E18A0A-AB95-092C-EA8F-A15D4ABB5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69E10-4B82-CC01-6762-30176B97E5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143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87EF2-6B10-159F-0A23-D9800218F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066486-207C-FF24-F0C3-9A0B68D3FA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24FC8-1305-589D-1BD8-EB8E2AD8F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FD776-0269-413A-7F63-96A0931671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394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C862C-0BFB-94AC-FE9D-8496CD82E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E03E4B-792C-9CFD-934F-7CD315C3D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CA3577-8107-3FBA-44F6-1DC7A6F09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FEE59-7E4A-1162-D215-887948F67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6659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5AA1B-4DAF-48E6-5415-E5332D443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DCDCC-333B-D69F-6FB8-03745A414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35BF32-8D69-99D8-CC6E-AF7E90A89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07C26-7CF9-2506-0715-52E27663F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4786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44B6B-2FD8-9452-2626-4E24A5752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B2B3D-D1DD-3365-251C-BA0FC266E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B0B6AB-812E-E31E-659B-87BEF6ACB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14E67-9169-6A29-2DE2-EEEB0CAED7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3440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D9F3E-0398-F756-3895-25E1C1C98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22DB5-D4A6-AF27-0AD6-88DF1B7B35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5A3FEF-1FCC-05A1-166F-57DB890B9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67986-7E91-9CDC-11DA-856E759E35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264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63E23-E4A8-5DC4-24F4-F7560519D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B2AC6-6E65-621E-9362-47FBBAC11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4946EF-6FD6-0952-0EEB-B405BFD68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533B5-F3A8-2EE4-03D2-E0558DF12D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9667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2D87F-B1CF-4170-A95D-8C219F853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0B7915-9693-A693-570F-A3C46BFB4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1FD5F4-3D14-6611-F8AF-E1FA65BEA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56B53-77B6-47C6-FF18-F734EDF37C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8463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13366-8CE4-0138-EA99-A88894187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AC4B59-1043-7975-AB78-0A363C285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1BD30-4E5C-B64D-B93D-133FD0B7D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2D998-60AF-6E46-6858-2547E72B15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194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D5471-ECAE-AB2D-9A7A-1A16E73F7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CF4862-3D93-E3DE-20B1-91AA4FDE4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DCB780-927F-F44F-ACCE-1B3EB0921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E5A24-EF28-85CE-4025-CEBF4D0873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619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9B96B-A0C1-30E1-BD21-0300C2655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4355D2-1649-816D-E667-BBC759791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CA180-36E8-4F06-B0AB-121875B92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5B69E-938D-0941-4BFE-6C67C097B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7181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CEFA7-04FE-1222-6C63-04CC84B52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E6978E-9D64-8506-3B64-A3A9FCB6E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D0EA4-C392-CFBB-D910-0A7591996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5B0BC-0613-7A11-144B-3D8BB6686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4451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5498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AF951-DA15-F9CC-49DA-4168B4D7B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DA17A9-B789-73F7-61F9-27689751C5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786608-94A5-E33F-8108-D53DE8643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D354F-2B26-4A21-36A9-1228AC6047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27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67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13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11" Type="http://schemas.openxmlformats.org/officeDocument/2006/relationships/diagramColors" Target="../diagrams/colors1.xml"/><Relationship Id="rId5" Type="http://schemas.openxmlformats.org/officeDocument/2006/relationships/image" Target="../media/image13.pn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12.png"/><Relationship Id="rId9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53969"/>
            <a:ext cx="18288000" cy="11240970"/>
          </a:xfrm>
          <a:custGeom>
            <a:avLst/>
            <a:gdLst/>
            <a:ahLst/>
            <a:cxnLst/>
            <a:rect l="l" t="t" r="r" b="b"/>
            <a:pathLst>
              <a:path w="18288000" h="12194939">
                <a:moveTo>
                  <a:pt x="0" y="0"/>
                </a:moveTo>
                <a:lnTo>
                  <a:pt x="18288000" y="0"/>
                </a:lnTo>
                <a:lnTo>
                  <a:pt x="18288000" y="12194940"/>
                </a:lnTo>
                <a:lnTo>
                  <a:pt x="0" y="121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DFD">
                <a:alpha val="7882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305748" y="323497"/>
            <a:ext cx="1690679" cy="1410406"/>
          </a:xfrm>
          <a:custGeom>
            <a:avLst/>
            <a:gdLst/>
            <a:ahLst/>
            <a:cxnLst/>
            <a:rect l="l" t="t" r="r" b="b"/>
            <a:pathLst>
              <a:path w="1690679" h="1410406">
                <a:moveTo>
                  <a:pt x="0" y="0"/>
                </a:moveTo>
                <a:lnTo>
                  <a:pt x="1690679" y="0"/>
                </a:lnTo>
                <a:lnTo>
                  <a:pt x="1690679" y="1410406"/>
                </a:lnTo>
                <a:lnTo>
                  <a:pt x="0" y="1410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0" y="9831614"/>
            <a:ext cx="18288000" cy="455385"/>
            <a:chOff x="0" y="0"/>
            <a:chExt cx="3793620" cy="2880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93620" cy="288059"/>
            </a:xfrm>
            <a:custGeom>
              <a:avLst/>
              <a:gdLst/>
              <a:ahLst/>
              <a:cxnLst/>
              <a:rect l="l" t="t" r="r" b="b"/>
              <a:pathLst>
                <a:path w="3793620" h="288059">
                  <a:moveTo>
                    <a:pt x="0" y="0"/>
                  </a:moveTo>
                  <a:lnTo>
                    <a:pt x="3793620" y="0"/>
                  </a:lnTo>
                  <a:lnTo>
                    <a:pt x="3793620" y="288059"/>
                  </a:lnTo>
                  <a:lnTo>
                    <a:pt x="0" y="288059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793620" cy="3261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996427" y="395391"/>
            <a:ext cx="154333" cy="1266619"/>
          </a:xfrm>
          <a:custGeom>
            <a:avLst/>
            <a:gdLst/>
            <a:ahLst/>
            <a:cxnLst/>
            <a:rect l="l" t="t" r="r" b="b"/>
            <a:pathLst>
              <a:path w="154333" h="1266619">
                <a:moveTo>
                  <a:pt x="0" y="0"/>
                </a:moveTo>
                <a:lnTo>
                  <a:pt x="154334" y="0"/>
                </a:lnTo>
                <a:lnTo>
                  <a:pt x="154334" y="1266618"/>
                </a:lnTo>
                <a:lnTo>
                  <a:pt x="0" y="1266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2801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2246411" y="3239655"/>
            <a:ext cx="13795173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6000" b="1" spc="63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EDA and Feature Engineering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40434" y="4694049"/>
            <a:ext cx="8807132" cy="188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Week 2</a:t>
            </a:r>
          </a:p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D4 Robotics Engineering Study Program</a:t>
            </a:r>
          </a:p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Department of Electrical Engineering</a:t>
            </a:r>
          </a:p>
          <a:p>
            <a:pPr algn="ctr">
              <a:lnSpc>
                <a:spcPts val="3775"/>
              </a:lnSpc>
            </a:pPr>
            <a:r>
              <a:rPr lang="en-US" sz="2696" spc="121" dirty="0" err="1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Politeknik</a:t>
            </a: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Negeri Batam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17839" y="404916"/>
            <a:ext cx="2167395" cy="1250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824" spc="11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Politeknik</a:t>
            </a:r>
          </a:p>
          <a:p>
            <a:pPr algn="l">
              <a:lnSpc>
                <a:spcPts val="3276"/>
              </a:lnSpc>
            </a:pPr>
            <a:r>
              <a:rPr lang="en-US" sz="2824" spc="11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Negeri Batam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10593" y="7475884"/>
            <a:ext cx="9753969" cy="432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Machine Learning</a:t>
            </a:r>
          </a:p>
        </p:txBody>
      </p:sp>
      <p:sp>
        <p:nvSpPr>
          <p:cNvPr id="20" name="AutoShape 20"/>
          <p:cNvSpPr/>
          <p:nvPr/>
        </p:nvSpPr>
        <p:spPr>
          <a:xfrm>
            <a:off x="5897880" y="7082061"/>
            <a:ext cx="6492240" cy="0"/>
          </a:xfrm>
          <a:prstGeom prst="line">
            <a:avLst/>
          </a:prstGeom>
          <a:ln w="38100" cap="flat">
            <a:solidFill>
              <a:srgbClr val="0837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31761-2351-7FDA-9209-1F8634E31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>
            <a:extLst>
              <a:ext uri="{FF2B5EF4-FFF2-40B4-BE49-F238E27FC236}">
                <a16:creationId xmlns:a16="http://schemas.microsoft.com/office/drawing/2014/main" id="{522C4794-A486-3B49-0561-A76848DB7859}"/>
              </a:ext>
            </a:extLst>
          </p:cNvPr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BCAC3FD-55C5-A462-7DF1-4A2F0D5283FB}"/>
                </a:ext>
              </a:extLst>
            </p:cNvPr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7899235-F97B-C1E4-58FE-5410B17BB23E}"/>
                </a:ext>
              </a:extLst>
            </p:cNvPr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6A17FCFC-73F2-82CD-243D-B528CBB22F3B}"/>
              </a:ext>
            </a:extLst>
          </p:cNvPr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8556F7C-0702-88EE-75CE-22AFD25C0FB4}"/>
              </a:ext>
            </a:extLst>
          </p:cNvPr>
          <p:cNvSpPr txBox="1"/>
          <p:nvPr/>
        </p:nvSpPr>
        <p:spPr>
          <a:xfrm>
            <a:off x="1469115" y="1104918"/>
            <a:ext cx="11402445" cy="93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58"/>
              </a:lnSpc>
              <a:spcBef>
                <a:spcPct val="0"/>
              </a:spcBef>
            </a:pPr>
            <a:r>
              <a:rPr lang="en-US" sz="6131" b="1" spc="220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Course Learning Outcome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C6B652EF-C76B-C641-F95D-C0D99A00A025}"/>
              </a:ext>
            </a:extLst>
          </p:cNvPr>
          <p:cNvSpPr txBox="1"/>
          <p:nvPr/>
        </p:nvSpPr>
        <p:spPr>
          <a:xfrm>
            <a:off x="624600" y="2171700"/>
            <a:ext cx="12645962" cy="32615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29711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Membersihkan</a:t>
            </a:r>
            <a:r>
              <a:rPr lang="en-US" sz="2400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data (</a:t>
            </a:r>
            <a:r>
              <a:rPr lang="en-US" sz="2400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mengatasi</a:t>
            </a:r>
            <a:r>
              <a:rPr lang="en-US" sz="2400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missing values &amp; outliers).</a:t>
            </a:r>
          </a:p>
          <a:p>
            <a:pPr marL="629711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Menganalisis</a:t>
            </a:r>
            <a:r>
              <a:rPr lang="en-US" sz="2400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data dengan </a:t>
            </a:r>
            <a:r>
              <a:rPr lang="en-US" sz="2400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statistik</a:t>
            </a:r>
            <a:r>
              <a:rPr lang="en-US" sz="2400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deskriptif</a:t>
            </a:r>
            <a:r>
              <a:rPr lang="en-US" sz="2400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629711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Membuat</a:t>
            </a:r>
            <a:r>
              <a:rPr lang="en-US" sz="2400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visualisasi</a:t>
            </a:r>
            <a:r>
              <a:rPr lang="en-US" sz="2400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data menggunakan Matplotlib &amp; Seaborn.</a:t>
            </a:r>
          </a:p>
          <a:p>
            <a:pPr marL="629711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Mengevaluasi</a:t>
            </a:r>
            <a:r>
              <a:rPr lang="en-US" sz="2400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hubungan </a:t>
            </a:r>
            <a:r>
              <a:rPr lang="en-US" sz="2400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antar</a:t>
            </a:r>
            <a:r>
              <a:rPr lang="en-US" sz="2400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fitur</a:t>
            </a:r>
            <a:r>
              <a:rPr lang="en-US" sz="2400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dengan correlation heatmap &amp; </a:t>
            </a:r>
            <a:r>
              <a:rPr lang="en-US" sz="2400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pairplot</a:t>
            </a:r>
            <a:r>
              <a:rPr lang="en-US" sz="2400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629711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Mengubah</a:t>
            </a:r>
            <a:r>
              <a:rPr lang="en-US" sz="2400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data </a:t>
            </a:r>
            <a:r>
              <a:rPr lang="en-US" sz="2400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kategori</a:t>
            </a:r>
            <a:r>
              <a:rPr lang="en-US" sz="2400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menjadi</a:t>
            </a:r>
            <a:r>
              <a:rPr lang="en-US" sz="2400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numerik</a:t>
            </a:r>
            <a:r>
              <a:rPr lang="en-US" sz="2400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(One-Hot &amp; Label Encoding).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BB994E3D-97DA-9211-E4C4-79E5C9406E53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2">
            <a:extLst>
              <a:ext uri="{FF2B5EF4-FFF2-40B4-BE49-F238E27FC236}">
                <a16:creationId xmlns:a16="http://schemas.microsoft.com/office/drawing/2014/main" id="{1EB66651-DE27-2060-E0C5-3AA3C9D39A0A}"/>
              </a:ext>
            </a:extLst>
          </p:cNvPr>
          <p:cNvGrpSpPr/>
          <p:nvPr/>
        </p:nvGrpSpPr>
        <p:grpSpPr>
          <a:xfrm>
            <a:off x="1231517" y="7995938"/>
            <a:ext cx="526554" cy="532663"/>
            <a:chOff x="0" y="0"/>
            <a:chExt cx="119806" cy="121196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AEA23229-3458-6476-0940-1662D3BBE378}"/>
                </a:ext>
              </a:extLst>
            </p:cNvPr>
            <p:cNvSpPr/>
            <p:nvPr/>
          </p:nvSpPr>
          <p:spPr>
            <a:xfrm>
              <a:off x="0" y="0"/>
              <a:ext cx="119806" cy="121196"/>
            </a:xfrm>
            <a:custGeom>
              <a:avLst/>
              <a:gdLst/>
              <a:ahLst/>
              <a:cxnLst/>
              <a:rect l="l" t="t" r="r" b="b"/>
              <a:pathLst>
                <a:path w="119806" h="121196">
                  <a:moveTo>
                    <a:pt x="0" y="0"/>
                  </a:moveTo>
                  <a:lnTo>
                    <a:pt x="119806" y="0"/>
                  </a:lnTo>
                  <a:lnTo>
                    <a:pt x="119806" y="121196"/>
                  </a:lnTo>
                  <a:lnTo>
                    <a:pt x="0" y="121196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778D9324-8BBA-BE95-DE73-EBA848D29766}"/>
                </a:ext>
              </a:extLst>
            </p:cNvPr>
            <p:cNvSpPr txBox="1"/>
            <p:nvPr/>
          </p:nvSpPr>
          <p:spPr>
            <a:xfrm>
              <a:off x="0" y="-38100"/>
              <a:ext cx="119806" cy="1592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FFFFFF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01</a:t>
              </a:r>
            </a:p>
          </p:txBody>
        </p:sp>
      </p:grpSp>
      <p:grpSp>
        <p:nvGrpSpPr>
          <p:cNvPr id="19" name="Group 5">
            <a:extLst>
              <a:ext uri="{FF2B5EF4-FFF2-40B4-BE49-F238E27FC236}">
                <a16:creationId xmlns:a16="http://schemas.microsoft.com/office/drawing/2014/main" id="{6E5146C3-5606-9EC1-2B1D-7623CE66CAAD}"/>
              </a:ext>
            </a:extLst>
          </p:cNvPr>
          <p:cNvGrpSpPr/>
          <p:nvPr/>
        </p:nvGrpSpPr>
        <p:grpSpPr>
          <a:xfrm>
            <a:off x="1231517" y="8857601"/>
            <a:ext cx="526554" cy="532663"/>
            <a:chOff x="0" y="0"/>
            <a:chExt cx="119806" cy="121196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4E0D9B63-248F-D2CA-17ED-479A70691986}"/>
                </a:ext>
              </a:extLst>
            </p:cNvPr>
            <p:cNvSpPr/>
            <p:nvPr/>
          </p:nvSpPr>
          <p:spPr>
            <a:xfrm>
              <a:off x="0" y="0"/>
              <a:ext cx="119806" cy="121196"/>
            </a:xfrm>
            <a:custGeom>
              <a:avLst/>
              <a:gdLst/>
              <a:ahLst/>
              <a:cxnLst/>
              <a:rect l="l" t="t" r="r" b="b"/>
              <a:pathLst>
                <a:path w="119806" h="121196">
                  <a:moveTo>
                    <a:pt x="0" y="0"/>
                  </a:moveTo>
                  <a:lnTo>
                    <a:pt x="119806" y="0"/>
                  </a:lnTo>
                  <a:lnTo>
                    <a:pt x="119806" y="121196"/>
                  </a:lnTo>
                  <a:lnTo>
                    <a:pt x="0" y="121196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7">
              <a:extLst>
                <a:ext uri="{FF2B5EF4-FFF2-40B4-BE49-F238E27FC236}">
                  <a16:creationId xmlns:a16="http://schemas.microsoft.com/office/drawing/2014/main" id="{71EC32C9-A99E-AB70-EE9B-3D5B498771E1}"/>
                </a:ext>
              </a:extLst>
            </p:cNvPr>
            <p:cNvSpPr txBox="1"/>
            <p:nvPr/>
          </p:nvSpPr>
          <p:spPr>
            <a:xfrm>
              <a:off x="0" y="-38100"/>
              <a:ext cx="119806" cy="1592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 dirty="0">
                  <a:solidFill>
                    <a:srgbClr val="FFFFFF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02</a:t>
              </a:r>
            </a:p>
          </p:txBody>
        </p:sp>
      </p:grpSp>
      <p:sp>
        <p:nvSpPr>
          <p:cNvPr id="25" name="TextBox 18">
            <a:extLst>
              <a:ext uri="{FF2B5EF4-FFF2-40B4-BE49-F238E27FC236}">
                <a16:creationId xmlns:a16="http://schemas.microsoft.com/office/drawing/2014/main" id="{CAD99C13-155D-E353-B477-E41FC9A3A951}"/>
              </a:ext>
            </a:extLst>
          </p:cNvPr>
          <p:cNvSpPr txBox="1"/>
          <p:nvPr/>
        </p:nvSpPr>
        <p:spPr>
          <a:xfrm>
            <a:off x="1261997" y="5954344"/>
            <a:ext cx="4967583" cy="775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42"/>
              </a:lnSpc>
              <a:spcBef>
                <a:spcPct val="0"/>
              </a:spcBef>
            </a:pPr>
            <a:r>
              <a:rPr lang="en-US" sz="5035" b="1" u="none" strike="noStrike" spc="181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Table of </a:t>
            </a:r>
          </a:p>
        </p:txBody>
      </p:sp>
      <p:sp>
        <p:nvSpPr>
          <p:cNvPr id="26" name="TextBox 19">
            <a:extLst>
              <a:ext uri="{FF2B5EF4-FFF2-40B4-BE49-F238E27FC236}">
                <a16:creationId xmlns:a16="http://schemas.microsoft.com/office/drawing/2014/main" id="{3AFB02C5-92F9-79D5-33E7-86A108605FF5}"/>
              </a:ext>
            </a:extLst>
          </p:cNvPr>
          <p:cNvSpPr txBox="1"/>
          <p:nvPr/>
        </p:nvSpPr>
        <p:spPr>
          <a:xfrm>
            <a:off x="1896002" y="7961207"/>
            <a:ext cx="9307394" cy="522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3056" spc="91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EDA in Python</a:t>
            </a: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D7358748-137B-FEE5-DF2A-4E1A22E86077}"/>
              </a:ext>
            </a:extLst>
          </p:cNvPr>
          <p:cNvSpPr txBox="1"/>
          <p:nvPr/>
        </p:nvSpPr>
        <p:spPr>
          <a:xfrm>
            <a:off x="1896002" y="8834142"/>
            <a:ext cx="7789172" cy="522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3056" spc="91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</a:p>
        </p:txBody>
      </p:sp>
      <p:sp>
        <p:nvSpPr>
          <p:cNvPr id="28" name="TextBox 21">
            <a:extLst>
              <a:ext uri="{FF2B5EF4-FFF2-40B4-BE49-F238E27FC236}">
                <a16:creationId xmlns:a16="http://schemas.microsoft.com/office/drawing/2014/main" id="{665C8E42-69A8-D921-3497-ADE25C8920D4}"/>
              </a:ext>
            </a:extLst>
          </p:cNvPr>
          <p:cNvSpPr txBox="1"/>
          <p:nvPr/>
        </p:nvSpPr>
        <p:spPr>
          <a:xfrm>
            <a:off x="1261997" y="6703052"/>
            <a:ext cx="5444548" cy="1033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792" b="1" u="none" strike="noStrike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092576439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60C95-391A-ECE0-4220-0A67BC93F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>
            <a:extLst>
              <a:ext uri="{FF2B5EF4-FFF2-40B4-BE49-F238E27FC236}">
                <a16:creationId xmlns:a16="http://schemas.microsoft.com/office/drawing/2014/main" id="{D2E28836-9BDE-E507-ED94-5DAEAAFA03A3}"/>
              </a:ext>
            </a:extLst>
          </p:cNvPr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A20D288-7B8A-F56A-3B7A-93040B6FE481}"/>
                </a:ext>
              </a:extLst>
            </p:cNvPr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0E4F602-BE61-32AC-3A2A-DC7A0E8CBE28}"/>
                </a:ext>
              </a:extLst>
            </p:cNvPr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40C6B349-0A52-D732-A8B2-D483A18DDD93}"/>
              </a:ext>
            </a:extLst>
          </p:cNvPr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B7651D6-B13F-E297-4DCE-0660B56FF625}"/>
              </a:ext>
            </a:extLst>
          </p:cNvPr>
          <p:cNvSpPr txBox="1"/>
          <p:nvPr/>
        </p:nvSpPr>
        <p:spPr>
          <a:xfrm>
            <a:off x="1311647" y="4214179"/>
            <a:ext cx="4967583" cy="775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42"/>
              </a:lnSpc>
              <a:spcBef>
                <a:spcPct val="0"/>
              </a:spcBef>
            </a:pPr>
            <a:r>
              <a:rPr lang="en-US" sz="5035" b="1" u="none" strike="noStrike" spc="181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EDA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B16D179-A1F2-EA78-3F84-DD4A23798C8B}"/>
              </a:ext>
            </a:extLst>
          </p:cNvPr>
          <p:cNvSpPr txBox="1"/>
          <p:nvPr/>
        </p:nvSpPr>
        <p:spPr>
          <a:xfrm>
            <a:off x="1259652" y="5143500"/>
            <a:ext cx="5444548" cy="957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792" b="1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in Python</a:t>
            </a:r>
            <a:endParaRPr lang="en-US" sz="6792" b="1" u="none" strike="noStrike" spc="224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9C13329E-F475-6A84-E483-1596FAD4E5A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0CFD39E5-75B6-C973-672B-6AAB7963B12A}"/>
              </a:ext>
            </a:extLst>
          </p:cNvPr>
          <p:cNvSpPr txBox="1"/>
          <p:nvPr/>
        </p:nvSpPr>
        <p:spPr>
          <a:xfrm>
            <a:off x="14721159" y="4804810"/>
            <a:ext cx="2237609" cy="730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10000" spc="9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677514031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AD8F3-0DEC-F49D-BD2C-569B80901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A665E43-C0E3-6CEE-B323-E1D7BBE2DF2D}"/>
              </a:ext>
            </a:extLst>
          </p:cNvPr>
          <p:cNvGrpSpPr/>
          <p:nvPr/>
        </p:nvGrpSpPr>
        <p:grpSpPr>
          <a:xfrm>
            <a:off x="17016492" y="-180826"/>
            <a:ext cx="1271508" cy="10467826"/>
            <a:chOff x="0" y="-47625"/>
            <a:chExt cx="334883" cy="275695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A7DC7A3-3EDA-7420-C175-B945F47852E2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9025861-0915-9059-BBFF-A295E5E9637E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02CE84DE-3F32-4943-CA69-BDD3224684B2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91B5F75-03E5-F82E-B169-2524019AE54D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843A8EB-4FC7-29E8-59B0-434E2C265F1F}"/>
              </a:ext>
            </a:extLst>
          </p:cNvPr>
          <p:cNvSpPr txBox="1"/>
          <p:nvPr/>
        </p:nvSpPr>
        <p:spPr>
          <a:xfrm>
            <a:off x="1066800" y="952500"/>
            <a:ext cx="15392400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6000" b="1" i="1" dirty="0">
                <a:solidFill>
                  <a:srgbClr val="002060"/>
                </a:solidFill>
                <a:latin typeface="Montserrat" panose="00000500000000000000" pitchFamily="2" charset="0"/>
              </a:rPr>
              <a:t>"Kenapa model Machine Learning </a:t>
            </a:r>
            <a:r>
              <a:rPr lang="en-US" sz="6000" b="1" i="1" dirty="0" err="1">
                <a:solidFill>
                  <a:srgbClr val="002060"/>
                </a:solidFill>
                <a:latin typeface="Montserrat" panose="00000500000000000000" pitchFamily="2" charset="0"/>
              </a:rPr>
              <a:t>bisa</a:t>
            </a:r>
            <a:r>
              <a:rPr lang="en-US" sz="6000" b="1" i="1" dirty="0">
                <a:solidFill>
                  <a:srgbClr val="002060"/>
                </a:solidFill>
                <a:latin typeface="Montserrat" panose="00000500000000000000" pitchFamily="2" charset="0"/>
              </a:rPr>
              <a:t> </a:t>
            </a:r>
            <a:r>
              <a:rPr lang="en-US" sz="6000" b="1" i="1" dirty="0" err="1">
                <a:solidFill>
                  <a:srgbClr val="002060"/>
                </a:solidFill>
                <a:latin typeface="Montserrat" panose="00000500000000000000" pitchFamily="2" charset="0"/>
              </a:rPr>
              <a:t>gagal</a:t>
            </a:r>
            <a:r>
              <a:rPr lang="en-US" sz="6000" b="1" i="1" dirty="0">
                <a:solidFill>
                  <a:srgbClr val="002060"/>
                </a:solidFill>
                <a:latin typeface="Montserrat" panose="00000500000000000000" pitchFamily="2" charset="0"/>
              </a:rPr>
              <a:t> </a:t>
            </a:r>
            <a:r>
              <a:rPr lang="en-US" sz="6000" b="1" i="1" dirty="0" err="1">
                <a:solidFill>
                  <a:srgbClr val="002060"/>
                </a:solidFill>
                <a:latin typeface="Montserrat" panose="00000500000000000000" pitchFamily="2" charset="0"/>
              </a:rPr>
              <a:t>memberikan</a:t>
            </a:r>
            <a:r>
              <a:rPr lang="en-US" sz="6000" b="1" i="1" dirty="0">
                <a:solidFill>
                  <a:srgbClr val="002060"/>
                </a:solidFill>
                <a:latin typeface="Montserrat" panose="00000500000000000000" pitchFamily="2" charset="0"/>
              </a:rPr>
              <a:t> </a:t>
            </a:r>
            <a:r>
              <a:rPr lang="en-US" sz="6000" b="1" i="1" dirty="0" err="1">
                <a:solidFill>
                  <a:srgbClr val="002060"/>
                </a:solidFill>
                <a:latin typeface="Montserrat" panose="00000500000000000000" pitchFamily="2" charset="0"/>
              </a:rPr>
              <a:t>hasil</a:t>
            </a:r>
            <a:r>
              <a:rPr lang="en-US" sz="6000" b="1" i="1" dirty="0">
                <a:solidFill>
                  <a:srgbClr val="002060"/>
                </a:solidFill>
                <a:latin typeface="Montserrat" panose="00000500000000000000" pitchFamily="2" charset="0"/>
              </a:rPr>
              <a:t> yang baik?"</a:t>
            </a:r>
            <a:endParaRPr lang="en-US" sz="6000" b="1" i="1" spc="191" dirty="0">
              <a:solidFill>
                <a:srgbClr val="002060"/>
              </a:solidFill>
              <a:latin typeface="Montserrat" panose="00000500000000000000" pitchFamily="2" charset="0"/>
              <a:ea typeface="Montserrat Classic Bold"/>
              <a:cs typeface="Montserrat Classic Bold"/>
              <a:sym typeface="Montserrat Classic Bold"/>
            </a:endParaRPr>
          </a:p>
        </p:txBody>
      </p:sp>
      <p:pic>
        <p:nvPicPr>
          <p:cNvPr id="15" name="Graphic 14" descr="Bar chart with solid fill">
            <a:extLst>
              <a:ext uri="{FF2B5EF4-FFF2-40B4-BE49-F238E27FC236}">
                <a16:creationId xmlns:a16="http://schemas.microsoft.com/office/drawing/2014/main" id="{69EB4E87-D7D4-FA39-3FE6-E5296FC674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38600" y="5974259"/>
            <a:ext cx="3048000" cy="3048000"/>
          </a:xfrm>
          <a:prstGeom prst="rect">
            <a:avLst/>
          </a:prstGeom>
        </p:spPr>
      </p:pic>
      <p:pic>
        <p:nvPicPr>
          <p:cNvPr id="17" name="Graphic 16" descr="Pie chart with solid fill">
            <a:extLst>
              <a:ext uri="{FF2B5EF4-FFF2-40B4-BE49-F238E27FC236}">
                <a16:creationId xmlns:a16="http://schemas.microsoft.com/office/drawing/2014/main" id="{3BF2B553-A83C-7393-4F57-6F7E4BAF44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34343" y="6438900"/>
            <a:ext cx="2400300" cy="2400300"/>
          </a:xfrm>
          <a:prstGeom prst="rect">
            <a:avLst/>
          </a:prstGeom>
        </p:spPr>
      </p:pic>
      <p:pic>
        <p:nvPicPr>
          <p:cNvPr id="21" name="Graphic 20" descr="Bullseye with solid fill">
            <a:extLst>
              <a:ext uri="{FF2B5EF4-FFF2-40B4-BE49-F238E27FC236}">
                <a16:creationId xmlns:a16="http://schemas.microsoft.com/office/drawing/2014/main" id="{BBC9EC00-CF63-5BEB-E84E-1DDFB4A09E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82386" y="6438900"/>
            <a:ext cx="2400299" cy="240029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C42EF2E-B1D0-1208-7E24-F71224B48260}"/>
              </a:ext>
            </a:extLst>
          </p:cNvPr>
          <p:cNvSpPr txBox="1"/>
          <p:nvPr/>
        </p:nvSpPr>
        <p:spPr>
          <a:xfrm>
            <a:off x="2867025" y="3832142"/>
            <a:ext cx="11353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Montserrat" panose="00000500000000000000" pitchFamily="2" charset="0"/>
              </a:rPr>
              <a:t>Karena data yang </a:t>
            </a:r>
            <a:r>
              <a:rPr lang="en-US" sz="2400" b="1" dirty="0" err="1">
                <a:solidFill>
                  <a:srgbClr val="FF0000"/>
                </a:solidFill>
                <a:latin typeface="Montserrat" panose="00000500000000000000" pitchFamily="2" charset="0"/>
              </a:rPr>
              <a:t>kotor</a:t>
            </a:r>
            <a:r>
              <a:rPr lang="en-US" sz="2400" b="1" dirty="0">
                <a:solidFill>
                  <a:srgbClr val="FF0000"/>
                </a:solidFill>
                <a:latin typeface="Montserrat" panose="00000500000000000000" pitchFamily="2" charset="0"/>
              </a:rPr>
              <a:t> dan tidak </a:t>
            </a:r>
            <a:r>
              <a:rPr lang="en-US" sz="2400" b="1" dirty="0" err="1">
                <a:solidFill>
                  <a:srgbClr val="FF0000"/>
                </a:solidFill>
                <a:latin typeface="Montserrat" panose="00000500000000000000" pitchFamily="2" charset="0"/>
              </a:rPr>
              <a:t>dipahami</a:t>
            </a:r>
            <a:r>
              <a:rPr lang="en-US" sz="2400" b="1" dirty="0">
                <a:solidFill>
                  <a:srgbClr val="FF0000"/>
                </a:solidFill>
                <a:latin typeface="Montserrat" panose="00000500000000000000" pitchFamily="2" charset="0"/>
              </a:rPr>
              <a:t> dengan baik</a:t>
            </a:r>
            <a:r>
              <a:rPr lang="en-US" sz="2400" dirty="0">
                <a:solidFill>
                  <a:srgbClr val="FF0000"/>
                </a:solidFill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46C18B-843D-A283-32EB-DA2DCDE9F5F8}"/>
              </a:ext>
            </a:extLst>
          </p:cNvPr>
          <p:cNvSpPr txBox="1"/>
          <p:nvPr/>
        </p:nvSpPr>
        <p:spPr>
          <a:xfrm>
            <a:off x="2895600" y="5053087"/>
            <a:ext cx="11353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Montserrat" panose="00000500000000000000" pitchFamily="2" charset="0"/>
              </a:rPr>
              <a:t>Solusi: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3392FB-0803-B9C9-AFB1-3CF86E36A882}"/>
              </a:ext>
            </a:extLst>
          </p:cNvPr>
          <p:cNvSpPr txBox="1"/>
          <p:nvPr/>
        </p:nvSpPr>
        <p:spPr>
          <a:xfrm>
            <a:off x="3086100" y="9022259"/>
            <a:ext cx="11353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Montserrat" panose="00000500000000000000" pitchFamily="2" charset="0"/>
              </a:rPr>
              <a:t>EDA dan Feature Engineering</a:t>
            </a:r>
            <a:endParaRPr lang="en-US" sz="24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63441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5" grpId="0"/>
      <p:bldP spid="27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16492" y="-180826"/>
            <a:ext cx="1271508" cy="10467826"/>
            <a:chOff x="0" y="-47625"/>
            <a:chExt cx="334883" cy="27569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152286" y="1328699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Apa itu EDA?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2125" y="2675684"/>
            <a:ext cx="15591442" cy="5744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Exploratory Data Analysis (EDA) adalah proses </a:t>
            </a:r>
            <a:r>
              <a:rPr lang="en-US" sz="2800" dirty="0" err="1">
                <a:latin typeface="Montserrat" panose="00000500000000000000" pitchFamily="2" charset="0"/>
              </a:rPr>
              <a:t>analisis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awal</a:t>
            </a:r>
            <a:r>
              <a:rPr lang="en-US" sz="2800" dirty="0">
                <a:latin typeface="Montserrat" panose="00000500000000000000" pitchFamily="2" charset="0"/>
              </a:rPr>
              <a:t> untuk </a:t>
            </a:r>
            <a:r>
              <a:rPr lang="en-US" sz="2800" dirty="0" err="1">
                <a:latin typeface="Montserrat" panose="00000500000000000000" pitchFamily="2" charset="0"/>
              </a:rPr>
              <a:t>memahami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karakteristik</a:t>
            </a:r>
            <a:r>
              <a:rPr lang="en-US" sz="2800" dirty="0">
                <a:latin typeface="Montserrat" panose="00000500000000000000" pitchFamily="2" charset="0"/>
              </a:rPr>
              <a:t> dataset sebelum </a:t>
            </a:r>
            <a:r>
              <a:rPr lang="en-US" sz="2800" dirty="0" err="1">
                <a:latin typeface="Montserrat" panose="00000500000000000000" pitchFamily="2" charset="0"/>
              </a:rPr>
              <a:t>melakukan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pemodelan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lebih</a:t>
            </a:r>
            <a:r>
              <a:rPr lang="en-US" sz="2800" dirty="0">
                <a:latin typeface="Montserrat" panose="00000500000000000000" pitchFamily="2" charset="0"/>
              </a:rPr>
              <a:t> lanjut.</a:t>
            </a:r>
          </a:p>
          <a:p>
            <a:pPr algn="just">
              <a:lnSpc>
                <a:spcPct val="150000"/>
              </a:lnSpc>
            </a:pPr>
            <a:endParaRPr lang="en-US" sz="28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 err="1">
                <a:latin typeface="Montserrat" panose="00000500000000000000" pitchFamily="2" charset="0"/>
              </a:rPr>
              <a:t>Tujuan</a:t>
            </a:r>
            <a:r>
              <a:rPr lang="en-US" sz="2800" b="1" dirty="0">
                <a:latin typeface="Montserrat" panose="00000500000000000000" pitchFamily="2" charset="0"/>
              </a:rPr>
              <a:t> EDA: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Montserrat" panose="00000500000000000000" pitchFamily="2" charset="0"/>
              </a:rPr>
              <a:t>Memahami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distribusi</a:t>
            </a:r>
            <a:r>
              <a:rPr lang="en-US" sz="2800" dirty="0">
                <a:latin typeface="Montserrat" panose="00000500000000000000" pitchFamily="2" charset="0"/>
              </a:rPr>
              <a:t> data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Montserrat" panose="00000500000000000000" pitchFamily="2" charset="0"/>
              </a:rPr>
              <a:t>Mendeteksi</a:t>
            </a:r>
            <a:r>
              <a:rPr lang="en-US" sz="2800" dirty="0">
                <a:latin typeface="Montserrat" panose="00000500000000000000" pitchFamily="2" charset="0"/>
              </a:rPr>
              <a:t> outlier </a:t>
            </a:r>
            <a:r>
              <a:rPr lang="en-US" sz="2800" dirty="0" err="1">
                <a:latin typeface="Montserrat" panose="00000500000000000000" pitchFamily="2" charset="0"/>
              </a:rPr>
              <a:t>atau</a:t>
            </a:r>
            <a:r>
              <a:rPr lang="en-US" sz="2800" dirty="0">
                <a:latin typeface="Montserrat" panose="00000500000000000000" pitchFamily="2" charset="0"/>
              </a:rPr>
              <a:t> missing values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Montserrat" panose="00000500000000000000" pitchFamily="2" charset="0"/>
              </a:rPr>
              <a:t>Menemukan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korelasi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antar</a:t>
            </a:r>
            <a:r>
              <a:rPr lang="en-US" sz="2800" dirty="0">
                <a:latin typeface="Montserrat" panose="00000500000000000000" pitchFamily="2" charset="0"/>
              </a:rPr>
              <a:t> variabel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Montserrat" panose="00000500000000000000" pitchFamily="2" charset="0"/>
              </a:rPr>
              <a:t>Mengidentifikasi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pola</a:t>
            </a:r>
            <a:r>
              <a:rPr lang="en-US" sz="2800" dirty="0">
                <a:latin typeface="Montserrat" panose="00000500000000000000" pitchFamily="2" charset="0"/>
              </a:rPr>
              <a:t> dalam dataset</a:t>
            </a:r>
          </a:p>
          <a:p>
            <a:pPr algn="just">
              <a:lnSpc>
                <a:spcPct val="150000"/>
              </a:lnSpc>
            </a:pPr>
            <a:endParaRPr lang="en-US" sz="2800" dirty="0">
              <a:latin typeface="Montserrat" panose="00000500000000000000" pitchFamily="2" charset="0"/>
            </a:endParaRPr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4759C0-9F23-7F82-2202-05FF48357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777B27F-7CEE-4937-7CE3-9E19C5EE5F4B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22897F2-4923-6655-2D63-1DC58D87140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B076409-D2C7-DB38-61C2-EE19636894D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7ABB9E0-62E1-D74C-4CD8-6DB124E5640F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D29A533-7140-FA2F-509E-E7737354429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5B375C8-620C-0645-7D10-3290B58D44A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22E947AD-BF50-5273-DD7B-6BD00BC63C8F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55D4D8A-4672-5231-9741-6E5D8A1D750B}"/>
              </a:ext>
            </a:extLst>
          </p:cNvPr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49961" lvl="1" indent="-474980" algn="l">
              <a:lnSpc>
                <a:spcPts val="5280"/>
              </a:lnSpc>
              <a:spcBef>
                <a:spcPct val="0"/>
              </a:spcBef>
              <a:buAutoNum type="arabicPeriod"/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Langkah-Langkah Pada EDA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6D1F155-F179-55F2-80FB-3D95C7C62A52}"/>
              </a:ext>
            </a:extLst>
          </p:cNvPr>
          <p:cNvSpPr txBox="1"/>
          <p:nvPr/>
        </p:nvSpPr>
        <p:spPr>
          <a:xfrm>
            <a:off x="751416" y="1963307"/>
            <a:ext cx="16012584" cy="7683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 err="1">
                <a:latin typeface="Montserrat" panose="00000500000000000000" pitchFamily="2" charset="0"/>
              </a:rPr>
              <a:t>Definisi</a:t>
            </a:r>
            <a:r>
              <a:rPr lang="en-US" sz="2800" b="1" dirty="0">
                <a:latin typeface="Montserrat" panose="00000500000000000000" pitchFamily="2" charset="0"/>
              </a:rPr>
              <a:t> Masalah</a:t>
            </a:r>
            <a:br>
              <a:rPr lang="en-US" sz="2800" dirty="0">
                <a:latin typeface="Montserrat" panose="00000500000000000000" pitchFamily="2" charset="0"/>
              </a:rPr>
            </a:br>
            <a:r>
              <a:rPr lang="en-US" sz="2800" dirty="0" err="1">
                <a:latin typeface="Montserrat" panose="00000500000000000000" pitchFamily="2" charset="0"/>
              </a:rPr>
              <a:t>Menentukan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tujuan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analisis</a:t>
            </a:r>
            <a:r>
              <a:rPr lang="en-US" sz="2800" dirty="0">
                <a:latin typeface="Montserrat" panose="00000500000000000000" pitchFamily="2" charset="0"/>
              </a:rPr>
              <a:t>, </a:t>
            </a:r>
            <a:r>
              <a:rPr lang="en-US" sz="2800" dirty="0" err="1">
                <a:latin typeface="Montserrat" panose="00000500000000000000" pitchFamily="2" charset="0"/>
              </a:rPr>
              <a:t>memahami</a:t>
            </a:r>
            <a:r>
              <a:rPr lang="en-US" sz="2800" dirty="0">
                <a:latin typeface="Montserrat" panose="00000500000000000000" pitchFamily="2" charset="0"/>
              </a:rPr>
              <a:t> status data, </a:t>
            </a:r>
            <a:r>
              <a:rPr lang="en-US" sz="2800" dirty="0" err="1">
                <a:latin typeface="Montserrat" panose="00000500000000000000" pitchFamily="2" charset="0"/>
              </a:rPr>
              <a:t>menetapkan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jadwal</a:t>
            </a:r>
            <a:r>
              <a:rPr lang="en-US" sz="2800" dirty="0">
                <a:latin typeface="Montserrat" panose="00000500000000000000" pitchFamily="2" charset="0"/>
              </a:rPr>
              <a:t>, </a:t>
            </a:r>
            <a:r>
              <a:rPr lang="en-US" sz="2800" dirty="0" err="1">
                <a:latin typeface="Montserrat" panose="00000500000000000000" pitchFamily="2" charset="0"/>
              </a:rPr>
              <a:t>serta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melakukan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analisis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biaya</a:t>
            </a:r>
            <a:r>
              <a:rPr lang="en-US" sz="2800" dirty="0">
                <a:latin typeface="Montserrat" panose="00000500000000000000" pitchFamily="2" charset="0"/>
              </a:rPr>
              <a:t>/</a:t>
            </a:r>
            <a:r>
              <a:rPr lang="en-US" sz="2800" dirty="0" err="1">
                <a:latin typeface="Montserrat" panose="00000500000000000000" pitchFamily="2" charset="0"/>
              </a:rPr>
              <a:t>manfaat</a:t>
            </a:r>
            <a:r>
              <a:rPr lang="en-US" sz="2800" dirty="0">
                <a:latin typeface="Montserrat" panose="00000500000000000000" pitchFamily="2" charset="0"/>
              </a:rPr>
              <a:t> untuk </a:t>
            </a:r>
            <a:r>
              <a:rPr lang="en-US" sz="2800" dirty="0" err="1">
                <a:latin typeface="Montserrat" panose="00000500000000000000" pitchFamily="2" charset="0"/>
              </a:rPr>
              <a:t>membuat</a:t>
            </a:r>
            <a:r>
              <a:rPr lang="en-US" sz="2800" dirty="0">
                <a:latin typeface="Montserrat" panose="00000500000000000000" pitchFamily="2" charset="0"/>
              </a:rPr>
              <a:t> rencana </a:t>
            </a:r>
            <a:r>
              <a:rPr lang="en-US" sz="2800" dirty="0" err="1">
                <a:latin typeface="Montserrat" panose="00000500000000000000" pitchFamily="2" charset="0"/>
              </a:rPr>
              <a:t>pelaksanaan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 err="1">
                <a:latin typeface="Montserrat" panose="00000500000000000000" pitchFamily="2" charset="0"/>
              </a:rPr>
              <a:t>Persiapan</a:t>
            </a:r>
            <a:r>
              <a:rPr lang="en-US" sz="2800" b="1" dirty="0">
                <a:latin typeface="Montserrat" panose="00000500000000000000" pitchFamily="2" charset="0"/>
              </a:rPr>
              <a:t> Data</a:t>
            </a:r>
            <a:br>
              <a:rPr lang="en-US" sz="2800" dirty="0">
                <a:latin typeface="Montserrat" panose="00000500000000000000" pitchFamily="2" charset="0"/>
              </a:rPr>
            </a:br>
            <a:r>
              <a:rPr lang="en-US" sz="2800" dirty="0" err="1">
                <a:latin typeface="Montserrat" panose="00000500000000000000" pitchFamily="2" charset="0"/>
              </a:rPr>
              <a:t>Menentukan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sumber</a:t>
            </a:r>
            <a:r>
              <a:rPr lang="en-US" sz="2800" dirty="0">
                <a:latin typeface="Montserrat" panose="00000500000000000000" pitchFamily="2" charset="0"/>
              </a:rPr>
              <a:t> data, </a:t>
            </a:r>
            <a:r>
              <a:rPr lang="en-US" sz="2800" dirty="0" err="1">
                <a:latin typeface="Montserrat" panose="00000500000000000000" pitchFamily="2" charset="0"/>
              </a:rPr>
              <a:t>memahami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karakteristiknya</a:t>
            </a:r>
            <a:r>
              <a:rPr lang="en-US" sz="2800" dirty="0">
                <a:latin typeface="Montserrat" panose="00000500000000000000" pitchFamily="2" charset="0"/>
              </a:rPr>
              <a:t>, </a:t>
            </a:r>
            <a:r>
              <a:rPr lang="en-US" sz="2800" dirty="0" err="1">
                <a:latin typeface="Montserrat" panose="00000500000000000000" pitchFamily="2" charset="0"/>
              </a:rPr>
              <a:t>membersihkan</a:t>
            </a:r>
            <a:r>
              <a:rPr lang="en-US" sz="2800" dirty="0">
                <a:latin typeface="Montserrat" panose="00000500000000000000" pitchFamily="2" charset="0"/>
              </a:rPr>
              <a:t> data, </a:t>
            </a:r>
            <a:r>
              <a:rPr lang="en-US" sz="2800" dirty="0" err="1">
                <a:latin typeface="Montserrat" panose="00000500000000000000" pitchFamily="2" charset="0"/>
              </a:rPr>
              <a:t>menghapus</a:t>
            </a:r>
            <a:r>
              <a:rPr lang="en-US" sz="2800" dirty="0">
                <a:latin typeface="Montserrat" panose="00000500000000000000" pitchFamily="2" charset="0"/>
              </a:rPr>
              <a:t> data yang tidak </a:t>
            </a:r>
            <a:r>
              <a:rPr lang="en-US" sz="2800" dirty="0" err="1">
                <a:latin typeface="Montserrat" panose="00000500000000000000" pitchFamily="2" charset="0"/>
              </a:rPr>
              <a:t>relevan</a:t>
            </a:r>
            <a:r>
              <a:rPr lang="en-US" sz="2800" dirty="0">
                <a:latin typeface="Montserrat" panose="00000500000000000000" pitchFamily="2" charset="0"/>
              </a:rPr>
              <a:t>, </a:t>
            </a:r>
            <a:r>
              <a:rPr lang="en-US" sz="2800" dirty="0" err="1">
                <a:latin typeface="Montserrat" panose="00000500000000000000" pitchFamily="2" charset="0"/>
              </a:rPr>
              <a:t>serta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membagi</a:t>
            </a:r>
            <a:r>
              <a:rPr lang="en-US" sz="2800" dirty="0">
                <a:latin typeface="Montserrat" panose="00000500000000000000" pitchFamily="2" charset="0"/>
              </a:rPr>
              <a:t> data sesuai </a:t>
            </a:r>
            <a:r>
              <a:rPr lang="en-US" sz="2800" dirty="0" err="1">
                <a:latin typeface="Montserrat" panose="00000500000000000000" pitchFamily="2" charset="0"/>
              </a:rPr>
              <a:t>kebutuhan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analisis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 err="1">
                <a:latin typeface="Montserrat" panose="00000500000000000000" pitchFamily="2" charset="0"/>
              </a:rPr>
              <a:t>Analisis</a:t>
            </a:r>
            <a:r>
              <a:rPr lang="en-US" sz="2800" b="1" dirty="0">
                <a:latin typeface="Montserrat" panose="00000500000000000000" pitchFamily="2" charset="0"/>
              </a:rPr>
              <a:t> Data</a:t>
            </a:r>
            <a:br>
              <a:rPr lang="en-US" sz="2800" dirty="0">
                <a:latin typeface="Montserrat" panose="00000500000000000000" pitchFamily="2" charset="0"/>
              </a:rPr>
            </a:br>
            <a:r>
              <a:rPr lang="en-US" sz="2800" dirty="0">
                <a:latin typeface="Montserrat" panose="00000500000000000000" pitchFamily="2" charset="0"/>
              </a:rPr>
              <a:t>Menggunakan </a:t>
            </a:r>
            <a:r>
              <a:rPr lang="en-US" sz="2800" dirty="0" err="1">
                <a:latin typeface="Montserrat" panose="00000500000000000000" pitchFamily="2" charset="0"/>
              </a:rPr>
              <a:t>statistik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deskriptif</a:t>
            </a:r>
            <a:r>
              <a:rPr lang="en-US" sz="2800" dirty="0">
                <a:latin typeface="Montserrat" panose="00000500000000000000" pitchFamily="2" charset="0"/>
              </a:rPr>
              <a:t> dan </a:t>
            </a:r>
            <a:r>
              <a:rPr lang="en-US" sz="2800" dirty="0" err="1">
                <a:latin typeface="Montserrat" panose="00000500000000000000" pitchFamily="2" charset="0"/>
              </a:rPr>
              <a:t>teknik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analisis</a:t>
            </a:r>
            <a:r>
              <a:rPr lang="en-US" sz="2800" dirty="0">
                <a:latin typeface="Montserrat" panose="00000500000000000000" pitchFamily="2" charset="0"/>
              </a:rPr>
              <a:t> seperti </a:t>
            </a:r>
            <a:r>
              <a:rPr lang="en-US" sz="2800" dirty="0" err="1">
                <a:latin typeface="Montserrat" panose="00000500000000000000" pitchFamily="2" charset="0"/>
              </a:rPr>
              <a:t>korelasi</a:t>
            </a:r>
            <a:r>
              <a:rPr lang="en-US" sz="2800" dirty="0">
                <a:latin typeface="Montserrat" panose="00000500000000000000" pitchFamily="2" charset="0"/>
              </a:rPr>
              <a:t>, </a:t>
            </a:r>
            <a:r>
              <a:rPr lang="en-US" sz="2800" dirty="0" err="1">
                <a:latin typeface="Montserrat" panose="00000500000000000000" pitchFamily="2" charset="0"/>
              </a:rPr>
              <a:t>pengelompokan</a:t>
            </a:r>
            <a:r>
              <a:rPr lang="en-US" sz="2800" dirty="0">
                <a:latin typeface="Montserrat" panose="00000500000000000000" pitchFamily="2" charset="0"/>
              </a:rPr>
              <a:t>, </a:t>
            </a:r>
            <a:r>
              <a:rPr lang="en-US" sz="2800" dirty="0" err="1">
                <a:latin typeface="Montserrat" panose="00000500000000000000" pitchFamily="2" charset="0"/>
              </a:rPr>
              <a:t>serta</a:t>
            </a:r>
            <a:r>
              <a:rPr lang="en-US" sz="2800" dirty="0">
                <a:latin typeface="Montserrat" panose="00000500000000000000" pitchFamily="2" charset="0"/>
              </a:rPr>
              <a:t> model </a:t>
            </a:r>
            <a:r>
              <a:rPr lang="en-US" sz="2800" dirty="0" err="1">
                <a:latin typeface="Montserrat" panose="00000500000000000000" pitchFamily="2" charset="0"/>
              </a:rPr>
              <a:t>prediktif</a:t>
            </a:r>
            <a:r>
              <a:rPr lang="en-US" sz="2800" dirty="0">
                <a:latin typeface="Montserrat" panose="00000500000000000000" pitchFamily="2" charset="0"/>
              </a:rPr>
              <a:t> untuk </a:t>
            </a:r>
            <a:r>
              <a:rPr lang="en-US" sz="2800" dirty="0" err="1">
                <a:latin typeface="Montserrat" panose="00000500000000000000" pitchFamily="2" charset="0"/>
              </a:rPr>
              <a:t>menemukan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pola</a:t>
            </a:r>
            <a:r>
              <a:rPr lang="en-US" sz="2800" dirty="0">
                <a:latin typeface="Montserrat" panose="00000500000000000000" pitchFamily="2" charset="0"/>
              </a:rPr>
              <a:t> dalam data.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Montserrat" panose="00000500000000000000" pitchFamily="2" charset="0"/>
              </a:rPr>
              <a:t>Pengembangan dan </a:t>
            </a:r>
            <a:r>
              <a:rPr lang="en-US" sz="2800" b="1" dirty="0" err="1">
                <a:latin typeface="Montserrat" panose="00000500000000000000" pitchFamily="2" charset="0"/>
              </a:rPr>
              <a:t>Representasi</a:t>
            </a:r>
            <a:r>
              <a:rPr lang="en-US" sz="2800" b="1" dirty="0">
                <a:latin typeface="Montserrat" panose="00000500000000000000" pitchFamily="2" charset="0"/>
              </a:rPr>
              <a:t> Hasil</a:t>
            </a:r>
            <a:br>
              <a:rPr lang="en-US" sz="2800" dirty="0">
                <a:latin typeface="Montserrat" panose="00000500000000000000" pitchFamily="2" charset="0"/>
              </a:rPr>
            </a:br>
            <a:r>
              <a:rPr lang="en-US" sz="2800" dirty="0" err="1">
                <a:latin typeface="Montserrat" panose="00000500000000000000" pitchFamily="2" charset="0"/>
              </a:rPr>
              <a:t>Menyajikan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hasil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analisis</a:t>
            </a:r>
            <a:r>
              <a:rPr lang="en-US" sz="2800" dirty="0">
                <a:latin typeface="Montserrat" panose="00000500000000000000" pitchFamily="2" charset="0"/>
              </a:rPr>
              <a:t> dalam </a:t>
            </a:r>
            <a:r>
              <a:rPr lang="en-US" sz="2800" dirty="0" err="1">
                <a:latin typeface="Montserrat" panose="00000500000000000000" pitchFamily="2" charset="0"/>
              </a:rPr>
              <a:t>bentuk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grafik</a:t>
            </a:r>
            <a:r>
              <a:rPr lang="en-US" sz="2800" dirty="0">
                <a:latin typeface="Montserrat" panose="00000500000000000000" pitchFamily="2" charset="0"/>
              </a:rPr>
              <a:t>, </a:t>
            </a:r>
            <a:r>
              <a:rPr lang="en-US" sz="2800" dirty="0" err="1">
                <a:latin typeface="Montserrat" panose="00000500000000000000" pitchFamily="2" charset="0"/>
              </a:rPr>
              <a:t>tabel</a:t>
            </a:r>
            <a:r>
              <a:rPr lang="en-US" sz="2800" dirty="0">
                <a:latin typeface="Montserrat" panose="00000500000000000000" pitchFamily="2" charset="0"/>
              </a:rPr>
              <a:t>, </a:t>
            </a:r>
            <a:r>
              <a:rPr lang="en-US" sz="2800" dirty="0" err="1">
                <a:latin typeface="Montserrat" panose="00000500000000000000" pitchFamily="2" charset="0"/>
              </a:rPr>
              <a:t>atau</a:t>
            </a:r>
            <a:r>
              <a:rPr lang="en-US" sz="2800" dirty="0">
                <a:latin typeface="Montserrat" panose="00000500000000000000" pitchFamily="2" charset="0"/>
              </a:rPr>
              <a:t> diagram agar mudah </a:t>
            </a:r>
            <a:r>
              <a:rPr lang="en-US" sz="2800" dirty="0" err="1">
                <a:latin typeface="Montserrat" panose="00000500000000000000" pitchFamily="2" charset="0"/>
              </a:rPr>
              <a:t>dipahami</a:t>
            </a:r>
            <a:r>
              <a:rPr lang="en-US" sz="2800" dirty="0">
                <a:latin typeface="Montserrat" panose="00000500000000000000" pitchFamily="2" charset="0"/>
              </a:rPr>
              <a:t> oleh </a:t>
            </a:r>
            <a:r>
              <a:rPr lang="en-US" sz="2800" dirty="0" err="1">
                <a:latin typeface="Montserrat" panose="00000500000000000000" pitchFamily="2" charset="0"/>
              </a:rPr>
              <a:t>pemangku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kepentingan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3911806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1FD24-0871-46C8-E999-2B4041BC0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D45875D-5D3A-BA21-0927-F3BC5A03B3AD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2582DD7-A248-D39A-96C2-F01040D6299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247251A-ADF9-3DC3-E78D-DF8B96BCFAE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313DA5C-C2E4-3D2A-DB18-0D0860E2DAD4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40E3EC3-1BB5-B590-B238-EA5BDBF7A85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DF6F8A5-9DF3-3275-57A8-D051C073B65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3E7580BA-D766-6C79-9F01-63617BD40FD8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82B7CD5-9375-8237-B109-25ECEFB57D84}"/>
              </a:ext>
            </a:extLst>
          </p:cNvPr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2. Pendahuluan EDA</a:t>
            </a:r>
            <a:endParaRPr lang="en-US" sz="4400" b="1" spc="145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pic>
        <p:nvPicPr>
          <p:cNvPr id="3074" name="Picture 2" descr="numpy - freeCodeCamp.org">
            <a:extLst>
              <a:ext uri="{FF2B5EF4-FFF2-40B4-BE49-F238E27FC236}">
                <a16:creationId xmlns:a16="http://schemas.microsoft.com/office/drawing/2014/main" id="{F0C2F75B-F6ED-3496-9D58-1A9EA9F61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019" y="7197654"/>
            <a:ext cx="2389281" cy="1069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n Introduction to pandas — Python's Data Analysis Library | by Gaurav Garg  | Python in Plain English">
            <a:extLst>
              <a:ext uri="{FF2B5EF4-FFF2-40B4-BE49-F238E27FC236}">
                <a16:creationId xmlns:a16="http://schemas.microsoft.com/office/drawing/2014/main" id="{CE4955CB-91F4-4E6E-F8D3-352FF4A69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7412540"/>
            <a:ext cx="1952625" cy="815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11 Matplotlib Charts for Visualizing Your Data with Python | by Mohsin  Shaikh | GoPenAI">
            <a:extLst>
              <a:ext uri="{FF2B5EF4-FFF2-40B4-BE49-F238E27FC236}">
                <a16:creationId xmlns:a16="http://schemas.microsoft.com/office/drawing/2014/main" id="{1CCE5E12-00EF-A8EC-7F10-CCE7DB91D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6854" y="7299307"/>
            <a:ext cx="1952625" cy="1117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B7935C-36E0-9A43-8D40-75CF7ECE08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6854" y="8643266"/>
            <a:ext cx="2235330" cy="1117665"/>
          </a:xfrm>
          <a:prstGeom prst="rect">
            <a:avLst/>
          </a:prstGeom>
        </p:spPr>
      </p:pic>
      <p:graphicFrame>
        <p:nvGraphicFramePr>
          <p:cNvPr id="3080" name="TextBox 11">
            <a:extLst>
              <a:ext uri="{FF2B5EF4-FFF2-40B4-BE49-F238E27FC236}">
                <a16:creationId xmlns:a16="http://schemas.microsoft.com/office/drawing/2014/main" id="{05D96921-42CB-3792-6668-F38E645544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3876913"/>
              </p:ext>
            </p:extLst>
          </p:nvPr>
        </p:nvGraphicFramePr>
        <p:xfrm>
          <a:off x="990600" y="2019300"/>
          <a:ext cx="16012584" cy="50396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DFFAF4F9-1136-64FC-0B1F-738EAC06F6E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034357" y="7197654"/>
            <a:ext cx="1486351" cy="148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155992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E4E819-0919-F2EB-8E8F-1D0B5AA29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77E2A83-CD6F-BD19-91C3-E03D4C315D4A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ACDDDA7-DA9A-CAB1-6961-BD9882622E1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C54952C-B4B3-9BE4-3953-BB31CB4DF7C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1DED3D1-8FE3-A6A3-77AA-79F5F99AF31F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088454D-D86A-56CF-2A5B-59CF127496C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7277AA1-0974-41C9-EEAB-BE81CCDAEDE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7A66ACF4-D4C3-1610-51EB-2543B910D602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BC6A3C6-65E6-B135-5B17-201F4187E923}"/>
              </a:ext>
            </a:extLst>
          </p:cNvPr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2. NumPy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DF818ADE-B26A-49A4-7567-21904B3B5E17}"/>
              </a:ext>
            </a:extLst>
          </p:cNvPr>
          <p:cNvSpPr txBox="1"/>
          <p:nvPr/>
        </p:nvSpPr>
        <p:spPr>
          <a:xfrm>
            <a:off x="751416" y="1605930"/>
            <a:ext cx="14183784" cy="1219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Untuk </a:t>
            </a:r>
            <a:r>
              <a:rPr lang="en-US" sz="2800" dirty="0" err="1">
                <a:latin typeface="Montserrat" panose="00000500000000000000" pitchFamily="2" charset="0"/>
              </a:rPr>
              <a:t>mengimpor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numpy</a:t>
            </a:r>
            <a:r>
              <a:rPr lang="en-US" sz="2800" dirty="0">
                <a:latin typeface="Montserrat" panose="00000500000000000000" pitchFamily="2" charset="0"/>
              </a:rPr>
              <a:t>, </a:t>
            </a:r>
            <a:r>
              <a:rPr lang="en-US" sz="2800" dirty="0" err="1">
                <a:latin typeface="Montserrat" panose="00000500000000000000" pitchFamily="2" charset="0"/>
              </a:rPr>
              <a:t>kita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akan</a:t>
            </a:r>
            <a:r>
              <a:rPr lang="en-US" sz="2800" dirty="0">
                <a:latin typeface="Montserrat" panose="00000500000000000000" pitchFamily="2" charset="0"/>
              </a:rPr>
              <a:t> menggunakan </a:t>
            </a:r>
            <a:r>
              <a:rPr lang="en-US" sz="2800" dirty="0" err="1">
                <a:latin typeface="Montserrat" panose="00000500000000000000" pitchFamily="2" charset="0"/>
              </a:rPr>
              <a:t>kode</a:t>
            </a:r>
            <a:r>
              <a:rPr lang="en-US" sz="2800" dirty="0">
                <a:latin typeface="Montserrat" panose="00000500000000000000" pitchFamily="2" charset="0"/>
              </a:rPr>
              <a:t> berikut: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Berikut adalah beberapa fungsi NumPy yang </a:t>
            </a:r>
            <a:r>
              <a:rPr lang="en-US" sz="2800" dirty="0" err="1">
                <a:latin typeface="Montserrat" panose="00000500000000000000" pitchFamily="2" charset="0"/>
              </a:rPr>
              <a:t>sering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digunakan</a:t>
            </a:r>
            <a:r>
              <a:rPr lang="en-US" sz="2800" dirty="0">
                <a:latin typeface="Montserrat" panose="00000500000000000000" pitchFamily="2" charset="0"/>
              </a:rPr>
              <a:t> dalam EDA: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CAA571D-48E6-8C19-440A-B6C5EA75BA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2600" y="1191198"/>
            <a:ext cx="4883796" cy="124890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65CCBC-0872-A335-74A1-7B8121856BE1}"/>
              </a:ext>
            </a:extLst>
          </p:cNvPr>
          <p:cNvSpPr txBox="1"/>
          <p:nvPr/>
        </p:nvSpPr>
        <p:spPr>
          <a:xfrm>
            <a:off x="751416" y="3231691"/>
            <a:ext cx="365292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Montserrat" panose="00000500000000000000" pitchFamily="2" charset="0"/>
              </a:rPr>
              <a:t>np.array</a:t>
            </a:r>
            <a:r>
              <a:rPr lang="en-US" sz="2400" b="1" dirty="0">
                <a:latin typeface="Montserrat" panose="00000500000000000000" pitchFamily="2" charset="0"/>
              </a:rPr>
              <a:t>()</a:t>
            </a:r>
            <a:endParaRPr lang="en-ID" sz="2336" b="1" dirty="0">
              <a:latin typeface="Montserrat" panose="00000500000000000000" pitchFamily="2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18799F-1DE0-5D92-F32F-007CA2412772}"/>
              </a:ext>
            </a:extLst>
          </p:cNvPr>
          <p:cNvSpPr txBox="1"/>
          <p:nvPr/>
        </p:nvSpPr>
        <p:spPr>
          <a:xfrm>
            <a:off x="725789" y="4002008"/>
            <a:ext cx="499025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Montserrat" panose="00000500000000000000" pitchFamily="2" charset="0"/>
              </a:rPr>
              <a:t>np.mean</a:t>
            </a:r>
            <a:r>
              <a:rPr lang="en-US" sz="2400" b="1" dirty="0">
                <a:latin typeface="Montserrat" panose="00000500000000000000" pitchFamily="2" charset="0"/>
              </a:rPr>
              <a:t>(array)</a:t>
            </a:r>
            <a:endParaRPr lang="en-ID" sz="2400" b="1" dirty="0">
              <a:latin typeface="Montserrat" panose="00000500000000000000" pitchFamily="2" charset="0"/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BD3D73-6EC4-3001-89D4-51D0D1792582}"/>
              </a:ext>
            </a:extLst>
          </p:cNvPr>
          <p:cNvSpPr txBox="1"/>
          <p:nvPr/>
        </p:nvSpPr>
        <p:spPr>
          <a:xfrm>
            <a:off x="719927" y="4812948"/>
            <a:ext cx="365292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Montserrat" panose="00000500000000000000" pitchFamily="2" charset="0"/>
              </a:rPr>
              <a:t>np.median</a:t>
            </a:r>
            <a:r>
              <a:rPr lang="en-US" sz="2400" b="1" dirty="0">
                <a:latin typeface="Montserrat" panose="00000500000000000000" pitchFamily="2" charset="0"/>
              </a:rPr>
              <a:t>(array)</a:t>
            </a:r>
            <a:endParaRPr lang="en-ID" sz="2400" b="1" dirty="0">
              <a:latin typeface="Montserrat" panose="00000500000000000000" pitchFamily="2" charset="0"/>
              <a:cs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BBAA72-D954-2B14-3A6F-A792D9324490}"/>
              </a:ext>
            </a:extLst>
          </p:cNvPr>
          <p:cNvSpPr txBox="1"/>
          <p:nvPr/>
        </p:nvSpPr>
        <p:spPr>
          <a:xfrm>
            <a:off x="719927" y="5534505"/>
            <a:ext cx="499025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Montserrat" panose="00000500000000000000" pitchFamily="2" charset="0"/>
              </a:rPr>
              <a:t>np.std</a:t>
            </a:r>
            <a:r>
              <a:rPr lang="en-US" sz="2400" b="1" dirty="0">
                <a:latin typeface="Montserrat" panose="00000500000000000000" pitchFamily="2" charset="0"/>
              </a:rPr>
              <a:t>(array)</a:t>
            </a:r>
            <a:endParaRPr lang="en-ID" sz="2400" b="1" dirty="0">
              <a:latin typeface="Montserrat" panose="00000500000000000000" pitchFamily="2" charset="0"/>
              <a:cs typeface="Courier New" panose="020703090202050204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55B369-232A-1CC6-BDAC-AF3BFEA5412B}"/>
              </a:ext>
            </a:extLst>
          </p:cNvPr>
          <p:cNvSpPr txBox="1"/>
          <p:nvPr/>
        </p:nvSpPr>
        <p:spPr>
          <a:xfrm>
            <a:off x="717427" y="6296883"/>
            <a:ext cx="365292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Montserrat" panose="00000500000000000000" pitchFamily="2" charset="0"/>
              </a:rPr>
              <a:t>np.var</a:t>
            </a:r>
            <a:r>
              <a:rPr lang="en-US" sz="2400" b="1" dirty="0">
                <a:latin typeface="Montserrat" panose="00000500000000000000" pitchFamily="2" charset="0"/>
              </a:rPr>
              <a:t>(array)</a:t>
            </a:r>
            <a:endParaRPr lang="en-ID" sz="2336" b="1" dirty="0">
              <a:latin typeface="Montserrat" panose="00000500000000000000" pitchFamily="2" charset="0"/>
              <a:cs typeface="Courier New" panose="020703090202050204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93EB41-45E2-D258-D883-A380E3CA3AC2}"/>
              </a:ext>
            </a:extLst>
          </p:cNvPr>
          <p:cNvSpPr txBox="1"/>
          <p:nvPr/>
        </p:nvSpPr>
        <p:spPr>
          <a:xfrm>
            <a:off x="719927" y="7072367"/>
            <a:ext cx="499025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Montserrat" panose="00000500000000000000" pitchFamily="2" charset="0"/>
              </a:rPr>
              <a:t>np.min</a:t>
            </a:r>
            <a:r>
              <a:rPr lang="en-US" sz="2400" b="1" dirty="0">
                <a:latin typeface="Montserrat" panose="00000500000000000000" pitchFamily="2" charset="0"/>
              </a:rPr>
              <a:t>(array)</a:t>
            </a:r>
            <a:endParaRPr lang="en-ID" sz="2336" b="1" dirty="0">
              <a:latin typeface="Montserrat" panose="00000500000000000000" pitchFamily="2" charset="0"/>
              <a:cs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113104-45FD-FBDD-BAEE-5C3B9B1CFCF8}"/>
              </a:ext>
            </a:extLst>
          </p:cNvPr>
          <p:cNvSpPr txBox="1"/>
          <p:nvPr/>
        </p:nvSpPr>
        <p:spPr>
          <a:xfrm>
            <a:off x="719927" y="7889489"/>
            <a:ext cx="499025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Montserrat" panose="00000500000000000000" pitchFamily="2" charset="0"/>
              </a:rPr>
              <a:t>np.max</a:t>
            </a:r>
            <a:r>
              <a:rPr lang="en-US" sz="2400" b="1" dirty="0">
                <a:latin typeface="Montserrat" panose="00000500000000000000" pitchFamily="2" charset="0"/>
              </a:rPr>
              <a:t>(array)</a:t>
            </a:r>
            <a:endParaRPr lang="en-ID" sz="2336" b="1" dirty="0">
              <a:latin typeface="Montserrat" panose="00000500000000000000" pitchFamily="2" charset="0"/>
              <a:cs typeface="Courier New" panose="020703090202050204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96CE7C-9475-F89F-F949-9531A9119FB1}"/>
              </a:ext>
            </a:extLst>
          </p:cNvPr>
          <p:cNvSpPr txBox="1"/>
          <p:nvPr/>
        </p:nvSpPr>
        <p:spPr>
          <a:xfrm>
            <a:off x="688119" y="8659995"/>
            <a:ext cx="499025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Montserrat" panose="00000500000000000000" pitchFamily="2" charset="0"/>
              </a:rPr>
              <a:t>np.sum</a:t>
            </a:r>
            <a:r>
              <a:rPr lang="en-US" sz="2400" b="1" dirty="0">
                <a:latin typeface="Montserrat" panose="00000500000000000000" pitchFamily="2" charset="0"/>
              </a:rPr>
              <a:t>(array)</a:t>
            </a:r>
            <a:endParaRPr lang="en-ID" sz="2336" b="1" dirty="0">
              <a:latin typeface="Montserrat" panose="00000500000000000000" pitchFamily="2" charset="0"/>
              <a:cs typeface="Courier New" panose="020703090202050204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24F5B2-E2F3-9BEE-A486-213AF308AEA1}"/>
              </a:ext>
            </a:extLst>
          </p:cNvPr>
          <p:cNvSpPr txBox="1"/>
          <p:nvPr/>
        </p:nvSpPr>
        <p:spPr>
          <a:xfrm>
            <a:off x="717426" y="9405829"/>
            <a:ext cx="865517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Montserrat" panose="00000500000000000000" pitchFamily="2" charset="0"/>
              </a:rPr>
              <a:t>np.where</a:t>
            </a:r>
            <a:r>
              <a:rPr lang="en-US" sz="2400" b="1" dirty="0">
                <a:latin typeface="Montserrat" panose="00000500000000000000" pitchFamily="2" charset="0"/>
              </a:rPr>
              <a:t>(condition, </a:t>
            </a:r>
            <a:r>
              <a:rPr lang="en-US" sz="2400" b="1" dirty="0" err="1">
                <a:latin typeface="Montserrat" panose="00000500000000000000" pitchFamily="2" charset="0"/>
              </a:rPr>
              <a:t>value_if_true</a:t>
            </a:r>
            <a:r>
              <a:rPr lang="en-US" sz="2400" b="1" dirty="0">
                <a:latin typeface="Montserrat" panose="00000500000000000000" pitchFamily="2" charset="0"/>
              </a:rPr>
              <a:t>, </a:t>
            </a:r>
            <a:r>
              <a:rPr lang="en-US" sz="2400" b="1" dirty="0" err="1">
                <a:latin typeface="Montserrat" panose="00000500000000000000" pitchFamily="2" charset="0"/>
              </a:rPr>
              <a:t>value_if_false</a:t>
            </a:r>
            <a:r>
              <a:rPr lang="en-US" sz="2400" b="1" dirty="0">
                <a:latin typeface="Montserrat" panose="00000500000000000000" pitchFamily="2" charset="0"/>
              </a:rPr>
              <a:t>)</a:t>
            </a:r>
            <a:endParaRPr lang="en-ID" sz="2336" b="1" dirty="0">
              <a:latin typeface="Montserrat" panose="00000500000000000000" pitchFamily="2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524548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96D9D-54FC-B708-074C-A5A37172C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9C19AB6-A565-4453-F092-556C1FFDAFC9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290F43C-AE3E-F750-9BAA-92DEC0E1A6D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4DD79C3-FF11-D184-C87A-5302E857CC9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BE9BD8A-6F05-848B-CEEC-7D303C1C0BB1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C81F2A0-0E6B-AAA7-4F84-3C6358A46A2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675657F-15CB-67A2-1D85-8E0326BE88D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C5857499-C217-3FC6-015D-3F7E14AB7E4C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EDB0F5A-B8BD-7F6A-5DBE-AD932B4C3CF5}"/>
              </a:ext>
            </a:extLst>
          </p:cNvPr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3. Pandas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6F3FC6CA-5183-B685-8478-D596961DFED3}"/>
              </a:ext>
            </a:extLst>
          </p:cNvPr>
          <p:cNvSpPr txBox="1"/>
          <p:nvPr/>
        </p:nvSpPr>
        <p:spPr>
          <a:xfrm>
            <a:off x="751416" y="2098175"/>
            <a:ext cx="17079384" cy="1219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Montserrat" panose="00000500000000000000" pitchFamily="2" charset="0"/>
              </a:rPr>
              <a:t>pandas</a:t>
            </a:r>
            <a:r>
              <a:rPr lang="en-US" sz="2800" dirty="0">
                <a:latin typeface="Montserrat" panose="00000500000000000000" pitchFamily="2" charset="0"/>
              </a:rPr>
              <a:t> adalah library </a:t>
            </a:r>
            <a:r>
              <a:rPr lang="en-US" sz="2800" dirty="0" err="1">
                <a:latin typeface="Montserrat" panose="00000500000000000000" pitchFamily="2" charset="0"/>
              </a:rPr>
              <a:t>utama</a:t>
            </a:r>
            <a:r>
              <a:rPr lang="en-US" sz="2800" dirty="0">
                <a:latin typeface="Montserrat" panose="00000500000000000000" pitchFamily="2" charset="0"/>
              </a:rPr>
              <a:t> yang </a:t>
            </a:r>
            <a:r>
              <a:rPr lang="en-US" sz="2800" dirty="0" err="1">
                <a:latin typeface="Montserrat" panose="00000500000000000000" pitchFamily="2" charset="0"/>
              </a:rPr>
              <a:t>digunakan</a:t>
            </a:r>
            <a:r>
              <a:rPr lang="en-US" sz="2800" dirty="0">
                <a:latin typeface="Montserrat" panose="00000500000000000000" pitchFamily="2" charset="0"/>
              </a:rPr>
              <a:t> untuk </a:t>
            </a:r>
            <a:r>
              <a:rPr lang="en-US" sz="2800" dirty="0" err="1">
                <a:latin typeface="Montserrat" panose="00000500000000000000" pitchFamily="2" charset="0"/>
              </a:rPr>
              <a:t>memproses</a:t>
            </a:r>
            <a:r>
              <a:rPr lang="en-US" sz="2800" dirty="0">
                <a:latin typeface="Montserrat" panose="00000500000000000000" pitchFamily="2" charset="0"/>
              </a:rPr>
              <a:t>, </a:t>
            </a:r>
            <a:r>
              <a:rPr lang="en-US" sz="2800" dirty="0" err="1">
                <a:latin typeface="Montserrat" panose="00000500000000000000" pitchFamily="2" charset="0"/>
              </a:rPr>
              <a:t>menganalisis</a:t>
            </a:r>
            <a:r>
              <a:rPr lang="en-US" sz="2800" dirty="0">
                <a:latin typeface="Montserrat" panose="00000500000000000000" pitchFamily="2" charset="0"/>
              </a:rPr>
              <a:t>, dan </a:t>
            </a:r>
            <a:r>
              <a:rPr lang="en-US" sz="2800" dirty="0" err="1">
                <a:latin typeface="Montserrat" panose="00000500000000000000" pitchFamily="2" charset="0"/>
              </a:rPr>
              <a:t>memahami</a:t>
            </a:r>
            <a:r>
              <a:rPr lang="en-US" sz="2800" dirty="0">
                <a:latin typeface="Montserrat" panose="00000500000000000000" pitchFamily="2" charset="0"/>
              </a:rPr>
              <a:t> data. Berikut adalah fungsi-fungsi </a:t>
            </a:r>
            <a:r>
              <a:rPr lang="en-US" sz="2800" b="1" dirty="0">
                <a:latin typeface="Montserrat" panose="00000500000000000000" pitchFamily="2" charset="0"/>
              </a:rPr>
              <a:t>pandas</a:t>
            </a:r>
            <a:r>
              <a:rPr lang="en-US" sz="2800" dirty="0">
                <a:latin typeface="Montserrat" panose="00000500000000000000" pitchFamily="2" charset="0"/>
              </a:rPr>
              <a:t> 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82FAE9-9B7A-AA4F-3A3F-8EEF48506BE0}"/>
              </a:ext>
            </a:extLst>
          </p:cNvPr>
          <p:cNvSpPr txBox="1"/>
          <p:nvPr/>
        </p:nvSpPr>
        <p:spPr>
          <a:xfrm>
            <a:off x="1988880" y="4110901"/>
            <a:ext cx="10812720" cy="2245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err="1">
                <a:latin typeface="Montserrat" panose="00000500000000000000" pitchFamily="2" charset="0"/>
              </a:rPr>
              <a:t>pd.read_csv</a:t>
            </a:r>
            <a:r>
              <a:rPr lang="en-US" sz="2400" b="1" dirty="0">
                <a:latin typeface="Montserrat" panose="00000500000000000000" pitchFamily="2" charset="0"/>
              </a:rPr>
              <a:t>('file.csv’) = </a:t>
            </a:r>
            <a:r>
              <a:rPr lang="en-US" sz="2400" dirty="0" err="1">
                <a:latin typeface="Montserrat" panose="00000500000000000000" pitchFamily="2" charset="0"/>
              </a:rPr>
              <a:t>Membaca</a:t>
            </a:r>
            <a:r>
              <a:rPr lang="en-US" sz="2400" dirty="0">
                <a:latin typeface="Montserrat" panose="00000500000000000000" pitchFamily="2" charset="0"/>
              </a:rPr>
              <a:t> file CSV</a:t>
            </a:r>
          </a:p>
          <a:p>
            <a:pPr>
              <a:lnSpc>
                <a:spcPct val="150000"/>
              </a:lnSpc>
            </a:pPr>
            <a:r>
              <a:rPr lang="en-US" sz="2400" b="1" dirty="0" err="1">
                <a:latin typeface="Montserrat" panose="00000500000000000000" pitchFamily="2" charset="0"/>
              </a:rPr>
              <a:t>pd.read_excel</a:t>
            </a:r>
            <a:r>
              <a:rPr lang="en-US" sz="2400" b="1" dirty="0">
                <a:latin typeface="Montserrat" panose="00000500000000000000" pitchFamily="2" charset="0"/>
              </a:rPr>
              <a:t>('file.xlsx’) =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Membaca</a:t>
            </a:r>
            <a:r>
              <a:rPr lang="en-US" sz="2400" dirty="0">
                <a:latin typeface="Montserrat" panose="00000500000000000000" pitchFamily="2" charset="0"/>
              </a:rPr>
              <a:t> file Excel</a:t>
            </a:r>
          </a:p>
          <a:p>
            <a:pPr>
              <a:lnSpc>
                <a:spcPct val="150000"/>
              </a:lnSpc>
            </a:pPr>
            <a:r>
              <a:rPr lang="en-US" sz="2400" b="1" dirty="0" err="1">
                <a:latin typeface="Montserrat" panose="00000500000000000000" pitchFamily="2" charset="0"/>
              </a:rPr>
              <a:t>pd.read_json</a:t>
            </a:r>
            <a:r>
              <a:rPr lang="en-US" sz="2400" b="1" dirty="0">
                <a:latin typeface="Montserrat" panose="00000500000000000000" pitchFamily="2" charset="0"/>
              </a:rPr>
              <a:t>('</a:t>
            </a:r>
            <a:r>
              <a:rPr lang="en-US" sz="2400" b="1" dirty="0" err="1">
                <a:latin typeface="Montserrat" panose="00000500000000000000" pitchFamily="2" charset="0"/>
              </a:rPr>
              <a:t>file.json</a:t>
            </a:r>
            <a:r>
              <a:rPr lang="en-US" sz="2400" b="1" dirty="0">
                <a:latin typeface="Montserrat" panose="00000500000000000000" pitchFamily="2" charset="0"/>
              </a:rPr>
              <a:t>’) =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Membaca</a:t>
            </a:r>
            <a:r>
              <a:rPr lang="en-US" sz="2400" dirty="0">
                <a:latin typeface="Montserrat" panose="00000500000000000000" pitchFamily="2" charset="0"/>
              </a:rPr>
              <a:t> file JSON</a:t>
            </a:r>
          </a:p>
          <a:p>
            <a:pPr>
              <a:lnSpc>
                <a:spcPct val="150000"/>
              </a:lnSpc>
            </a:pPr>
            <a:r>
              <a:rPr lang="en-US" sz="2400" b="1" dirty="0" err="1">
                <a:latin typeface="Montserrat" panose="00000500000000000000" pitchFamily="2" charset="0"/>
              </a:rPr>
              <a:t>pd.read_sql</a:t>
            </a:r>
            <a:r>
              <a:rPr lang="en-US" sz="2400" b="1" dirty="0">
                <a:latin typeface="Montserrat" panose="00000500000000000000" pitchFamily="2" charset="0"/>
              </a:rPr>
              <a:t>(query, connection) =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Membaca</a:t>
            </a:r>
            <a:r>
              <a:rPr lang="en-US" sz="2400" dirty="0">
                <a:latin typeface="Montserrat" panose="00000500000000000000" pitchFamily="2" charset="0"/>
              </a:rPr>
              <a:t> data </a:t>
            </a:r>
            <a:r>
              <a:rPr lang="en-US" sz="2400" dirty="0" err="1">
                <a:latin typeface="Montserrat" panose="00000500000000000000" pitchFamily="2" charset="0"/>
              </a:rPr>
              <a:t>dari</a:t>
            </a:r>
            <a:r>
              <a:rPr lang="en-US" sz="2400" dirty="0">
                <a:latin typeface="Montserrat" panose="00000500000000000000" pitchFamily="2" charset="0"/>
              </a:rPr>
              <a:t> database SQL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948BAD5D-2CF9-5A26-D335-029C9AC0C2BE}"/>
              </a:ext>
            </a:extLst>
          </p:cNvPr>
          <p:cNvSpPr txBox="1"/>
          <p:nvPr/>
        </p:nvSpPr>
        <p:spPr>
          <a:xfrm>
            <a:off x="1208616" y="3422565"/>
            <a:ext cx="11897784" cy="573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Montserrat" panose="00000500000000000000" pitchFamily="2" charset="0"/>
              </a:rPr>
              <a:t>1. </a:t>
            </a:r>
            <a:r>
              <a:rPr lang="en-US" sz="2800" b="1" dirty="0" err="1">
                <a:latin typeface="Montserrat" panose="00000500000000000000" pitchFamily="2" charset="0"/>
              </a:rPr>
              <a:t>Membaca</a:t>
            </a:r>
            <a:r>
              <a:rPr lang="en-US" sz="2800" b="1" dirty="0">
                <a:latin typeface="Montserrat" panose="00000500000000000000" pitchFamily="2" charset="0"/>
              </a:rPr>
              <a:t>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158641-26FF-B75F-DCFD-520CE013608C}"/>
              </a:ext>
            </a:extLst>
          </p:cNvPr>
          <p:cNvSpPr txBox="1"/>
          <p:nvPr/>
        </p:nvSpPr>
        <p:spPr>
          <a:xfrm>
            <a:off x="1971295" y="7065889"/>
            <a:ext cx="10812720" cy="27998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err="1">
                <a:latin typeface="Montserrat" panose="00000500000000000000" pitchFamily="2" charset="0"/>
              </a:rPr>
              <a:t>df.head</a:t>
            </a:r>
            <a:r>
              <a:rPr lang="en-US" sz="2400" b="1" dirty="0">
                <a:latin typeface="Montserrat" panose="00000500000000000000" pitchFamily="2" charset="0"/>
              </a:rPr>
              <a:t>(n) =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Menampilkan</a:t>
            </a:r>
            <a:r>
              <a:rPr lang="en-US" sz="2400" dirty="0">
                <a:latin typeface="Montserrat" panose="00000500000000000000" pitchFamily="2" charset="0"/>
              </a:rPr>
              <a:t> n baris </a:t>
            </a:r>
            <a:r>
              <a:rPr lang="en-US" sz="2400" dirty="0" err="1">
                <a:latin typeface="Montserrat" panose="00000500000000000000" pitchFamily="2" charset="0"/>
              </a:rPr>
              <a:t>pertama</a:t>
            </a:r>
            <a:endParaRPr lang="en-US" sz="24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 err="1">
                <a:latin typeface="Montserrat" panose="00000500000000000000" pitchFamily="2" charset="0"/>
              </a:rPr>
              <a:t>df.tail</a:t>
            </a:r>
            <a:r>
              <a:rPr lang="en-US" sz="2400" b="1" dirty="0">
                <a:latin typeface="Montserrat" panose="00000500000000000000" pitchFamily="2" charset="0"/>
              </a:rPr>
              <a:t>(n) =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Menampilkan</a:t>
            </a:r>
            <a:r>
              <a:rPr lang="en-US" sz="2400" dirty="0">
                <a:latin typeface="Montserrat" panose="00000500000000000000" pitchFamily="2" charset="0"/>
              </a:rPr>
              <a:t> n baris </a:t>
            </a:r>
            <a:r>
              <a:rPr lang="en-US" sz="2400" dirty="0" err="1">
                <a:latin typeface="Montserrat" panose="00000500000000000000" pitchFamily="2" charset="0"/>
              </a:rPr>
              <a:t>terakhir</a:t>
            </a:r>
            <a:endParaRPr lang="en-US" sz="24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 err="1">
                <a:latin typeface="Montserrat" panose="00000500000000000000" pitchFamily="2" charset="0"/>
              </a:rPr>
              <a:t>df.sample</a:t>
            </a:r>
            <a:r>
              <a:rPr lang="en-US" sz="2400" b="1" dirty="0">
                <a:latin typeface="Montserrat" panose="00000500000000000000" pitchFamily="2" charset="0"/>
              </a:rPr>
              <a:t>(n) =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Menampilkan</a:t>
            </a:r>
            <a:r>
              <a:rPr lang="en-US" sz="2400" dirty="0">
                <a:latin typeface="Montserrat" panose="00000500000000000000" pitchFamily="2" charset="0"/>
              </a:rPr>
              <a:t> n baris </a:t>
            </a:r>
            <a:r>
              <a:rPr lang="en-US" sz="2400" dirty="0" err="1">
                <a:latin typeface="Montserrat" panose="00000500000000000000" pitchFamily="2" charset="0"/>
              </a:rPr>
              <a:t>secara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acak</a:t>
            </a:r>
            <a:endParaRPr lang="en-US" sz="24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Montserrat" panose="00000500000000000000" pitchFamily="2" charset="0"/>
              </a:rPr>
              <a:t>df.info() =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Menampilkan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ringkasan</a:t>
            </a:r>
            <a:r>
              <a:rPr lang="en-US" sz="2400" dirty="0">
                <a:latin typeface="Montserrat" panose="00000500000000000000" pitchFamily="2" charset="0"/>
              </a:rPr>
              <a:t> informasi dataset</a:t>
            </a:r>
          </a:p>
          <a:p>
            <a:pPr>
              <a:lnSpc>
                <a:spcPct val="150000"/>
              </a:lnSpc>
            </a:pPr>
            <a:r>
              <a:rPr lang="en-US" sz="2400" b="1" dirty="0" err="1">
                <a:latin typeface="Montserrat" panose="00000500000000000000" pitchFamily="2" charset="0"/>
              </a:rPr>
              <a:t>df.describe</a:t>
            </a:r>
            <a:r>
              <a:rPr lang="en-US" sz="2400" b="1" dirty="0">
                <a:latin typeface="Montserrat" panose="00000500000000000000" pitchFamily="2" charset="0"/>
              </a:rPr>
              <a:t>() =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Statistik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deskriptif</a:t>
            </a:r>
            <a:r>
              <a:rPr lang="en-US" sz="2400" dirty="0">
                <a:latin typeface="Montserrat" panose="00000500000000000000" pitchFamily="2" charset="0"/>
              </a:rPr>
              <a:t> untuk </a:t>
            </a:r>
            <a:r>
              <a:rPr lang="en-US" sz="2400" dirty="0" err="1">
                <a:latin typeface="Montserrat" panose="00000500000000000000" pitchFamily="2" charset="0"/>
              </a:rPr>
              <a:t>kolom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numerik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E0838A37-70EC-BBB4-8B8F-99A5B09531D2}"/>
              </a:ext>
            </a:extLst>
          </p:cNvPr>
          <p:cNvSpPr txBox="1"/>
          <p:nvPr/>
        </p:nvSpPr>
        <p:spPr>
          <a:xfrm>
            <a:off x="1191031" y="6377553"/>
            <a:ext cx="11897784" cy="573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Montserrat" panose="00000500000000000000" pitchFamily="2" charset="0"/>
              </a:rPr>
              <a:t>2. </a:t>
            </a:r>
            <a:r>
              <a:rPr lang="en-US" sz="2800" b="1" dirty="0" err="1">
                <a:latin typeface="Montserrat" panose="00000500000000000000" pitchFamily="2" charset="0"/>
              </a:rPr>
              <a:t>Melihat</a:t>
            </a:r>
            <a:r>
              <a:rPr lang="en-US" sz="2800" b="1" dirty="0">
                <a:latin typeface="Montserrat" panose="00000500000000000000" pitchFamily="2" charset="0"/>
              </a:rPr>
              <a:t> Gambaran Pada Data</a:t>
            </a:r>
          </a:p>
        </p:txBody>
      </p:sp>
    </p:spTree>
    <p:extLst>
      <p:ext uri="{BB962C8B-B14F-4D97-AF65-F5344CB8AC3E}">
        <p14:creationId xmlns:p14="http://schemas.microsoft.com/office/powerpoint/2010/main" val="2093514782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8DFCC2-7AB7-584D-7710-61740B12D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170B721-4C95-F52E-29F7-811D6128489C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39FEB7C-529C-0517-2270-D5FB07BCCF0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C719CCF-8566-0FC6-A171-06691F4476A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256D04A-7DC4-4A84-D612-CCFD556F511A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966F7D-D1C5-DDF8-75FB-D0C100AA6A2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D0D3BFA-C88B-0D5E-A90A-95CAA1F1174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B85F3B1A-CE9A-97AD-E636-4AE7B3397119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AEF1C93-DF0A-FCB6-25A8-5AA45DAB1E0C}"/>
              </a:ext>
            </a:extLst>
          </p:cNvPr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3. Pandas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49ACE1-F474-02BF-B364-6648F9AE1D50}"/>
              </a:ext>
            </a:extLst>
          </p:cNvPr>
          <p:cNvSpPr txBox="1"/>
          <p:nvPr/>
        </p:nvSpPr>
        <p:spPr>
          <a:xfrm>
            <a:off x="2063363" y="2750908"/>
            <a:ext cx="10812720" cy="16918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err="1">
                <a:latin typeface="Montserrat" panose="00000500000000000000" pitchFamily="2" charset="0"/>
              </a:rPr>
              <a:t>df.isnull</a:t>
            </a:r>
            <a:r>
              <a:rPr lang="en-US" sz="2400" b="1" dirty="0">
                <a:latin typeface="Montserrat" panose="00000500000000000000" pitchFamily="2" charset="0"/>
              </a:rPr>
              <a:t>().sum() =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Mengecek</a:t>
            </a:r>
            <a:r>
              <a:rPr lang="en-US" sz="2400" dirty="0">
                <a:latin typeface="Montserrat" panose="00000500000000000000" pitchFamily="2" charset="0"/>
              </a:rPr>
              <a:t> jumlah missing values per </a:t>
            </a:r>
            <a:r>
              <a:rPr lang="en-US" sz="2400" dirty="0" err="1">
                <a:latin typeface="Montserrat" panose="00000500000000000000" pitchFamily="2" charset="0"/>
              </a:rPr>
              <a:t>kolom</a:t>
            </a:r>
            <a:endParaRPr lang="en-US" sz="24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 err="1">
                <a:latin typeface="Montserrat" panose="00000500000000000000" pitchFamily="2" charset="0"/>
              </a:rPr>
              <a:t>df.dropna</a:t>
            </a:r>
            <a:r>
              <a:rPr lang="en-US" sz="2400" b="1" dirty="0">
                <a:latin typeface="Montserrat" panose="00000500000000000000" pitchFamily="2" charset="0"/>
              </a:rPr>
              <a:t>() =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Menghapus</a:t>
            </a:r>
            <a:r>
              <a:rPr lang="en-US" sz="2400" dirty="0">
                <a:latin typeface="Montserrat" panose="00000500000000000000" pitchFamily="2" charset="0"/>
              </a:rPr>
              <a:t> baris yang </a:t>
            </a:r>
            <a:r>
              <a:rPr lang="en-US" sz="2400" dirty="0" err="1">
                <a:latin typeface="Montserrat" panose="00000500000000000000" pitchFamily="2" charset="0"/>
              </a:rPr>
              <a:t>memiliki</a:t>
            </a:r>
            <a:r>
              <a:rPr lang="en-US" sz="2400" dirty="0">
                <a:latin typeface="Montserrat" panose="00000500000000000000" pitchFamily="2" charset="0"/>
              </a:rPr>
              <a:t> missing values</a:t>
            </a:r>
          </a:p>
          <a:p>
            <a:pPr>
              <a:lnSpc>
                <a:spcPct val="150000"/>
              </a:lnSpc>
            </a:pPr>
            <a:r>
              <a:rPr lang="en-US" sz="2400" b="1" dirty="0" err="1">
                <a:latin typeface="Montserrat" panose="00000500000000000000" pitchFamily="2" charset="0"/>
              </a:rPr>
              <a:t>df.fillna</a:t>
            </a:r>
            <a:r>
              <a:rPr lang="en-US" sz="2400" b="1" dirty="0">
                <a:latin typeface="Montserrat" panose="00000500000000000000" pitchFamily="2" charset="0"/>
              </a:rPr>
              <a:t>(value) =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Mengisi</a:t>
            </a:r>
            <a:r>
              <a:rPr lang="en-US" sz="2400" dirty="0">
                <a:latin typeface="Montserrat" panose="00000500000000000000" pitchFamily="2" charset="0"/>
              </a:rPr>
              <a:t> missing values dengan </a:t>
            </a:r>
            <a:r>
              <a:rPr lang="en-US" sz="2400" dirty="0" err="1">
                <a:latin typeface="Montserrat" panose="00000500000000000000" pitchFamily="2" charset="0"/>
              </a:rPr>
              <a:t>nilai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tertentu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F5439E91-D345-B2BF-2C9E-787574544460}"/>
              </a:ext>
            </a:extLst>
          </p:cNvPr>
          <p:cNvSpPr txBox="1"/>
          <p:nvPr/>
        </p:nvSpPr>
        <p:spPr>
          <a:xfrm>
            <a:off x="1283099" y="2062572"/>
            <a:ext cx="11897784" cy="573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Montserrat" panose="00000500000000000000" pitchFamily="2" charset="0"/>
              </a:rPr>
              <a:t>3. </a:t>
            </a:r>
            <a:r>
              <a:rPr lang="en-US" sz="2800" b="1" dirty="0" err="1">
                <a:latin typeface="Montserrat" panose="00000500000000000000" pitchFamily="2" charset="0"/>
              </a:rPr>
              <a:t>Menangani</a:t>
            </a:r>
            <a:r>
              <a:rPr lang="en-US" sz="2800" b="1" dirty="0">
                <a:latin typeface="Montserrat" panose="00000500000000000000" pitchFamily="2" charset="0"/>
              </a:rPr>
              <a:t> Missing Value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19EECF-E4AC-40A6-6969-6CA2F9A871A1}"/>
              </a:ext>
            </a:extLst>
          </p:cNvPr>
          <p:cNvSpPr txBox="1"/>
          <p:nvPr/>
        </p:nvSpPr>
        <p:spPr>
          <a:xfrm>
            <a:off x="2063363" y="5374636"/>
            <a:ext cx="10812720" cy="11378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err="1">
                <a:latin typeface="Montserrat" panose="00000500000000000000" pitchFamily="2" charset="0"/>
              </a:rPr>
              <a:t>df.duplicated</a:t>
            </a:r>
            <a:r>
              <a:rPr lang="en-US" sz="2400" b="1" dirty="0">
                <a:latin typeface="Montserrat" panose="00000500000000000000" pitchFamily="2" charset="0"/>
              </a:rPr>
              <a:t>() =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Mengecek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duplikasi</a:t>
            </a:r>
            <a:endParaRPr lang="en-US" sz="24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 err="1">
                <a:latin typeface="Montserrat" panose="00000500000000000000" pitchFamily="2" charset="0"/>
              </a:rPr>
              <a:t>df.drop_duplicates</a:t>
            </a:r>
            <a:r>
              <a:rPr lang="en-US" sz="2400" b="1" dirty="0">
                <a:latin typeface="Montserrat" panose="00000500000000000000" pitchFamily="2" charset="0"/>
              </a:rPr>
              <a:t>() =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Menghapus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duplikasi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7E39F8C3-52EE-B4ED-99F7-813FB5DE27F5}"/>
              </a:ext>
            </a:extLst>
          </p:cNvPr>
          <p:cNvSpPr txBox="1"/>
          <p:nvPr/>
        </p:nvSpPr>
        <p:spPr>
          <a:xfrm>
            <a:off x="1283099" y="4686300"/>
            <a:ext cx="11897784" cy="573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Montserrat" panose="00000500000000000000" pitchFamily="2" charset="0"/>
              </a:rPr>
              <a:t>4. </a:t>
            </a:r>
            <a:r>
              <a:rPr lang="en-US" sz="2800" b="1" dirty="0" err="1">
                <a:latin typeface="Montserrat" panose="00000500000000000000" pitchFamily="2" charset="0"/>
              </a:rPr>
              <a:t>Menangani</a:t>
            </a:r>
            <a:r>
              <a:rPr lang="en-US" sz="2800" b="1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Duplikasi</a:t>
            </a:r>
            <a:endParaRPr lang="en-US" sz="2800" b="1" dirty="0">
              <a:latin typeface="Montserrat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2F3E65-D031-5886-5ABB-18CB57838FE4}"/>
              </a:ext>
            </a:extLst>
          </p:cNvPr>
          <p:cNvSpPr txBox="1"/>
          <p:nvPr/>
        </p:nvSpPr>
        <p:spPr>
          <a:xfrm>
            <a:off x="2063363" y="7393429"/>
            <a:ext cx="10812720" cy="2245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err="1">
                <a:latin typeface="Montserrat" panose="00000500000000000000" pitchFamily="2" charset="0"/>
              </a:rPr>
              <a:t>df</a:t>
            </a:r>
            <a:r>
              <a:rPr lang="en-US" sz="2400" b="1" dirty="0">
                <a:latin typeface="Montserrat" panose="00000500000000000000" pitchFamily="2" charset="0"/>
              </a:rPr>
              <a:t>['</a:t>
            </a:r>
            <a:r>
              <a:rPr lang="en-US" sz="2400" b="1" dirty="0" err="1">
                <a:latin typeface="Montserrat" panose="00000500000000000000" pitchFamily="2" charset="0"/>
              </a:rPr>
              <a:t>kolom</a:t>
            </a:r>
            <a:r>
              <a:rPr lang="en-US" sz="2400" b="1" dirty="0">
                <a:latin typeface="Montserrat" panose="00000500000000000000" pitchFamily="2" charset="0"/>
              </a:rPr>
              <a:t>’]</a:t>
            </a:r>
            <a:r>
              <a:rPr lang="en-US" sz="2400" dirty="0">
                <a:latin typeface="Montserrat" panose="00000500000000000000" pitchFamily="2" charset="0"/>
              </a:rPr>
              <a:t> = </a:t>
            </a:r>
            <a:r>
              <a:rPr lang="en-US" sz="2400" dirty="0" err="1">
                <a:latin typeface="Montserrat" panose="00000500000000000000" pitchFamily="2" charset="0"/>
              </a:rPr>
              <a:t>Mengakses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satu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kolom</a:t>
            </a:r>
            <a:endParaRPr lang="en-US" sz="24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 err="1">
                <a:latin typeface="Montserrat" panose="00000500000000000000" pitchFamily="2" charset="0"/>
              </a:rPr>
              <a:t>df</a:t>
            </a:r>
            <a:r>
              <a:rPr lang="en-US" sz="2400" b="1" dirty="0">
                <a:latin typeface="Montserrat" panose="00000500000000000000" pitchFamily="2" charset="0"/>
              </a:rPr>
              <a:t>[['kolom1', 'kolom2’]] =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Mengakses</a:t>
            </a:r>
            <a:r>
              <a:rPr lang="en-US" sz="2400" dirty="0">
                <a:latin typeface="Montserrat" panose="00000500000000000000" pitchFamily="2" charset="0"/>
              </a:rPr>
              <a:t> beberapa </a:t>
            </a:r>
            <a:r>
              <a:rPr lang="en-US" sz="2400" dirty="0" err="1">
                <a:latin typeface="Montserrat" panose="00000500000000000000" pitchFamily="2" charset="0"/>
              </a:rPr>
              <a:t>kolom</a:t>
            </a:r>
            <a:endParaRPr lang="en-US" sz="24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 err="1">
                <a:latin typeface="Montserrat" panose="00000500000000000000" pitchFamily="2" charset="0"/>
              </a:rPr>
              <a:t>df.iloc</a:t>
            </a:r>
            <a:r>
              <a:rPr lang="en-US" sz="2400" b="1" dirty="0">
                <a:latin typeface="Montserrat" panose="00000500000000000000" pitchFamily="2" charset="0"/>
              </a:rPr>
              <a:t>[row, col] =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Akses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berdasarkan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indeks</a:t>
            </a:r>
            <a:r>
              <a:rPr lang="en-US" sz="2400" dirty="0">
                <a:latin typeface="Montserrat" panose="00000500000000000000" pitchFamily="2" charset="0"/>
              </a:rPr>
              <a:t> baris dan </a:t>
            </a:r>
            <a:r>
              <a:rPr lang="en-US" sz="2400" dirty="0" err="1">
                <a:latin typeface="Montserrat" panose="00000500000000000000" pitchFamily="2" charset="0"/>
              </a:rPr>
              <a:t>kolom</a:t>
            </a:r>
            <a:endParaRPr lang="en-US" sz="24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 err="1">
                <a:latin typeface="Montserrat" panose="00000500000000000000" pitchFamily="2" charset="0"/>
              </a:rPr>
              <a:t>df.loc</a:t>
            </a:r>
            <a:r>
              <a:rPr lang="en-US" sz="2400" b="1" dirty="0">
                <a:latin typeface="Montserrat" panose="00000500000000000000" pitchFamily="2" charset="0"/>
              </a:rPr>
              <a:t>[</a:t>
            </a:r>
            <a:r>
              <a:rPr lang="en-US" sz="2400" b="1" dirty="0" err="1">
                <a:latin typeface="Montserrat" panose="00000500000000000000" pitchFamily="2" charset="0"/>
              </a:rPr>
              <a:t>df</a:t>
            </a:r>
            <a:r>
              <a:rPr lang="en-US" sz="2400" b="1" dirty="0">
                <a:latin typeface="Montserrat" panose="00000500000000000000" pitchFamily="2" charset="0"/>
              </a:rPr>
              <a:t>['Age'] &gt; 30] =</a:t>
            </a:r>
            <a:r>
              <a:rPr lang="en-US" sz="2400" dirty="0">
                <a:latin typeface="Montserrat" panose="00000500000000000000" pitchFamily="2" charset="0"/>
              </a:rPr>
              <a:t> Filter data </a:t>
            </a:r>
            <a:r>
              <a:rPr lang="en-US" sz="2400" dirty="0" err="1">
                <a:latin typeface="Montserrat" panose="00000500000000000000" pitchFamily="2" charset="0"/>
              </a:rPr>
              <a:t>berdasarkan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kondisi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E77A8A9F-DDD7-9793-A4E7-DE0E60E41A9F}"/>
              </a:ext>
            </a:extLst>
          </p:cNvPr>
          <p:cNvSpPr txBox="1"/>
          <p:nvPr/>
        </p:nvSpPr>
        <p:spPr>
          <a:xfrm>
            <a:off x="1283099" y="6705093"/>
            <a:ext cx="11897784" cy="573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Montserrat" panose="00000500000000000000" pitchFamily="2" charset="0"/>
              </a:rPr>
              <a:t>5. </a:t>
            </a:r>
            <a:r>
              <a:rPr lang="en-US" sz="2800" b="1" dirty="0" err="1">
                <a:latin typeface="Montserrat" panose="00000500000000000000" pitchFamily="2" charset="0"/>
              </a:rPr>
              <a:t>Seleksi</a:t>
            </a:r>
            <a:r>
              <a:rPr lang="en-US" sz="2800" b="1" dirty="0">
                <a:latin typeface="Montserrat" panose="00000500000000000000" pitchFamily="2" charset="0"/>
              </a:rPr>
              <a:t> dan Filter Data</a:t>
            </a:r>
          </a:p>
        </p:txBody>
      </p:sp>
    </p:spTree>
    <p:extLst>
      <p:ext uri="{BB962C8B-B14F-4D97-AF65-F5344CB8AC3E}">
        <p14:creationId xmlns:p14="http://schemas.microsoft.com/office/powerpoint/2010/main" val="3357980817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61BD59-A3EA-FA4E-EA4A-178A5DD69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>
            <a:extLst>
              <a:ext uri="{FF2B5EF4-FFF2-40B4-BE49-F238E27FC236}">
                <a16:creationId xmlns:a16="http://schemas.microsoft.com/office/drawing/2014/main" id="{4CE02736-D008-C306-803D-DC1D46FF7AFE}"/>
              </a:ext>
            </a:extLst>
          </p:cNvPr>
          <p:cNvSpPr txBox="1"/>
          <p:nvPr/>
        </p:nvSpPr>
        <p:spPr>
          <a:xfrm>
            <a:off x="10851684" y="1161685"/>
            <a:ext cx="6172200" cy="17190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8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4. Matplotlib dan Seaborn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EF65689-55A4-1A17-9396-9760BDCFF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571" y="0"/>
            <a:ext cx="185042" cy="10287000"/>
            <a:chOff x="12068638" y="0"/>
            <a:chExt cx="123362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CBC69B-172A-330B-94CA-F9651D6D9F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634201E-0AB3-F791-0BCB-A522009F94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27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81D9437F-93F4-78CD-E9C8-281CDB0E6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450" y="5330161"/>
            <a:ext cx="4114800" cy="357987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38CB844-C0C4-36FA-C13C-D203423A2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1429" y="5330161"/>
            <a:ext cx="4114800" cy="2931794"/>
          </a:xfrm>
          <a:prstGeom prst="rect">
            <a:avLst/>
          </a:prstGeom>
        </p:spPr>
      </p:pic>
      <p:sp>
        <p:nvSpPr>
          <p:cNvPr id="10" name="TextBox 11">
            <a:extLst>
              <a:ext uri="{FF2B5EF4-FFF2-40B4-BE49-F238E27FC236}">
                <a16:creationId xmlns:a16="http://schemas.microsoft.com/office/drawing/2014/main" id="{EB8341A8-C890-91B3-C98D-CFDFD1B6A706}"/>
              </a:ext>
            </a:extLst>
          </p:cNvPr>
          <p:cNvSpPr txBox="1"/>
          <p:nvPr/>
        </p:nvSpPr>
        <p:spPr>
          <a:xfrm>
            <a:off x="10851684" y="3510333"/>
            <a:ext cx="6172200" cy="547095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457200" indent="-228600" algn="just">
              <a:lnSpc>
                <a:spcPct val="150000"/>
              </a:lnSpc>
              <a:spcBef>
                <a:spcPts val="667"/>
              </a:spcBef>
              <a:buClrTx/>
              <a:buFont typeface="Arial" panose="020B0604020202020204" pitchFamily="34" charset="0"/>
              <a:buChar char="•"/>
              <a:defRPr/>
            </a:pPr>
            <a:r>
              <a:rPr lang="en-US" sz="2400" dirty="0" err="1">
                <a:latin typeface="Montserrat" panose="00000500000000000000" pitchFamily="2" charset="0"/>
              </a:rPr>
              <a:t>Visualisasi</a:t>
            </a:r>
            <a:r>
              <a:rPr lang="en-US" sz="2400" dirty="0">
                <a:latin typeface="Montserrat" panose="00000500000000000000" pitchFamily="2" charset="0"/>
              </a:rPr>
              <a:t> Data </a:t>
            </a:r>
            <a:r>
              <a:rPr lang="en-US" sz="2400" dirty="0" err="1">
                <a:latin typeface="Montserrat" panose="00000500000000000000" pitchFamily="2" charset="0"/>
              </a:rPr>
              <a:t>digunakan</a:t>
            </a:r>
            <a:r>
              <a:rPr lang="en-US" sz="2400" dirty="0">
                <a:latin typeface="Montserrat" panose="00000500000000000000" pitchFamily="2" charset="0"/>
              </a:rPr>
              <a:t> untuk </a:t>
            </a:r>
            <a:r>
              <a:rPr lang="en-US" sz="2400" dirty="0" err="1">
                <a:latin typeface="Montserrat" panose="00000500000000000000" pitchFamily="2" charset="0"/>
              </a:rPr>
              <a:t>mengomunikasikan</a:t>
            </a:r>
            <a:r>
              <a:rPr lang="en-US" sz="2400" dirty="0">
                <a:latin typeface="Montserrat" panose="00000500000000000000" pitchFamily="2" charset="0"/>
              </a:rPr>
              <a:t> informasi agar </a:t>
            </a:r>
            <a:r>
              <a:rPr lang="en-US" sz="2400" dirty="0" err="1">
                <a:latin typeface="Montserrat" panose="00000500000000000000" pitchFamily="2" charset="0"/>
              </a:rPr>
              <a:t>lebih</a:t>
            </a:r>
            <a:r>
              <a:rPr lang="en-US" sz="2400" dirty="0">
                <a:latin typeface="Montserrat" panose="00000500000000000000" pitchFamily="2" charset="0"/>
              </a:rPr>
              <a:t> jelas dan efisien </a:t>
            </a:r>
            <a:r>
              <a:rPr lang="en-US" sz="2400" dirty="0" err="1">
                <a:latin typeface="Montserrat" panose="00000500000000000000" pitchFamily="2" charset="0"/>
              </a:rPr>
              <a:t>kepada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pengguna</a:t>
            </a:r>
            <a:r>
              <a:rPr lang="en-US" sz="2400" dirty="0">
                <a:latin typeface="Montserrat" panose="00000500000000000000" pitchFamily="2" charset="0"/>
              </a:rPr>
              <a:t> dengan menggunakan </a:t>
            </a:r>
            <a:r>
              <a:rPr lang="en-US" sz="2400" dirty="0" err="1">
                <a:latin typeface="Montserrat" panose="00000500000000000000" pitchFamily="2" charset="0"/>
              </a:rPr>
              <a:t>grafik</a:t>
            </a:r>
            <a:r>
              <a:rPr lang="en-US" sz="2400" dirty="0">
                <a:latin typeface="Montserrat" panose="00000500000000000000" pitchFamily="2" charset="0"/>
              </a:rPr>
              <a:t>, table, dan </a:t>
            </a:r>
            <a:r>
              <a:rPr lang="en-US" sz="2400" dirty="0" err="1">
                <a:latin typeface="Montserrat" panose="00000500000000000000" pitchFamily="2" charset="0"/>
              </a:rPr>
              <a:t>bagan</a:t>
            </a:r>
            <a:r>
              <a:rPr lang="en-US" sz="2400" dirty="0">
                <a:latin typeface="Montserrat" panose="00000500000000000000" pitchFamily="2" charset="0"/>
              </a:rPr>
              <a:t>. </a:t>
            </a:r>
          </a:p>
          <a:p>
            <a:pPr marL="457200" indent="-228600" algn="just">
              <a:lnSpc>
                <a:spcPct val="150000"/>
              </a:lnSpc>
              <a:spcBef>
                <a:spcPts val="667"/>
              </a:spcBef>
              <a:buClrTx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Montserrat" panose="00000500000000000000" pitchFamily="2" charset="0"/>
              </a:rPr>
              <a:t>Data visualization membantu </a:t>
            </a:r>
            <a:r>
              <a:rPr lang="en-US" sz="2400" dirty="0" err="1">
                <a:latin typeface="Montserrat" panose="00000500000000000000" pitchFamily="2" charset="0"/>
              </a:rPr>
              <a:t>kita</a:t>
            </a:r>
            <a:r>
              <a:rPr lang="en-US" sz="2400" dirty="0">
                <a:latin typeface="Montserrat" panose="00000500000000000000" pitchFamily="2" charset="0"/>
              </a:rPr>
              <a:t> dalam </a:t>
            </a:r>
            <a:r>
              <a:rPr lang="en-US" sz="2400" dirty="0" err="1">
                <a:latin typeface="Montserrat" panose="00000500000000000000" pitchFamily="2" charset="0"/>
              </a:rPr>
              <a:t>menganalisis</a:t>
            </a:r>
            <a:r>
              <a:rPr lang="en-US" sz="2400" dirty="0">
                <a:latin typeface="Montserrat" panose="00000500000000000000" pitchFamily="2" charset="0"/>
              </a:rPr>
              <a:t> data </a:t>
            </a:r>
            <a:r>
              <a:rPr lang="en-US" sz="2400" dirty="0" err="1">
                <a:latin typeface="Montserrat" panose="00000500000000000000" pitchFamily="2" charset="0"/>
              </a:rPr>
              <a:t>berskala</a:t>
            </a:r>
            <a:r>
              <a:rPr lang="en-US" sz="2400" dirty="0">
                <a:latin typeface="Montserrat" panose="00000500000000000000" pitchFamily="2" charset="0"/>
              </a:rPr>
              <a:t> besar </a:t>
            </a:r>
            <a:r>
              <a:rPr lang="en-US" sz="2400" dirty="0" err="1">
                <a:latin typeface="Montserrat" panose="00000500000000000000" pitchFamily="2" charset="0"/>
              </a:rPr>
              <a:t>secara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lebih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sederhana</a:t>
            </a:r>
            <a:r>
              <a:rPr lang="en-US" sz="2400" dirty="0">
                <a:latin typeface="Montserrat" panose="00000500000000000000" pitchFamily="2" charset="0"/>
              </a:rPr>
              <a:t>. </a:t>
            </a:r>
          </a:p>
          <a:p>
            <a:pPr marL="457200" indent="-228600" algn="just">
              <a:lnSpc>
                <a:spcPct val="150000"/>
              </a:lnSpc>
              <a:spcBef>
                <a:spcPts val="667"/>
              </a:spcBef>
              <a:buClrTx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Montserrat" panose="00000500000000000000" pitchFamily="2" charset="0"/>
              </a:rPr>
              <a:t>Data visualization </a:t>
            </a:r>
            <a:r>
              <a:rPr lang="en-US" sz="2400" dirty="0" err="1">
                <a:latin typeface="Montserrat" panose="00000500000000000000" pitchFamily="2" charset="0"/>
              </a:rPr>
              <a:t>membuat</a:t>
            </a:r>
            <a:r>
              <a:rPr lang="en-US" sz="2400" dirty="0">
                <a:latin typeface="Montserrat" panose="00000500000000000000" pitchFamily="2" charset="0"/>
              </a:rPr>
              <a:t> data </a:t>
            </a:r>
            <a:r>
              <a:rPr lang="en-US" sz="2400" dirty="0" err="1">
                <a:latin typeface="Montserrat" panose="00000500000000000000" pitchFamily="2" charset="0"/>
              </a:rPr>
              <a:t>kompleks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lebih</a:t>
            </a:r>
            <a:r>
              <a:rPr lang="en-US" sz="2400" dirty="0">
                <a:latin typeface="Montserrat" panose="00000500000000000000" pitchFamily="2" charset="0"/>
              </a:rPr>
              <a:t> mudah </a:t>
            </a:r>
            <a:r>
              <a:rPr lang="en-US" sz="2400" dirty="0" err="1">
                <a:latin typeface="Montserrat" panose="00000500000000000000" pitchFamily="2" charset="0"/>
              </a:rPr>
              <a:t>diakses</a:t>
            </a:r>
            <a:r>
              <a:rPr lang="en-US" sz="2400" dirty="0">
                <a:latin typeface="Montserrat" panose="00000500000000000000" pitchFamily="2" charset="0"/>
              </a:rPr>
              <a:t>, </a:t>
            </a:r>
            <a:r>
              <a:rPr lang="en-US" sz="2400" dirty="0" err="1">
                <a:latin typeface="Montserrat" panose="00000500000000000000" pitchFamily="2" charset="0"/>
              </a:rPr>
              <a:t>dimengerti</a:t>
            </a:r>
            <a:r>
              <a:rPr lang="en-US" sz="2400" dirty="0">
                <a:latin typeface="Montserrat" panose="00000500000000000000" pitchFamily="2" charset="0"/>
              </a:rPr>
              <a:t>, dan dapat </a:t>
            </a:r>
            <a:r>
              <a:rPr lang="en-US" sz="2400" dirty="0" err="1">
                <a:latin typeface="Montserrat" panose="00000500000000000000" pitchFamily="2" charset="0"/>
              </a:rPr>
              <a:t>digunakan</a:t>
            </a:r>
            <a:r>
              <a:rPr lang="en-US" sz="2400" dirty="0">
                <a:latin typeface="Montserrat" panose="00000500000000000000" pitchFamily="2" charset="0"/>
              </a:rPr>
              <a:t>.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27AFBEF-5586-273B-F47B-51C1F0A9E0D2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CE2D07F-3DEF-E2BD-5337-67096BBF17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3304" y="1104918"/>
            <a:ext cx="5586025" cy="3960392"/>
          </a:xfrm>
          <a:prstGeom prst="rect">
            <a:avLst/>
          </a:prstGeom>
        </p:spPr>
      </p:pic>
      <p:pic>
        <p:nvPicPr>
          <p:cNvPr id="7170" name="Picture 2" descr="Python Data Visualization With Seaborn &amp; Matplotlib | Built In">
            <a:extLst>
              <a:ext uri="{FF2B5EF4-FFF2-40B4-BE49-F238E27FC236}">
                <a16:creationId xmlns:a16="http://schemas.microsoft.com/office/drawing/2014/main" id="{A435B2B2-E0C1-F85B-614B-20C1D0D0B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304" y="1714500"/>
            <a:ext cx="3167934" cy="3043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8332507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0571F6-58DB-CE4F-8E26-EEC25331F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B299F7A-184E-4365-9C44-D63BA7EFEBA2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DFC3F09-D4C9-F5A1-6343-AB74B260DEE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CE07613-873E-B9D2-2F25-73CA2B2AF74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90EC8E4-D6A1-135D-8BFF-719EE48B9A05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E59AF08-70AD-216D-5DFA-49FF2BFCE0D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5CDA666-1780-027A-E2B5-A39AC69FA39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D412D9B8-A78E-99E1-9B14-953E694D51A4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BF0ECB0-9E37-938A-C0FB-5C2BF27C425A}"/>
              </a:ext>
            </a:extLst>
          </p:cNvPr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4. Matplotlib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21F551-A2A0-8BCC-0E68-B24019736FD8}"/>
              </a:ext>
            </a:extLst>
          </p:cNvPr>
          <p:cNvSpPr txBox="1"/>
          <p:nvPr/>
        </p:nvSpPr>
        <p:spPr>
          <a:xfrm>
            <a:off x="1904999" y="1727180"/>
            <a:ext cx="14038357" cy="3353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anose="00000500000000000000" pitchFamily="2" charset="0"/>
              </a:rPr>
              <a:t>Matplotlib adalah </a:t>
            </a:r>
            <a:r>
              <a:rPr lang="en-US" sz="2400" dirty="0" err="1">
                <a:latin typeface="Montserrat" panose="00000500000000000000" pitchFamily="2" charset="0"/>
              </a:rPr>
              <a:t>pustaka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grafik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tingkat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rendah</a:t>
            </a:r>
            <a:r>
              <a:rPr lang="en-US" sz="2400" dirty="0">
                <a:latin typeface="Montserrat" panose="00000500000000000000" pitchFamily="2" charset="0"/>
              </a:rPr>
              <a:t> dalam </a:t>
            </a:r>
            <a:r>
              <a:rPr lang="en-US" sz="2400" dirty="0" err="1">
                <a:latin typeface="Montserrat" panose="00000500000000000000" pitchFamily="2" charset="0"/>
              </a:rPr>
              <a:t>bahasa</a:t>
            </a:r>
            <a:r>
              <a:rPr lang="en-US" sz="2400" dirty="0">
                <a:latin typeface="Montserrat" panose="00000500000000000000" pitchFamily="2" charset="0"/>
              </a:rPr>
              <a:t> python yang </a:t>
            </a:r>
            <a:r>
              <a:rPr lang="en-US" sz="2400" dirty="0" err="1">
                <a:latin typeface="Montserrat" panose="00000500000000000000" pitchFamily="2" charset="0"/>
              </a:rPr>
              <a:t>berfungsi</a:t>
            </a:r>
            <a:r>
              <a:rPr lang="en-US" sz="2400" dirty="0">
                <a:latin typeface="Montserrat" panose="00000500000000000000" pitchFamily="2" charset="0"/>
              </a:rPr>
              <a:t> sebagai </a:t>
            </a:r>
            <a:r>
              <a:rPr lang="en-US" sz="2400" dirty="0" err="1">
                <a:latin typeface="Montserrat" panose="00000500000000000000" pitchFamily="2" charset="0"/>
              </a:rPr>
              <a:t>utilitas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visualisasi</a:t>
            </a:r>
            <a:r>
              <a:rPr lang="en-US" sz="2400" dirty="0">
                <a:latin typeface="Montserrat" panose="00000500000000000000" pitchFamily="2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anose="00000500000000000000" pitchFamily="2" charset="0"/>
              </a:rPr>
              <a:t>Matplotlib </a:t>
            </a:r>
            <a:r>
              <a:rPr lang="en-US" sz="2400" dirty="0" err="1">
                <a:latin typeface="Montserrat" panose="00000500000000000000" pitchFamily="2" charset="0"/>
              </a:rPr>
              <a:t>diciptakan</a:t>
            </a:r>
            <a:r>
              <a:rPr lang="en-US" sz="2400" dirty="0">
                <a:latin typeface="Montserrat" panose="00000500000000000000" pitchFamily="2" charset="0"/>
              </a:rPr>
              <a:t> oleh John D. Hunter.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anose="00000500000000000000" pitchFamily="2" charset="0"/>
              </a:rPr>
              <a:t>Matplotlib bersifat open source dan </a:t>
            </a:r>
            <a:r>
              <a:rPr lang="en-US" sz="2400" dirty="0" err="1">
                <a:latin typeface="Montserrat" panose="00000500000000000000" pitchFamily="2" charset="0"/>
              </a:rPr>
              <a:t>kita</a:t>
            </a:r>
            <a:r>
              <a:rPr lang="en-US" sz="2400" dirty="0">
                <a:latin typeface="Montserrat" panose="00000500000000000000" pitchFamily="2" charset="0"/>
              </a:rPr>
              <a:t> dapat </a:t>
            </a:r>
            <a:r>
              <a:rPr lang="en-US" sz="2400" dirty="0" err="1">
                <a:latin typeface="Montserrat" panose="00000500000000000000" pitchFamily="2" charset="0"/>
              </a:rPr>
              <a:t>menggunakannya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secara</a:t>
            </a:r>
            <a:r>
              <a:rPr lang="en-US" sz="2400" dirty="0">
                <a:latin typeface="Montserrat" panose="00000500000000000000" pitchFamily="2" charset="0"/>
              </a:rPr>
              <a:t> bebas.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anose="00000500000000000000" pitchFamily="2" charset="0"/>
              </a:rPr>
              <a:t>Matplotlib </a:t>
            </a:r>
            <a:r>
              <a:rPr lang="en-US" sz="2400" dirty="0" err="1">
                <a:latin typeface="Montserrat" panose="00000500000000000000" pitchFamily="2" charset="0"/>
              </a:rPr>
              <a:t>sebagian</a:t>
            </a:r>
            <a:r>
              <a:rPr lang="en-US" sz="2400" dirty="0">
                <a:latin typeface="Montserrat" panose="00000500000000000000" pitchFamily="2" charset="0"/>
              </a:rPr>
              <a:t> besar </a:t>
            </a:r>
            <a:r>
              <a:rPr lang="en-US" sz="2400" dirty="0" err="1">
                <a:latin typeface="Montserrat" panose="00000500000000000000" pitchFamily="2" charset="0"/>
              </a:rPr>
              <a:t>ditulis</a:t>
            </a:r>
            <a:r>
              <a:rPr lang="en-US" sz="2400" dirty="0">
                <a:latin typeface="Montserrat" panose="00000500000000000000" pitchFamily="2" charset="0"/>
              </a:rPr>
              <a:t> dalam </a:t>
            </a:r>
            <a:r>
              <a:rPr lang="en-US" sz="2400" dirty="0" err="1">
                <a:latin typeface="Montserrat" panose="00000500000000000000" pitchFamily="2" charset="0"/>
              </a:rPr>
              <a:t>bahasa</a:t>
            </a:r>
            <a:r>
              <a:rPr lang="en-US" sz="2400" dirty="0">
                <a:latin typeface="Montserrat" panose="00000500000000000000" pitchFamily="2" charset="0"/>
              </a:rPr>
              <a:t> python, beberapa </a:t>
            </a:r>
            <a:r>
              <a:rPr lang="en-US" sz="2400" dirty="0" err="1">
                <a:latin typeface="Montserrat" panose="00000500000000000000" pitchFamily="2" charset="0"/>
              </a:rPr>
              <a:t>segmen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ditulis</a:t>
            </a:r>
            <a:r>
              <a:rPr lang="en-US" sz="2400" dirty="0">
                <a:latin typeface="Montserrat" panose="00000500000000000000" pitchFamily="2" charset="0"/>
              </a:rPr>
              <a:t> dalam </a:t>
            </a:r>
            <a:r>
              <a:rPr lang="en-US" sz="2400" dirty="0" err="1">
                <a:latin typeface="Montserrat" panose="00000500000000000000" pitchFamily="2" charset="0"/>
              </a:rPr>
              <a:t>bahasa</a:t>
            </a:r>
            <a:r>
              <a:rPr lang="en-US" sz="2400" dirty="0">
                <a:latin typeface="Montserrat" panose="00000500000000000000" pitchFamily="2" charset="0"/>
              </a:rPr>
              <a:t> C, Objective-C, dan </a:t>
            </a:r>
            <a:r>
              <a:rPr lang="en-US" sz="2400" dirty="0" err="1">
                <a:latin typeface="Montserrat" panose="00000500000000000000" pitchFamily="2" charset="0"/>
              </a:rPr>
              <a:t>Javascript</a:t>
            </a:r>
            <a:r>
              <a:rPr lang="en-US" sz="2400" dirty="0">
                <a:latin typeface="Montserrat" panose="00000500000000000000" pitchFamily="2" charset="0"/>
              </a:rPr>
              <a:t> untuk </a:t>
            </a:r>
            <a:r>
              <a:rPr lang="en-US" sz="2400" dirty="0" err="1">
                <a:latin typeface="Montserrat" panose="00000500000000000000" pitchFamily="2" charset="0"/>
              </a:rPr>
              <a:t>kompatibilitas</a:t>
            </a:r>
            <a:r>
              <a:rPr lang="en-US" sz="2400" dirty="0">
                <a:latin typeface="Montserrat" panose="00000500000000000000" pitchFamily="2" charset="0"/>
              </a:rPr>
              <a:t> Platform.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4FF8FDA3-7842-7B30-B63F-52883EB0F51C}"/>
              </a:ext>
            </a:extLst>
          </p:cNvPr>
          <p:cNvSpPr txBox="1"/>
          <p:nvPr/>
        </p:nvSpPr>
        <p:spPr>
          <a:xfrm>
            <a:off x="751416" y="5205953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4. Seaborn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7B4956-199C-6D15-5369-776285EFF7D4}"/>
              </a:ext>
            </a:extLst>
          </p:cNvPr>
          <p:cNvSpPr txBox="1"/>
          <p:nvPr/>
        </p:nvSpPr>
        <p:spPr>
          <a:xfrm>
            <a:off x="1904999" y="6084751"/>
            <a:ext cx="5943601" cy="279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rtl="0">
              <a:lnSpc>
                <a:spcPct val="150000"/>
              </a:lnSpc>
              <a:buNone/>
            </a:pPr>
            <a:r>
              <a:rPr lang="en-US" sz="2400" dirty="0">
                <a:latin typeface="Montserrat" panose="00000500000000000000" pitchFamily="2" charset="0"/>
              </a:rPr>
              <a:t>Seaborn adalah library untuk </a:t>
            </a:r>
            <a:r>
              <a:rPr lang="en-US" sz="2400" dirty="0" err="1">
                <a:latin typeface="Montserrat" panose="00000500000000000000" pitchFamily="2" charset="0"/>
              </a:rPr>
              <a:t>membuat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grafik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statistik</a:t>
            </a:r>
            <a:r>
              <a:rPr lang="en-US" sz="2400" dirty="0">
                <a:latin typeface="Montserrat" panose="00000500000000000000" pitchFamily="2" charset="0"/>
              </a:rPr>
              <a:t> di Python. Seaborn </a:t>
            </a:r>
            <a:r>
              <a:rPr lang="en-US" sz="2400" dirty="0" err="1">
                <a:latin typeface="Montserrat" panose="00000500000000000000" pitchFamily="2" charset="0"/>
              </a:rPr>
              <a:t>dibangun</a:t>
            </a:r>
            <a:r>
              <a:rPr lang="en-US" sz="2400" dirty="0">
                <a:latin typeface="Montserrat" panose="00000500000000000000" pitchFamily="2" charset="0"/>
              </a:rPr>
              <a:t> di </a:t>
            </a:r>
            <a:r>
              <a:rPr lang="en-US" sz="2400" dirty="0" err="1">
                <a:latin typeface="Montserrat" panose="00000500000000000000" pitchFamily="2" charset="0"/>
              </a:rPr>
              <a:t>atas</a:t>
            </a:r>
            <a:r>
              <a:rPr lang="en-US" sz="2400" dirty="0">
                <a:latin typeface="Montserrat" panose="00000500000000000000" pitchFamily="2" charset="0"/>
              </a:rPr>
              <a:t> matplotlib dan </a:t>
            </a:r>
            <a:r>
              <a:rPr lang="en-US" sz="2400" dirty="0" err="1">
                <a:latin typeface="Montserrat" panose="00000500000000000000" pitchFamily="2" charset="0"/>
              </a:rPr>
              <a:t>terintegrasi</a:t>
            </a:r>
            <a:r>
              <a:rPr lang="en-US" sz="2400" dirty="0">
                <a:latin typeface="Montserrat" panose="00000500000000000000" pitchFamily="2" charset="0"/>
              </a:rPr>
              <a:t> dengan </a:t>
            </a:r>
            <a:r>
              <a:rPr lang="en-US" sz="2400" dirty="0" err="1">
                <a:latin typeface="Montserrat" panose="00000500000000000000" pitchFamily="2" charset="0"/>
              </a:rPr>
              <a:t>struktur</a:t>
            </a:r>
            <a:r>
              <a:rPr lang="en-US" sz="2400" dirty="0">
                <a:latin typeface="Montserrat" panose="00000500000000000000" pitchFamily="2" charset="0"/>
              </a:rPr>
              <a:t> data di Pandas.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1403EF2-663B-FBBE-B9FB-DFF61482A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2968" y="5825161"/>
            <a:ext cx="5486400" cy="397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549994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1C99D1-5BF0-E177-A160-FE2FD054B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CB2494B-C127-F050-785C-D165CAC930A0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B67D94C-0697-3CA9-E5EE-1B5640BBB8E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88CA60B-727C-645A-751D-38424EB3696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31D0801-3118-D759-AE3E-AC961F54904A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0AD1690-3132-A511-A810-A677046F20F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06A14FB-85F6-C03B-2F92-D18768CCE74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035951DA-D60A-DF39-FE3F-0DAD49390C6C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6E23F26-12E2-6D0E-39BA-C3442D83CEDB}"/>
              </a:ext>
            </a:extLst>
          </p:cNvPr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Line Plot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43DF589-53CC-1C5A-1AA9-606B1FBCBA43}"/>
              </a:ext>
            </a:extLst>
          </p:cNvPr>
          <p:cNvGrpSpPr/>
          <p:nvPr/>
        </p:nvGrpSpPr>
        <p:grpSpPr>
          <a:xfrm>
            <a:off x="1761650" y="2281517"/>
            <a:ext cx="6629980" cy="4396862"/>
            <a:chOff x="2428683" y="1710208"/>
            <a:chExt cx="8719608" cy="3223951"/>
          </a:xfrm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1AC6BDD3-E80C-4239-D4B4-C69F6410E542}"/>
                </a:ext>
              </a:extLst>
            </p:cNvPr>
            <p:cNvSpPr/>
            <p:nvPr/>
          </p:nvSpPr>
          <p:spPr>
            <a:xfrm>
              <a:off x="2428683" y="1756225"/>
              <a:ext cx="8387761" cy="313191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wrap="square" lIns="0" tIns="0" rIns="0" bIns="0" rtlCol="0"/>
            <a:lstStyle/>
            <a:p>
              <a:endParaRPr sz="819" dirty="0">
                <a:solidFill>
                  <a:srgbClr val="1CADE4"/>
                </a:solidFill>
              </a:endParaRPr>
            </a:p>
          </p:txBody>
        </p:sp>
        <p:sp>
          <p:nvSpPr>
            <p:cNvPr id="13" name="object 5">
              <a:extLst>
                <a:ext uri="{FF2B5EF4-FFF2-40B4-BE49-F238E27FC236}">
                  <a16:creationId xmlns:a16="http://schemas.microsoft.com/office/drawing/2014/main" id="{6D7BAE7A-94A5-426B-FB0B-6B515BC1BC50}"/>
                </a:ext>
              </a:extLst>
            </p:cNvPr>
            <p:cNvSpPr/>
            <p:nvPr/>
          </p:nvSpPr>
          <p:spPr>
            <a:xfrm>
              <a:off x="2629276" y="1710208"/>
              <a:ext cx="8519015" cy="3223951"/>
            </a:xfrm>
            <a:prstGeom prst="roundRect">
              <a:avLst>
                <a:gd name="adj" fmla="val 5494"/>
              </a:avLst>
            </a:prstGeom>
            <a:solidFill>
              <a:schemeClr val="bg1">
                <a:lumMod val="95000"/>
              </a:schemeClr>
            </a:solidFill>
          </p:spPr>
          <p:txBody>
            <a:bodyPr wrap="square" lIns="0" tIns="0" rIns="0" bIns="0" rtlCol="0"/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import </a:t>
              </a:r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matplotlib.pyplot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as </a:t>
              </a:r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plt</a:t>
              </a:r>
              <a:endPara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plt.plot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([1.6, 2.7])</a:t>
              </a:r>
            </a:p>
            <a:p>
              <a:pPr>
                <a:lnSpc>
                  <a:spcPct val="150000"/>
                </a:lnSpc>
              </a:pPr>
              <a:endPara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08C7A08C-CD51-0E9D-30D6-61ADF2615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5199" y="1805613"/>
            <a:ext cx="8327675" cy="534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323106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E84B4C-DCA5-5144-C29F-EFC6E02EB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2AE6C2A-6875-CCBB-6039-C6A4EB32C15A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61A4F79-670E-2E8B-A308-62D820CDC3B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89D71FD-3A18-66DD-750E-2D089E989FB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D12D913-5F2D-8083-1D5C-6C46799B8AD4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D473F77-48E5-C068-308D-758B7851FF1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DCFAC9D-F597-B1D9-23B1-BBD613FA191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5FF0303-CEF8-D980-524E-ABAFB6A450BC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1B2064A-4D69-EEC8-4F4E-0091AF0F9171}"/>
              </a:ext>
            </a:extLst>
          </p:cNvPr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Pie Chart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BA9D398-EE8B-E4DF-66DB-B333D283B284}"/>
              </a:ext>
            </a:extLst>
          </p:cNvPr>
          <p:cNvGrpSpPr/>
          <p:nvPr/>
        </p:nvGrpSpPr>
        <p:grpSpPr>
          <a:xfrm>
            <a:off x="1828800" y="2705100"/>
            <a:ext cx="6588453" cy="4516143"/>
            <a:chOff x="2428683" y="1710208"/>
            <a:chExt cx="8719608" cy="3223951"/>
          </a:xfrm>
        </p:grpSpPr>
        <p:sp>
          <p:nvSpPr>
            <p:cNvPr id="15" name="object 4">
              <a:extLst>
                <a:ext uri="{FF2B5EF4-FFF2-40B4-BE49-F238E27FC236}">
                  <a16:creationId xmlns:a16="http://schemas.microsoft.com/office/drawing/2014/main" id="{7D29DE94-D06B-5BA3-B21F-949BA88FFD22}"/>
                </a:ext>
              </a:extLst>
            </p:cNvPr>
            <p:cNvSpPr/>
            <p:nvPr/>
          </p:nvSpPr>
          <p:spPr>
            <a:xfrm>
              <a:off x="2428683" y="1756225"/>
              <a:ext cx="8387761" cy="313191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wrap="square" lIns="0" tIns="0" rIns="0" bIns="0" rtlCol="0"/>
            <a:lstStyle/>
            <a:p>
              <a:endParaRPr sz="819" dirty="0">
                <a:solidFill>
                  <a:srgbClr val="1CADE4"/>
                </a:solidFill>
              </a:endParaRPr>
            </a:p>
          </p:txBody>
        </p:sp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844334AC-E6AA-EEC6-0849-3216EECD5C0E}"/>
                </a:ext>
              </a:extLst>
            </p:cNvPr>
            <p:cNvSpPr/>
            <p:nvPr/>
          </p:nvSpPr>
          <p:spPr>
            <a:xfrm>
              <a:off x="2629276" y="1710208"/>
              <a:ext cx="8519015" cy="3223951"/>
            </a:xfrm>
            <a:prstGeom prst="roundRect">
              <a:avLst>
                <a:gd name="adj" fmla="val 5494"/>
              </a:avLst>
            </a:prstGeom>
            <a:solidFill>
              <a:schemeClr val="bg1">
                <a:lumMod val="95000"/>
              </a:schemeClr>
            </a:solidFill>
          </p:spPr>
          <p:txBody>
            <a:bodyPr wrap="square" lIns="0" tIns="0" rIns="0" bIns="0" rtlCol="0"/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import </a:t>
              </a:r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matplotlib.pyplot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as </a:t>
              </a:r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plt</a:t>
              </a:r>
              <a:endPara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from </a:t>
              </a:r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matplotlib.gridspec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import </a:t>
              </a:r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GridSpec</a:t>
              </a:r>
              <a:endPara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plt.figure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figsize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=(8,8))</a:t>
              </a:r>
            </a:p>
            <a:p>
              <a:pPr>
                <a:lnSpc>
                  <a:spcPct val="150000"/>
                </a:lnSpc>
              </a:pP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labels = 'Frogs', 'Hogs', 'Dogs', 'Logs'</a:t>
              </a:r>
            </a:p>
            <a:p>
              <a:pPr>
                <a:lnSpc>
                  <a:spcPct val="150000"/>
                </a:lnSpc>
              </a:pP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fracs = [15, 30, 45, 10]</a:t>
              </a:r>
            </a:p>
            <a:p>
              <a:pPr>
                <a:lnSpc>
                  <a:spcPct val="150000"/>
                </a:lnSpc>
              </a:pP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explode = (0, 0.05, 0, 0)</a:t>
              </a:r>
            </a:p>
            <a:p>
              <a:pPr>
                <a:lnSpc>
                  <a:spcPct val="150000"/>
                </a:lnSpc>
              </a:pPr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plt.pie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(fracs, labels=labels, </a:t>
              </a:r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autopct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='%1.1f%%', shadow=True)</a:t>
              </a:r>
            </a:p>
            <a:p>
              <a:pPr>
                <a:lnSpc>
                  <a:spcPct val="150000"/>
                </a:lnSpc>
              </a:pPr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plt.show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pPr>
                <a:lnSpc>
                  <a:spcPct val="150000"/>
                </a:lnSpc>
              </a:pPr>
              <a:endPara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69636994-8E2B-9D5E-EB1D-E72351A77B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491"/>
          <a:stretch/>
        </p:blipFill>
        <p:spPr>
          <a:xfrm>
            <a:off x="9144000" y="1282924"/>
            <a:ext cx="7620665" cy="703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494739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356A22-7FE7-3962-B73B-B76B1E269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26EC166-AC72-3972-E137-40EA2489C0E4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66A1C6E-845A-CF84-2CDC-4A787D0DC5D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25820F2-77B7-E15E-5925-3DA5CF06623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6A02477-0DC2-B7E1-FFEE-D43D4D2197E6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8C98AFA-3DA7-BAF1-ACCA-523CC64EE1D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D2DEA0D-829C-726E-0F25-8A96B7D44F2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A308357F-BD6B-1E1F-65CC-F203E903CFCF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DF32068-39DE-3A81-7FEA-8516E1D1F4D8}"/>
              </a:ext>
            </a:extLst>
          </p:cNvPr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Histogram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EDC1171-4CD4-580F-0AA2-B048224F9400}"/>
              </a:ext>
            </a:extLst>
          </p:cNvPr>
          <p:cNvGrpSpPr/>
          <p:nvPr/>
        </p:nvGrpSpPr>
        <p:grpSpPr>
          <a:xfrm>
            <a:off x="1046575" y="2349084"/>
            <a:ext cx="7153718" cy="4516143"/>
            <a:chOff x="2428683" y="1710208"/>
            <a:chExt cx="8719608" cy="3223951"/>
          </a:xfrm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4A21B068-DA84-ACE3-A341-EF10CCF7CE08}"/>
                </a:ext>
              </a:extLst>
            </p:cNvPr>
            <p:cNvSpPr/>
            <p:nvPr/>
          </p:nvSpPr>
          <p:spPr>
            <a:xfrm>
              <a:off x="2428683" y="1756225"/>
              <a:ext cx="8387761" cy="313191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wrap="square" lIns="0" tIns="0" rIns="0" bIns="0" rtlCol="0"/>
            <a:lstStyle/>
            <a:p>
              <a:endParaRPr sz="819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3" name="object 5">
              <a:extLst>
                <a:ext uri="{FF2B5EF4-FFF2-40B4-BE49-F238E27FC236}">
                  <a16:creationId xmlns:a16="http://schemas.microsoft.com/office/drawing/2014/main" id="{84D5890A-E55A-FDD3-957B-1E13C7DF9503}"/>
                </a:ext>
              </a:extLst>
            </p:cNvPr>
            <p:cNvSpPr/>
            <p:nvPr/>
          </p:nvSpPr>
          <p:spPr>
            <a:xfrm>
              <a:off x="2629276" y="1710208"/>
              <a:ext cx="8519015" cy="3223951"/>
            </a:xfrm>
            <a:prstGeom prst="roundRect">
              <a:avLst>
                <a:gd name="adj" fmla="val 5494"/>
              </a:avLst>
            </a:prstGeom>
            <a:solidFill>
              <a:schemeClr val="bg1">
                <a:lumMod val="95000"/>
              </a:schemeClr>
            </a:solidFill>
          </p:spPr>
          <p:txBody>
            <a:bodyPr wrap="square" lIns="0" tIns="0" rIns="0" bIns="0" rtlCol="0"/>
            <a:lstStyle/>
            <a:p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mu, sigma = 100, 15</a:t>
              </a:r>
            </a:p>
            <a:p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 = mu + sigma * </a:t>
              </a:r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numpy.random.randn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(10000)</a:t>
              </a:r>
            </a:p>
            <a:p>
              <a:endPara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n, bins, patches = </a:t>
              </a:r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plt.hist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(x, 50, normed=1, </a:t>
              </a:r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facecolor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='g', alpha=0.75)</a:t>
              </a:r>
            </a:p>
            <a:p>
              <a:endPara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plt.xlabel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('Smarts')</a:t>
              </a:r>
            </a:p>
            <a:p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plt.ylabel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('Probability')</a:t>
              </a:r>
            </a:p>
            <a:p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plt.title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('Histogram of IQ')</a:t>
              </a:r>
            </a:p>
            <a:p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plt.text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(60,.025,r'$\mu=100,\ \sigma=15$')</a:t>
              </a:r>
            </a:p>
            <a:p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plt.axis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([40, 160, 0, 0.03])</a:t>
              </a:r>
            </a:p>
            <a:p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plt.grid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(True)</a:t>
              </a:r>
            </a:p>
            <a:p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plt.show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endPara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DD41783A-1374-679C-36F5-5412B91EE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595575"/>
            <a:ext cx="9116227" cy="598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132288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F72909-9C8A-CE53-5A06-D576263A2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C402411-457C-30CA-31B7-EE86736CF54A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CEE90B7-9A56-ACDD-48D0-631E9DBC610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0543065-4C97-5BAB-D10A-736D280A78B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1E04617-0711-3A08-7D43-53694711A8CB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2DEB149-D1E9-65BA-6E52-C26E1246D55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32CC8E1-3FA1-593B-F929-AC258DD9DB3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0F120AA3-ECAA-601D-B52D-F388C151F16E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AE7DF03-36E8-7C6C-F655-F9CE78745CB9}"/>
              </a:ext>
            </a:extLst>
          </p:cNvPr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Categorical Scatterplots: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swarmplots</a:t>
            </a:r>
            <a:endParaRPr lang="en-US" sz="4400" b="1" spc="145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B66ABA-1F31-EAE6-ADD5-D78C5A396FC8}"/>
              </a:ext>
            </a:extLst>
          </p:cNvPr>
          <p:cNvGrpSpPr/>
          <p:nvPr/>
        </p:nvGrpSpPr>
        <p:grpSpPr>
          <a:xfrm>
            <a:off x="1548814" y="2916555"/>
            <a:ext cx="6299785" cy="3856316"/>
            <a:chOff x="2428683" y="1710208"/>
            <a:chExt cx="8719608" cy="3223951"/>
          </a:xfrm>
        </p:grpSpPr>
        <p:sp>
          <p:nvSpPr>
            <p:cNvPr id="15" name="object 4">
              <a:extLst>
                <a:ext uri="{FF2B5EF4-FFF2-40B4-BE49-F238E27FC236}">
                  <a16:creationId xmlns:a16="http://schemas.microsoft.com/office/drawing/2014/main" id="{AF5EA131-EF0E-BDC3-41BD-E432CCFD6826}"/>
                </a:ext>
              </a:extLst>
            </p:cNvPr>
            <p:cNvSpPr/>
            <p:nvPr/>
          </p:nvSpPr>
          <p:spPr>
            <a:xfrm>
              <a:off x="2428683" y="1756225"/>
              <a:ext cx="8387761" cy="313191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wrap="square" lIns="0" tIns="0" rIns="0" bIns="0" rtlCol="0"/>
            <a:lstStyle/>
            <a:p>
              <a:endParaRPr sz="819" dirty="0">
                <a:solidFill>
                  <a:srgbClr val="1CADE4"/>
                </a:solidFill>
              </a:endParaRPr>
            </a:p>
          </p:txBody>
        </p:sp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B68F3517-1651-A0F0-9FDF-0955FFD9FD15}"/>
                </a:ext>
              </a:extLst>
            </p:cNvPr>
            <p:cNvSpPr/>
            <p:nvPr/>
          </p:nvSpPr>
          <p:spPr>
            <a:xfrm>
              <a:off x="2629276" y="1710208"/>
              <a:ext cx="8519015" cy="3223951"/>
            </a:xfrm>
            <a:prstGeom prst="roundRect">
              <a:avLst>
                <a:gd name="adj" fmla="val 5494"/>
              </a:avLst>
            </a:prstGeom>
            <a:solidFill>
              <a:schemeClr val="bg1">
                <a:lumMod val="95000"/>
              </a:schemeClr>
            </a:solidFill>
          </p:spPr>
          <p:txBody>
            <a:bodyPr wrap="square" lIns="0" tIns="0" rIns="0" bIns="0" rtlCol="0"/>
            <a:lstStyle/>
            <a:p>
              <a:pPr>
                <a:lnSpc>
                  <a:spcPct val="150000"/>
                </a:lnSpc>
              </a:pPr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sns.swarmplot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(x="day", y="</a:t>
              </a:r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total_bill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", hue="sex", data=tips);</a:t>
              </a:r>
            </a:p>
            <a:p>
              <a:pPr>
                <a:lnSpc>
                  <a:spcPct val="150000"/>
                </a:lnSpc>
              </a:pPr>
              <a:endPara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782AEB92-3A08-58A0-26F1-307780ACFC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1937668"/>
            <a:ext cx="8959704" cy="581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4587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C9C98C-886F-D202-6C37-89E29B321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24C8AC9-AEA7-0792-A4E8-E8583BC7081A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44C4244-812F-4891-FB72-3B187B9D9D9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1272B40-A887-9D6B-B064-4931EC33559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CAE2F6A-9C3B-C334-CE5F-27C5D0D1714A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599CAE9-1034-25E0-B04B-D242A61D2C9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7D08924-FFC9-D7EC-A580-517B6273F0C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98A938FA-CFF5-92F3-3EEA-E897767A1F5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83B7E31-A83D-EE54-24F7-71F86BE27D3D}"/>
              </a:ext>
            </a:extLst>
          </p:cNvPr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Boxplot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7D130DA-AE94-673E-4B33-ACC2AC235609}"/>
              </a:ext>
            </a:extLst>
          </p:cNvPr>
          <p:cNvGrpSpPr/>
          <p:nvPr/>
        </p:nvGrpSpPr>
        <p:grpSpPr>
          <a:xfrm>
            <a:off x="2217852" y="2498496"/>
            <a:ext cx="5302750" cy="3844290"/>
            <a:chOff x="2428683" y="1710208"/>
            <a:chExt cx="8719608" cy="3223951"/>
          </a:xfrm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5BC944AD-96D6-0EDF-2FDE-7DCB76FC2826}"/>
                </a:ext>
              </a:extLst>
            </p:cNvPr>
            <p:cNvSpPr/>
            <p:nvPr/>
          </p:nvSpPr>
          <p:spPr>
            <a:xfrm>
              <a:off x="2428683" y="1756225"/>
              <a:ext cx="8387761" cy="313191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wrap="square" lIns="0" tIns="0" rIns="0" bIns="0" rtlCol="0"/>
            <a:lstStyle/>
            <a:p>
              <a:endParaRPr sz="819" dirty="0">
                <a:solidFill>
                  <a:srgbClr val="1CADE4"/>
                </a:solidFill>
              </a:endParaRPr>
            </a:p>
          </p:txBody>
        </p:sp>
        <p:sp>
          <p:nvSpPr>
            <p:cNvPr id="13" name="object 5">
              <a:extLst>
                <a:ext uri="{FF2B5EF4-FFF2-40B4-BE49-F238E27FC236}">
                  <a16:creationId xmlns:a16="http://schemas.microsoft.com/office/drawing/2014/main" id="{A3B88EE6-13A2-F5D1-B119-17A8B3E6FD35}"/>
                </a:ext>
              </a:extLst>
            </p:cNvPr>
            <p:cNvSpPr/>
            <p:nvPr/>
          </p:nvSpPr>
          <p:spPr>
            <a:xfrm>
              <a:off x="2629276" y="1710208"/>
              <a:ext cx="8519015" cy="3223951"/>
            </a:xfrm>
            <a:prstGeom prst="roundRect">
              <a:avLst>
                <a:gd name="adj" fmla="val 5494"/>
              </a:avLst>
            </a:prstGeom>
            <a:solidFill>
              <a:schemeClr val="bg1">
                <a:lumMod val="95000"/>
              </a:schemeClr>
            </a:solidFill>
          </p:spPr>
          <p:txBody>
            <a:bodyPr wrap="square" lIns="0" tIns="0" rIns="0" bIns="0" rtlCol="0"/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tips["weekend"] = tips["day"].</a:t>
              </a:r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isin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(["Sat", "Sun"])</a:t>
              </a:r>
            </a:p>
            <a:p>
              <a:pPr>
                <a:lnSpc>
                  <a:spcPct val="150000"/>
                </a:lnSpc>
              </a:pPr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sns.boxplot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(x="day", y="</a:t>
              </a:r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total_bill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", hue="weekend", data=tips, dodge=False);</a:t>
              </a:r>
            </a:p>
            <a:p>
              <a:pPr>
                <a:lnSpc>
                  <a:spcPct val="150000"/>
                </a:lnSpc>
              </a:pPr>
              <a:endPara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3C487DEB-1EDA-226A-ECAD-FA2124C2C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2157879"/>
            <a:ext cx="8144880" cy="54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076491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EFEC28-EEF5-6516-FB92-88073A945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B0F4E7F-A4EC-36E5-0B7E-605F5D3FE975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85B985E-1034-47D6-723C-72BC53E4DBA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DD3335A-420C-455F-EF7C-6E14BE718B6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221D618-D695-D3B8-60A1-931A6613F76E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2967FBE-F6CD-A884-4BB6-C1613A2A31C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E2947A7-24DC-3F92-61A6-BAE9188D3C1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FDB46288-1810-9508-570B-A1EEF97F1565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BB766A5-7133-BD81-38F4-8C6CE046B9AC}"/>
              </a:ext>
            </a:extLst>
          </p:cNvPr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Heatmap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BA29669-0858-C66F-0B15-48F91A927143}"/>
              </a:ext>
            </a:extLst>
          </p:cNvPr>
          <p:cNvGrpSpPr/>
          <p:nvPr/>
        </p:nvGrpSpPr>
        <p:grpSpPr>
          <a:xfrm>
            <a:off x="2514600" y="2664943"/>
            <a:ext cx="5302750" cy="3844290"/>
            <a:chOff x="2428683" y="1710208"/>
            <a:chExt cx="8719608" cy="3223951"/>
          </a:xfrm>
        </p:grpSpPr>
        <p:sp>
          <p:nvSpPr>
            <p:cNvPr id="15" name="object 4">
              <a:extLst>
                <a:ext uri="{FF2B5EF4-FFF2-40B4-BE49-F238E27FC236}">
                  <a16:creationId xmlns:a16="http://schemas.microsoft.com/office/drawing/2014/main" id="{7DC4A1C4-E9E9-8B93-AFF0-BC635E110C1C}"/>
                </a:ext>
              </a:extLst>
            </p:cNvPr>
            <p:cNvSpPr/>
            <p:nvPr/>
          </p:nvSpPr>
          <p:spPr>
            <a:xfrm>
              <a:off x="2428683" y="1756225"/>
              <a:ext cx="8387761" cy="313191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wrap="square" lIns="0" tIns="0" rIns="0" bIns="0" rtlCol="0"/>
            <a:lstStyle/>
            <a:p>
              <a:endParaRPr sz="819" dirty="0">
                <a:solidFill>
                  <a:srgbClr val="1CADE4"/>
                </a:solidFill>
              </a:endParaRPr>
            </a:p>
          </p:txBody>
        </p:sp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70AB8F96-8E43-0304-C047-14E2C758C7CB}"/>
                </a:ext>
              </a:extLst>
            </p:cNvPr>
            <p:cNvSpPr/>
            <p:nvPr/>
          </p:nvSpPr>
          <p:spPr>
            <a:xfrm>
              <a:off x="2629276" y="1710208"/>
              <a:ext cx="8519015" cy="3223951"/>
            </a:xfrm>
            <a:prstGeom prst="roundRect">
              <a:avLst>
                <a:gd name="adj" fmla="val 5494"/>
              </a:avLst>
            </a:prstGeom>
            <a:solidFill>
              <a:schemeClr val="bg1">
                <a:lumMod val="95000"/>
              </a:schemeClr>
            </a:solidFill>
          </p:spPr>
          <p:txBody>
            <a:bodyPr wrap="square" lIns="0" tIns="0" rIns="0" bIns="0" rtlCol="0"/>
            <a:lstStyle/>
            <a:p>
              <a:pPr>
                <a:lnSpc>
                  <a:spcPct val="150000"/>
                </a:lnSpc>
              </a:pPr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sns.heatmap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([</a:t>
              </a:r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df.y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df.x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], </a:t>
              </a:r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annot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=True, </a:t>
              </a:r>
              <a:r>
                <a:rPr lang="en-US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fmt</a:t>
              </a:r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="d")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BC217889-3FF8-9CDA-0E6E-8B48BB790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3308" y="1772300"/>
            <a:ext cx="7840263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247734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209AA-B508-A767-55DB-BAEFAC43A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>
            <a:extLst>
              <a:ext uri="{FF2B5EF4-FFF2-40B4-BE49-F238E27FC236}">
                <a16:creationId xmlns:a16="http://schemas.microsoft.com/office/drawing/2014/main" id="{53C9D26F-7A93-5FAB-3D58-51014F14D22B}"/>
              </a:ext>
            </a:extLst>
          </p:cNvPr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142CB3F-8353-39DB-EF04-D615AB513760}"/>
                </a:ext>
              </a:extLst>
            </p:cNvPr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BE936599-EDCD-59EF-2C1A-6A38FF86348E}"/>
                </a:ext>
              </a:extLst>
            </p:cNvPr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9EC0DD0C-CD92-1F25-04D8-E82B5CBDA271}"/>
              </a:ext>
            </a:extLst>
          </p:cNvPr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F199BD6-9DF7-672B-094B-3C34B752FAC3}"/>
              </a:ext>
            </a:extLst>
          </p:cNvPr>
          <p:cNvSpPr txBox="1"/>
          <p:nvPr/>
        </p:nvSpPr>
        <p:spPr>
          <a:xfrm>
            <a:off x="1311647" y="4214179"/>
            <a:ext cx="4967583" cy="775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42"/>
              </a:lnSpc>
              <a:spcBef>
                <a:spcPct val="0"/>
              </a:spcBef>
            </a:pPr>
            <a:r>
              <a:rPr lang="en-US" sz="5035" b="1" u="none" strike="noStrike" spc="181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Feature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5400671-2096-A390-3F23-EEA9B0ABBF28}"/>
              </a:ext>
            </a:extLst>
          </p:cNvPr>
          <p:cNvSpPr txBox="1"/>
          <p:nvPr/>
        </p:nvSpPr>
        <p:spPr>
          <a:xfrm>
            <a:off x="1259652" y="5143500"/>
            <a:ext cx="6131748" cy="95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792" b="1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Engineering</a:t>
            </a:r>
            <a:endParaRPr lang="en-US" sz="6792" b="1" u="none" strike="noStrike" spc="224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00858483-CA0F-FF12-0D36-EE9FB1CEEDB1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C7866FD5-2B1D-90F7-294B-978A94F3AB74}"/>
              </a:ext>
            </a:extLst>
          </p:cNvPr>
          <p:cNvSpPr txBox="1"/>
          <p:nvPr/>
        </p:nvSpPr>
        <p:spPr>
          <a:xfrm>
            <a:off x="14721159" y="4804810"/>
            <a:ext cx="2237609" cy="730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10000" spc="9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79232607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6C1C6-FBAF-2FA8-7242-1DCF4189A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14A162C-2F58-96AC-6EF1-8D016EA073B5}"/>
              </a:ext>
            </a:extLst>
          </p:cNvPr>
          <p:cNvGrpSpPr/>
          <p:nvPr/>
        </p:nvGrpSpPr>
        <p:grpSpPr>
          <a:xfrm>
            <a:off x="17016492" y="-180826"/>
            <a:ext cx="1271508" cy="10467826"/>
            <a:chOff x="0" y="-47625"/>
            <a:chExt cx="334883" cy="275695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D91D04A-00A4-AC39-FEB2-D340094B160B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2B835D0-CD24-AEE8-B904-5FD79F581629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C511D424-58D9-EB4D-6188-819BB7BEB34C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EF685F4-D093-49F4-354D-D047F7929B4F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808F258-DF75-7818-8BEB-AE76626E8719}"/>
              </a:ext>
            </a:extLst>
          </p:cNvPr>
          <p:cNvSpPr txBox="1"/>
          <p:nvPr/>
        </p:nvSpPr>
        <p:spPr>
          <a:xfrm>
            <a:off x="4152286" y="1328699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Alur Fitur Engineering?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C4B51E-507C-CF57-45D4-00BC7B25C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908586"/>
            <a:ext cx="15833621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069018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D70C40-1FE2-6EE7-A7F9-B6F73929D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BC929F4-308A-AFA1-E1AF-3D1D6DAB7D8C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AE5AA7C-B686-5B3A-285D-98C4CFB0A7B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8503A56-5578-F774-0ADA-724739E3145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D0B4028-D202-0244-77F5-0174789F5FEB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C0DB9E0-2260-BEE4-B0DA-C3CF34EDB76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67D357A-BF4F-2C82-110F-7715CB265A8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9B29933-A0C7-2B56-4298-605ADACE48D7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394FC24-B735-5171-3C41-EC96C32552DA}"/>
              </a:ext>
            </a:extLst>
          </p:cNvPr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ctr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1. Handle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Duplikat</a:t>
            </a:r>
            <a:endParaRPr lang="en-US" sz="4400" b="1" spc="145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F31DF1-15E3-6D9D-E388-0BD857E9815D}"/>
              </a:ext>
            </a:extLst>
          </p:cNvPr>
          <p:cNvSpPr txBox="1"/>
          <p:nvPr/>
        </p:nvSpPr>
        <p:spPr>
          <a:xfrm>
            <a:off x="846969" y="1805240"/>
            <a:ext cx="1576463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Machine Learning tidak </a:t>
            </a:r>
            <a:r>
              <a:rPr lang="en-US" sz="32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bisa</a:t>
            </a:r>
            <a:r>
              <a:rPr lang="en-US" sz="32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32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memproses</a:t>
            </a:r>
            <a:r>
              <a:rPr lang="en-US" sz="32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data yang </a:t>
            </a:r>
            <a:r>
              <a:rPr lang="en-US" sz="32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duplikat</a:t>
            </a:r>
            <a:r>
              <a:rPr lang="en-US" sz="32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:</a:t>
            </a:r>
          </a:p>
          <a:p>
            <a:endParaRPr lang="en-US" sz="3200" dirty="0">
              <a:latin typeface="Montserrat" panose="00000500000000000000" pitchFamily="2" charset="0"/>
              <a:sym typeface="Trebuchet MS"/>
            </a:endParaRPr>
          </a:p>
          <a:p>
            <a:endParaRPr lang="en-US" sz="3200" dirty="0">
              <a:latin typeface="Montserrat" panose="00000500000000000000" pitchFamily="2" charset="0"/>
              <a:sym typeface="Trebuchet MS"/>
            </a:endParaRPr>
          </a:p>
          <a:p>
            <a:endParaRPr lang="en-US" sz="3200" dirty="0">
              <a:latin typeface="Montserrat" panose="00000500000000000000" pitchFamily="2" charset="0"/>
              <a:sym typeface="Trebuchet MS"/>
            </a:endParaRPr>
          </a:p>
          <a:p>
            <a:endParaRPr lang="en-US" sz="3200" dirty="0">
              <a:latin typeface="Montserrat" panose="00000500000000000000" pitchFamily="2" charset="0"/>
              <a:sym typeface="Trebuchet MS"/>
            </a:endParaRPr>
          </a:p>
          <a:p>
            <a:endParaRPr lang="en-US" sz="3200" dirty="0">
              <a:latin typeface="Montserrat" panose="00000500000000000000" pitchFamily="2" charset="0"/>
              <a:sym typeface="Trebuchet MS"/>
            </a:endParaRPr>
          </a:p>
          <a:p>
            <a:endParaRPr lang="en-US" sz="3200" dirty="0">
              <a:latin typeface="Montserrat" panose="00000500000000000000" pitchFamily="2" charset="0"/>
              <a:sym typeface="Trebuchet MS"/>
            </a:endParaRPr>
          </a:p>
          <a:p>
            <a:r>
              <a:rPr lang="en-US" sz="32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Maka </a:t>
            </a:r>
            <a:r>
              <a:rPr lang="en-US" sz="32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harus</a:t>
            </a:r>
            <a:r>
              <a:rPr lang="en-US" sz="32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32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dipilih</a:t>
            </a:r>
            <a:r>
              <a:rPr lang="en-US" sz="32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salah </a:t>
            </a:r>
            <a:r>
              <a:rPr lang="en-US" sz="32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satunya</a:t>
            </a:r>
            <a:r>
              <a:rPr lang="en-US" sz="32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32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saja</a:t>
            </a:r>
            <a:r>
              <a:rPr lang="en-US" sz="32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-&gt; Handling </a:t>
            </a:r>
            <a:r>
              <a:rPr lang="en-US" sz="32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Duplikat</a:t>
            </a:r>
            <a:endParaRPr lang="en-ID" sz="3200" dirty="0">
              <a:latin typeface="Montserrat" panose="00000500000000000000" pitchFamily="2" charset="0"/>
            </a:endParaRPr>
          </a:p>
          <a:p>
            <a:endParaRPr lang="en-ID" sz="3200" dirty="0">
              <a:latin typeface="Montserrat" panose="00000500000000000000" pitchFamily="2" charset="0"/>
            </a:endParaRPr>
          </a:p>
        </p:txBody>
      </p:sp>
      <p:pic>
        <p:nvPicPr>
          <p:cNvPr id="10" name="Gambar 3">
            <a:extLst>
              <a:ext uri="{FF2B5EF4-FFF2-40B4-BE49-F238E27FC236}">
                <a16:creationId xmlns:a16="http://schemas.microsoft.com/office/drawing/2014/main" id="{3078F1DC-6B2A-A96D-32A7-0F0EAD04B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969" y="3033714"/>
            <a:ext cx="16017695" cy="131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902384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2DBBDB-37FE-77E4-586A-3DF3A2F8D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903947C-1BB5-1F42-A32B-155CF2CBC4CA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8243779-E79A-FA78-0821-4EE7DEDA19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92C04A0-9B7C-11CA-F8C5-B0410973795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0C0DB2B-3417-EE25-5BAD-9D6FBEE0845A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60D9F1E-064F-6A89-A565-6898880C859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21FE076-0264-4BE8-7728-C91E8A36D3A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9361515C-24CA-C79F-5B8A-2DE3834C526C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E1D94AA-017F-00C1-B85F-27F6E22525E9}"/>
              </a:ext>
            </a:extLst>
          </p:cNvPr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ctr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2.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Teori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Outlier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A7E91B7-6161-1BAF-639F-724121F5D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16" y="1795206"/>
            <a:ext cx="17022613" cy="593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495730"/>
      </p:ext>
    </p:extLst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805583-3D80-7B69-9F3E-9199B8B68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2B0B814-CD30-3A58-F076-2E6F7F72E49F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D4EFB34-44C1-2D62-7AAF-8ADE6C2390D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48D3157-0E24-5E28-5CBE-544BCB4863A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C81E7AE-F5B2-3ED6-2885-ADC518E5A3C7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9DDEAC1-DAEE-6F5E-0FCF-6C92F4E3CC0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3BE807F-5B1C-E7BD-6596-0DA12CA7832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3E264D59-B87E-8EAA-AA5D-E459CD74DEA6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B6728CB-E6EC-C465-0292-6DD0A41173EB}"/>
              </a:ext>
            </a:extLst>
          </p:cNvPr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Teori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Outlier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4BE907-7E34-86C1-1588-7F00BE00EF94}"/>
              </a:ext>
            </a:extLst>
          </p:cNvPr>
          <p:cNvSpPr txBox="1"/>
          <p:nvPr/>
        </p:nvSpPr>
        <p:spPr>
          <a:xfrm>
            <a:off x="1143000" y="1804256"/>
            <a:ext cx="157646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Outlier</a:t>
            </a:r>
            <a:r>
              <a:rPr lang="en-US" sz="2800" dirty="0">
                <a:latin typeface="Trebuchet MS"/>
                <a:ea typeface="Trebuchet MS"/>
                <a:cs typeface="Trebuchet MS"/>
                <a:sym typeface="Trebuchet MS"/>
              </a:rPr>
              <a:t> : Nilai </a:t>
            </a:r>
            <a:r>
              <a:rPr lang="en-US" sz="2800" dirty="0" err="1">
                <a:latin typeface="Trebuchet MS"/>
                <a:ea typeface="Trebuchet MS"/>
                <a:cs typeface="Trebuchet MS"/>
                <a:sym typeface="Trebuchet MS"/>
              </a:rPr>
              <a:t>pencilan</a:t>
            </a:r>
            <a:r>
              <a:rPr lang="en-US" sz="2800" dirty="0">
                <a:latin typeface="Trebuchet MS"/>
                <a:ea typeface="Trebuchet MS"/>
                <a:cs typeface="Trebuchet MS"/>
                <a:sym typeface="Trebuchet MS"/>
              </a:rPr>
              <a:t> (Nilai yang tidak </a:t>
            </a:r>
            <a:r>
              <a:rPr lang="en-US" sz="2800" dirty="0" err="1">
                <a:latin typeface="Trebuchet MS"/>
                <a:ea typeface="Trebuchet MS"/>
                <a:cs typeface="Trebuchet MS"/>
                <a:sym typeface="Trebuchet MS"/>
              </a:rPr>
              <a:t>wajar</a:t>
            </a:r>
            <a:r>
              <a:rPr lang="en-US" sz="2800" dirty="0">
                <a:latin typeface="Trebuchet MS"/>
                <a:ea typeface="Trebuchet MS"/>
                <a:cs typeface="Trebuchet MS"/>
                <a:sym typeface="Trebuchet MS"/>
              </a:rPr>
              <a:t> muncul diluar </a:t>
            </a:r>
            <a:r>
              <a:rPr lang="en-US" sz="2800" dirty="0" err="1">
                <a:latin typeface="Trebuchet MS"/>
                <a:ea typeface="Trebuchet MS"/>
                <a:cs typeface="Trebuchet MS"/>
                <a:sym typeface="Trebuchet MS"/>
              </a:rPr>
              <a:t>rentang</a:t>
            </a:r>
            <a:r>
              <a:rPr lang="en-US" sz="2800" dirty="0">
                <a:latin typeface="Trebuchet MS"/>
                <a:ea typeface="Trebuchet MS"/>
                <a:cs typeface="Trebuchet MS"/>
                <a:sym typeface="Trebuchet MS"/>
              </a:rPr>
              <a:t> ‘</a:t>
            </a:r>
            <a:r>
              <a:rPr lang="en-US" sz="2800" dirty="0" err="1">
                <a:latin typeface="Trebuchet MS"/>
                <a:ea typeface="Trebuchet MS"/>
                <a:cs typeface="Trebuchet MS"/>
                <a:sym typeface="Trebuchet MS"/>
              </a:rPr>
              <a:t>keumuman</a:t>
            </a:r>
            <a:r>
              <a:rPr lang="en-US" sz="2800" dirty="0">
                <a:latin typeface="Trebuchet MS"/>
                <a:ea typeface="Trebuchet MS"/>
                <a:cs typeface="Trebuchet MS"/>
                <a:sym typeface="Trebuchet MS"/>
              </a:rPr>
              <a:t>’ </a:t>
            </a:r>
            <a:r>
              <a:rPr lang="en-US" sz="2800" dirty="0" err="1">
                <a:latin typeface="Trebuchet MS"/>
                <a:ea typeface="Trebuchet MS"/>
                <a:cs typeface="Trebuchet MS"/>
                <a:sym typeface="Trebuchet MS"/>
              </a:rPr>
              <a:t>distribusi</a:t>
            </a:r>
            <a:r>
              <a:rPr lang="en-US" sz="2800" dirty="0"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latin typeface="Trebuchet MS"/>
                <a:ea typeface="Trebuchet MS"/>
                <a:cs typeface="Trebuchet MS"/>
                <a:sym typeface="Trebuchet MS"/>
              </a:rPr>
              <a:t>tertentu</a:t>
            </a:r>
            <a:r>
              <a:rPr lang="en-US" sz="2800" dirty="0"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 lang="en-ID" sz="2800" dirty="0"/>
          </a:p>
        </p:txBody>
      </p:sp>
      <p:pic>
        <p:nvPicPr>
          <p:cNvPr id="19" name="Gambar 3">
            <a:extLst>
              <a:ext uri="{FF2B5EF4-FFF2-40B4-BE49-F238E27FC236}">
                <a16:creationId xmlns:a16="http://schemas.microsoft.com/office/drawing/2014/main" id="{009D434B-B90B-0A19-A30F-6B163AD7F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121035"/>
            <a:ext cx="5866734" cy="5367674"/>
          </a:xfrm>
          <a:prstGeom prst="rect">
            <a:avLst/>
          </a:prstGeom>
        </p:spPr>
      </p:pic>
      <p:sp>
        <p:nvSpPr>
          <p:cNvPr id="20" name="Kotak Teks 11">
            <a:extLst>
              <a:ext uri="{FF2B5EF4-FFF2-40B4-BE49-F238E27FC236}">
                <a16:creationId xmlns:a16="http://schemas.microsoft.com/office/drawing/2014/main" id="{E8B20AF3-9C1C-36BA-C5E7-1F5E3BA6BA68}"/>
              </a:ext>
            </a:extLst>
          </p:cNvPr>
          <p:cNvSpPr txBox="1"/>
          <p:nvPr/>
        </p:nvSpPr>
        <p:spPr>
          <a:xfrm>
            <a:off x="8039768" y="4218843"/>
            <a:ext cx="6477000" cy="2604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Jika </a:t>
            </a:r>
            <a:r>
              <a:rPr lang="en-US" sz="2800" dirty="0" err="1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titik</a:t>
            </a:r>
            <a:r>
              <a:rPr lang="en-US" sz="2800" dirty="0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biru</a:t>
            </a:r>
            <a:r>
              <a:rPr lang="en-US" sz="2800" dirty="0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berada</a:t>
            </a:r>
            <a:r>
              <a:rPr lang="en-US" sz="2800" dirty="0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pada garis </a:t>
            </a:r>
            <a:r>
              <a:rPr lang="en-US" sz="2800" dirty="0" err="1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merah</a:t>
            </a:r>
            <a:r>
              <a:rPr lang="en-US" sz="2800" dirty="0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maka</a:t>
            </a:r>
            <a:r>
              <a:rPr lang="en-US" sz="2800" dirty="0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distribusinya</a:t>
            </a:r>
            <a:r>
              <a:rPr lang="en-US" sz="2800" dirty="0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normal, </a:t>
            </a:r>
            <a:r>
              <a:rPr lang="en-US" sz="2800" dirty="0" err="1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jika</a:t>
            </a:r>
            <a:r>
              <a:rPr lang="en-US" sz="2800" dirty="0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tidak</a:t>
            </a:r>
            <a:r>
              <a:rPr lang="en-US" sz="2800" dirty="0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maka</a:t>
            </a:r>
            <a:r>
              <a:rPr lang="en-US" sz="2800" dirty="0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pengaruh</a:t>
            </a:r>
            <a:r>
              <a:rPr lang="en-US" sz="2800" dirty="0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dari</a:t>
            </a:r>
            <a:r>
              <a:rPr lang="en-US" sz="2800" dirty="0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outlier.</a:t>
            </a:r>
            <a:endParaRPr lang="en-ID" sz="2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960157"/>
      </p:ext>
    </p:extLst>
  </p:cSld>
  <p:clrMapOvr>
    <a:masterClrMapping/>
  </p:clrMapOvr>
  <p:transition spd="slow"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20260F-F614-6F0E-7AB4-B7F53FFE5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458863A-96C2-0CA7-CC02-91D6D90D00DD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D720127-66C0-2B38-DA46-3227C9B887E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29D1352-E388-BA0D-7EC7-74CFCC54A0F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94B7FC5-212B-76DE-87B2-5862060911BD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E63213F-8604-0232-49C9-DE2BE5D40F6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2CE8BF6-A322-AA6A-7B56-D651161A7F8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6AF34D43-97FA-27E9-0336-D1B4F3D57F66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30E04C0-C1E4-60A1-FDFA-91BFA406B7CD}"/>
              </a:ext>
            </a:extLst>
          </p:cNvPr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Handling Outlier</a:t>
            </a:r>
          </a:p>
        </p:txBody>
      </p:sp>
      <p:sp>
        <p:nvSpPr>
          <p:cNvPr id="10" name="Google Shape;131;g1400b17b2d9_2_26">
            <a:extLst>
              <a:ext uri="{FF2B5EF4-FFF2-40B4-BE49-F238E27FC236}">
                <a16:creationId xmlns:a16="http://schemas.microsoft.com/office/drawing/2014/main" id="{D1EBF0E2-F357-F2FD-4E6F-176AB09229FB}"/>
              </a:ext>
            </a:extLst>
          </p:cNvPr>
          <p:cNvSpPr txBox="1"/>
          <p:nvPr/>
        </p:nvSpPr>
        <p:spPr>
          <a:xfrm>
            <a:off x="1277237" y="2107091"/>
            <a:ext cx="5684563" cy="768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62626"/>
                </a:solidFill>
                <a:latin typeface="Montserrat" panose="00000500000000000000" pitchFamily="2" charset="0"/>
                <a:ea typeface="Georgia"/>
                <a:cs typeface="Georgia"/>
                <a:sym typeface="Georgia"/>
              </a:rPr>
              <a:t>IQR : Inter Quartile Range</a:t>
            </a:r>
            <a:endParaRPr sz="3200" dirty="0">
              <a:latin typeface="Montserrat" panose="00000500000000000000" pitchFamily="2" charset="0"/>
              <a:ea typeface="Georgia"/>
              <a:cs typeface="Georgia"/>
              <a:sym typeface="Georgia"/>
            </a:endParaRPr>
          </a:p>
        </p:txBody>
      </p:sp>
      <p:sp>
        <p:nvSpPr>
          <p:cNvPr id="11" name="Google Shape;133;g1400b17b2d9_2_26">
            <a:extLst>
              <a:ext uri="{FF2B5EF4-FFF2-40B4-BE49-F238E27FC236}">
                <a16:creationId xmlns:a16="http://schemas.microsoft.com/office/drawing/2014/main" id="{F56ED2C4-CD71-5ECA-40C9-709B1BFD11D0}"/>
              </a:ext>
            </a:extLst>
          </p:cNvPr>
          <p:cNvSpPr txBox="1"/>
          <p:nvPr/>
        </p:nvSpPr>
        <p:spPr>
          <a:xfrm>
            <a:off x="10686163" y="3774036"/>
            <a:ext cx="6324600" cy="554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397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anose="00000500000000000000" pitchFamily="2" charset="0"/>
                <a:ea typeface="Georgia"/>
                <a:cs typeface="Georgia"/>
                <a:sym typeface="Georgia"/>
              </a:rPr>
              <a:t>2</a:t>
            </a:r>
            <a:endParaRPr sz="2400" dirty="0">
              <a:latin typeface="Montserrat" panose="00000500000000000000" pitchFamily="2" charset="0"/>
              <a:ea typeface="Georgia"/>
              <a:cs typeface="Georgia"/>
              <a:sym typeface="Georgia"/>
            </a:endParaRPr>
          </a:p>
          <a:p>
            <a:pPr marL="12700" marR="0" lvl="0" indent="0" algn="just" rtl="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262626"/>
                </a:solidFill>
                <a:latin typeface="Montserrat" panose="00000500000000000000" pitchFamily="2" charset="0"/>
                <a:ea typeface="Georgia"/>
                <a:cs typeface="Georgia"/>
                <a:sym typeface="Georgia"/>
              </a:rPr>
              <a:t>Perspektif</a:t>
            </a:r>
            <a:r>
              <a:rPr lang="en-US" sz="2400" b="1" dirty="0">
                <a:solidFill>
                  <a:srgbClr val="262626"/>
                </a:solidFill>
                <a:latin typeface="Montserrat" panose="00000500000000000000" pitchFamily="2" charset="0"/>
                <a:ea typeface="Georgia"/>
                <a:cs typeface="Georgia"/>
                <a:sym typeface="Georgia"/>
              </a:rPr>
              <a:t> </a:t>
            </a:r>
            <a:r>
              <a:rPr lang="en-US" sz="2400" b="1" dirty="0" err="1">
                <a:solidFill>
                  <a:srgbClr val="262626"/>
                </a:solidFill>
                <a:latin typeface="Montserrat" panose="00000500000000000000" pitchFamily="2" charset="0"/>
                <a:ea typeface="Georgia"/>
                <a:cs typeface="Georgia"/>
                <a:sym typeface="Georgia"/>
              </a:rPr>
              <a:t>Bisnis</a:t>
            </a:r>
            <a:endParaRPr sz="2400" dirty="0">
              <a:latin typeface="Montserrat" panose="00000500000000000000" pitchFamily="2" charset="0"/>
              <a:ea typeface="Georgia"/>
              <a:cs typeface="Georgia"/>
              <a:sym typeface="Georgia"/>
            </a:endParaRPr>
          </a:p>
          <a:p>
            <a:pPr marL="12700" marR="0" lvl="0" indent="0" algn="just" rtl="0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Bergantung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pada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kasus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bisnis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dari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dataset yang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dimiliki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.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Contoh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:</a:t>
            </a:r>
          </a:p>
          <a:p>
            <a:pPr marL="12700" marR="0" lvl="0" indent="0" algn="just" rtl="0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1.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Usia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penumpang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kapal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laut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minimal 3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tahun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sampai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dengan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umur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berapapun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,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maka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diluar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rentang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itu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dianggap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outlier dan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diganti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dengan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masing-masing batas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nilai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aturan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bisnis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yang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berlaku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.</a:t>
            </a:r>
            <a:endParaRPr sz="2400" dirty="0">
              <a:latin typeface="Montserrat" panose="00000500000000000000" pitchFamily="2" charset="0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" name="Gambar 2">
            <a:extLst>
              <a:ext uri="{FF2B5EF4-FFF2-40B4-BE49-F238E27FC236}">
                <a16:creationId xmlns:a16="http://schemas.microsoft.com/office/drawing/2014/main" id="{A13FB810-1384-70E8-F8BA-E0A7006DA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237" y="3203486"/>
            <a:ext cx="8570042" cy="3768813"/>
          </a:xfrm>
          <a:prstGeom prst="rect">
            <a:avLst/>
          </a:prstGeom>
        </p:spPr>
      </p:pic>
      <p:sp>
        <p:nvSpPr>
          <p:cNvPr id="14" name="Google Shape;132;g1400b17b2d9_2_26">
            <a:extLst>
              <a:ext uri="{FF2B5EF4-FFF2-40B4-BE49-F238E27FC236}">
                <a16:creationId xmlns:a16="http://schemas.microsoft.com/office/drawing/2014/main" id="{2DF0CF6D-F078-606F-113B-B9B208EAF839}"/>
              </a:ext>
            </a:extLst>
          </p:cNvPr>
          <p:cNvSpPr/>
          <p:nvPr/>
        </p:nvSpPr>
        <p:spPr>
          <a:xfrm>
            <a:off x="366403" y="2184256"/>
            <a:ext cx="770026" cy="770026"/>
          </a:xfrm>
          <a:custGeom>
            <a:avLst/>
            <a:gdLst/>
            <a:ahLst/>
            <a:cxnLst/>
            <a:rect l="l" t="t" r="r" b="b"/>
            <a:pathLst>
              <a:path w="817245" h="817245" extrusionOk="0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F08B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910419-B473-D1B5-F01C-0051AAE92D8B}"/>
              </a:ext>
            </a:extLst>
          </p:cNvPr>
          <p:cNvSpPr txBox="1"/>
          <p:nvPr/>
        </p:nvSpPr>
        <p:spPr>
          <a:xfrm>
            <a:off x="533400" y="2324100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Montserrat" panose="00000500000000000000" pitchFamily="2" charset="0"/>
              </a:rPr>
              <a:t>1.</a:t>
            </a:r>
          </a:p>
        </p:txBody>
      </p:sp>
      <p:sp>
        <p:nvSpPr>
          <p:cNvPr id="21" name="Google Shape;132;g1400b17b2d9_2_26">
            <a:extLst>
              <a:ext uri="{FF2B5EF4-FFF2-40B4-BE49-F238E27FC236}">
                <a16:creationId xmlns:a16="http://schemas.microsoft.com/office/drawing/2014/main" id="{4E10BFCF-94F8-B9AB-33B0-31FA6AA101E7}"/>
              </a:ext>
            </a:extLst>
          </p:cNvPr>
          <p:cNvSpPr/>
          <p:nvPr/>
        </p:nvSpPr>
        <p:spPr>
          <a:xfrm>
            <a:off x="10738341" y="3838309"/>
            <a:ext cx="770026" cy="770026"/>
          </a:xfrm>
          <a:custGeom>
            <a:avLst/>
            <a:gdLst/>
            <a:ahLst/>
            <a:cxnLst/>
            <a:rect l="l" t="t" r="r" b="b"/>
            <a:pathLst>
              <a:path w="817245" h="817245" extrusionOk="0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F08B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9A0951-4EF2-0892-9FBD-2C059B873021}"/>
              </a:ext>
            </a:extLst>
          </p:cNvPr>
          <p:cNvSpPr txBox="1"/>
          <p:nvPr/>
        </p:nvSpPr>
        <p:spPr>
          <a:xfrm>
            <a:off x="10905338" y="3978153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Montserrat" panose="00000500000000000000" pitchFamily="2" charset="0"/>
              </a:rPr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956058954"/>
      </p:ext>
    </p:extLst>
  </p:cSld>
  <p:clrMapOvr>
    <a:masterClrMapping/>
  </p:clrMapOvr>
  <p:transition spd="slow"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22964B-479D-4664-64CA-679192E35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5EC921F-C539-1C23-54C3-AB5476400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1344" y="5413598"/>
            <a:ext cx="8898508" cy="3286103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494C1C14-2A92-0FA7-540A-FD0A54DE43CD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DAAE902-4791-6F9E-6F1E-75CA94CAD4A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5A5D5D7-7D85-B03C-2D5F-C489BDAB482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6AF19F9-6DFA-A8B6-B491-5EE219BD5B3B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0F9FD7E-149D-7543-F0B4-1063A397E0C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B2FEE36-AFDB-6D78-578C-0F6580B2688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9A84DCB8-8B0A-7530-D144-BAFD35A9A9F9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1B4AB0F-70F2-39F7-0A28-042215990FBB}"/>
              </a:ext>
            </a:extLst>
          </p:cNvPr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Handling Outlier</a:t>
            </a:r>
          </a:p>
        </p:txBody>
      </p:sp>
      <p:sp>
        <p:nvSpPr>
          <p:cNvPr id="10" name="Google Shape;131;g1400b17b2d9_2_26">
            <a:extLst>
              <a:ext uri="{FF2B5EF4-FFF2-40B4-BE49-F238E27FC236}">
                <a16:creationId xmlns:a16="http://schemas.microsoft.com/office/drawing/2014/main" id="{5294A6A2-3F79-68A0-ECCE-71CB0B54A7B0}"/>
              </a:ext>
            </a:extLst>
          </p:cNvPr>
          <p:cNvSpPr txBox="1"/>
          <p:nvPr/>
        </p:nvSpPr>
        <p:spPr>
          <a:xfrm>
            <a:off x="1277237" y="2107091"/>
            <a:ext cx="5684563" cy="768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62626"/>
                </a:solidFill>
                <a:latin typeface="Montserrat" panose="00000500000000000000" pitchFamily="2" charset="0"/>
                <a:ea typeface="Georgia"/>
                <a:cs typeface="Georgia"/>
                <a:sym typeface="Georgia"/>
              </a:rPr>
              <a:t>IQR : Inter Quartile Range</a:t>
            </a:r>
            <a:endParaRPr sz="3200" dirty="0">
              <a:latin typeface="Montserrat" panose="00000500000000000000" pitchFamily="2" charset="0"/>
              <a:ea typeface="Georgia"/>
              <a:cs typeface="Georgia"/>
              <a:sym typeface="Georgia"/>
            </a:endParaRPr>
          </a:p>
        </p:txBody>
      </p:sp>
      <p:pic>
        <p:nvPicPr>
          <p:cNvPr id="13" name="Gambar 2">
            <a:extLst>
              <a:ext uri="{FF2B5EF4-FFF2-40B4-BE49-F238E27FC236}">
                <a16:creationId xmlns:a16="http://schemas.microsoft.com/office/drawing/2014/main" id="{993C3472-05DA-2B25-CBC3-02F463CCC9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833" y="3045887"/>
            <a:ext cx="8288198" cy="3644867"/>
          </a:xfrm>
          <a:prstGeom prst="rect">
            <a:avLst/>
          </a:prstGeom>
        </p:spPr>
      </p:pic>
      <p:sp>
        <p:nvSpPr>
          <p:cNvPr id="14" name="Google Shape;132;g1400b17b2d9_2_26">
            <a:extLst>
              <a:ext uri="{FF2B5EF4-FFF2-40B4-BE49-F238E27FC236}">
                <a16:creationId xmlns:a16="http://schemas.microsoft.com/office/drawing/2014/main" id="{38A35664-6DE0-ADFC-71C3-03875001F4DA}"/>
              </a:ext>
            </a:extLst>
          </p:cNvPr>
          <p:cNvSpPr/>
          <p:nvPr/>
        </p:nvSpPr>
        <p:spPr>
          <a:xfrm>
            <a:off x="366403" y="2184256"/>
            <a:ext cx="770026" cy="770026"/>
          </a:xfrm>
          <a:custGeom>
            <a:avLst/>
            <a:gdLst/>
            <a:ahLst/>
            <a:cxnLst/>
            <a:rect l="l" t="t" r="r" b="b"/>
            <a:pathLst>
              <a:path w="817245" h="817245" extrusionOk="0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F08B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93DE76-8F9E-3689-E184-FFAC6D0DBDDC}"/>
              </a:ext>
            </a:extLst>
          </p:cNvPr>
          <p:cNvSpPr txBox="1"/>
          <p:nvPr/>
        </p:nvSpPr>
        <p:spPr>
          <a:xfrm>
            <a:off x="533400" y="2324100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Montserrat" panose="00000500000000000000" pitchFamily="2" charset="0"/>
              </a:rPr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1942949681"/>
      </p:ext>
    </p:extLst>
  </p:cSld>
  <p:clrMapOvr>
    <a:masterClrMapping/>
  </p:clrMapOvr>
  <p:transition spd="slow">
    <p:cov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446C2C-10B0-1724-A024-B2AC1AEE0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32F56B6-2D4E-68C3-AE8F-A176381AEEFB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09B09E7-697A-B70D-8A9D-183BD892F1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190F46A-09AE-2AC6-EC86-E66B6CA3D81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C3010D6-04F0-FAFB-073F-E8333400511E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6147E1A-D3A0-0958-9774-88112F45AAD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B0B4206-8C4B-0EC6-8C6A-AE6B6D843E8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3401B7FC-3C32-CB11-F5E8-EFC9D029D298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C9EA1E6-A693-2312-E859-71849F2B3767}"/>
              </a:ext>
            </a:extLst>
          </p:cNvPr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ctr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3. Missing Value</a:t>
            </a:r>
          </a:p>
        </p:txBody>
      </p:sp>
      <p:sp>
        <p:nvSpPr>
          <p:cNvPr id="9" name="Google Shape;144;g1400b17b2d9_2_36">
            <a:extLst>
              <a:ext uri="{FF2B5EF4-FFF2-40B4-BE49-F238E27FC236}">
                <a16:creationId xmlns:a16="http://schemas.microsoft.com/office/drawing/2014/main" id="{FA1F5414-196D-DC3A-C209-1E6394C03419}"/>
              </a:ext>
            </a:extLst>
          </p:cNvPr>
          <p:cNvSpPr txBox="1"/>
          <p:nvPr/>
        </p:nvSpPr>
        <p:spPr>
          <a:xfrm>
            <a:off x="1860584" y="1895312"/>
            <a:ext cx="15055815" cy="1988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/>
          <a:p>
            <a:pPr marL="12700" marR="0" lvl="0" indent="0" algn="just" rtl="0">
              <a:lnSpc>
                <a:spcPct val="115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800" dirty="0">
                <a:latin typeface="Montserrat" panose="00000500000000000000" pitchFamily="2" charset="0"/>
              </a:rPr>
              <a:t>Missing Value </a:t>
            </a:r>
            <a:r>
              <a:rPr lang="en-ID" sz="2800" dirty="0" err="1">
                <a:latin typeface="Montserrat" panose="00000500000000000000" pitchFamily="2" charset="0"/>
              </a:rPr>
              <a:t>Merupakan</a:t>
            </a:r>
            <a:r>
              <a:rPr lang="en-ID" sz="2800" dirty="0">
                <a:latin typeface="Montserrat" panose="00000500000000000000" pitchFamily="2" charset="0"/>
              </a:rPr>
              <a:t> </a:t>
            </a:r>
            <a:r>
              <a:rPr lang="en-ID" sz="2800" dirty="0" err="1">
                <a:solidFill>
                  <a:srgbClr val="FF0000"/>
                </a:solidFill>
                <a:latin typeface="Montserrat" panose="00000500000000000000" pitchFamily="2" charset="0"/>
              </a:rPr>
              <a:t>nilai</a:t>
            </a:r>
            <a:r>
              <a:rPr lang="en-ID" sz="2800" dirty="0">
                <a:solidFill>
                  <a:srgbClr val="FF0000"/>
                </a:solidFill>
                <a:latin typeface="Montserrat" panose="00000500000000000000" pitchFamily="2" charset="0"/>
              </a:rPr>
              <a:t> yang </a:t>
            </a:r>
            <a:r>
              <a:rPr lang="en-ID" sz="2800" dirty="0" err="1">
                <a:solidFill>
                  <a:srgbClr val="FF0000"/>
                </a:solidFill>
                <a:latin typeface="Montserrat" panose="00000500000000000000" pitchFamily="2" charset="0"/>
              </a:rPr>
              <a:t>hilang</a:t>
            </a:r>
            <a:r>
              <a:rPr lang="en-ID" sz="2800" dirty="0">
                <a:solidFill>
                  <a:srgbClr val="FF0000"/>
                </a:solidFill>
                <a:latin typeface="Montserrat" panose="00000500000000000000" pitchFamily="2" charset="0"/>
              </a:rPr>
              <a:t> </a:t>
            </a:r>
            <a:r>
              <a:rPr lang="en-ID" sz="2800" dirty="0">
                <a:latin typeface="Montserrat" panose="00000500000000000000" pitchFamily="2" charset="0"/>
              </a:rPr>
              <a:t>di </a:t>
            </a:r>
            <a:r>
              <a:rPr lang="en-ID" sz="2800" dirty="0" err="1">
                <a:latin typeface="Montserrat" panose="00000500000000000000" pitchFamily="2" charset="0"/>
              </a:rPr>
              <a:t>suatu</a:t>
            </a:r>
            <a:r>
              <a:rPr lang="en-ID" sz="2800" dirty="0">
                <a:latin typeface="Montserrat" panose="00000500000000000000" pitchFamily="2" charset="0"/>
              </a:rPr>
              <a:t> </a:t>
            </a:r>
            <a:r>
              <a:rPr lang="en-ID" sz="2800" dirty="0" err="1">
                <a:latin typeface="Montserrat" panose="00000500000000000000" pitchFamily="2" charset="0"/>
              </a:rPr>
              <a:t>kolom</a:t>
            </a:r>
            <a:r>
              <a:rPr lang="en-ID" sz="2800" dirty="0">
                <a:latin typeface="Montserrat" panose="00000500000000000000" pitchFamily="2" charset="0"/>
              </a:rPr>
              <a:t>, </a:t>
            </a:r>
            <a:r>
              <a:rPr lang="en-ID" sz="2800" dirty="0" err="1">
                <a:latin typeface="Montserrat" panose="00000500000000000000" pitchFamily="2" charset="0"/>
              </a:rPr>
              <a:t>namun</a:t>
            </a:r>
            <a:r>
              <a:rPr lang="en-ID" sz="2800" dirty="0">
                <a:latin typeface="Montserrat" panose="00000500000000000000" pitchFamily="2" charset="0"/>
              </a:rPr>
              <a:t> </a:t>
            </a:r>
            <a:r>
              <a:rPr lang="en-ID" sz="2800" dirty="0" err="1">
                <a:latin typeface="Montserrat" panose="00000500000000000000" pitchFamily="2" charset="0"/>
              </a:rPr>
              <a:t>tidak</a:t>
            </a:r>
            <a:r>
              <a:rPr lang="en-ID" sz="2800" dirty="0">
                <a:latin typeface="Montserrat" panose="00000500000000000000" pitchFamily="2" charset="0"/>
              </a:rPr>
              <a:t> </a:t>
            </a:r>
            <a:r>
              <a:rPr lang="en-ID" sz="2800" dirty="0" err="1">
                <a:latin typeface="Montserrat" panose="00000500000000000000" pitchFamily="2" charset="0"/>
              </a:rPr>
              <a:t>hanya</a:t>
            </a:r>
            <a:r>
              <a:rPr lang="en-ID" sz="2800" dirty="0">
                <a:latin typeface="Montserrat" panose="00000500000000000000" pitchFamily="2" charset="0"/>
              </a:rPr>
              <a:t> </a:t>
            </a:r>
            <a:r>
              <a:rPr lang="en-ID" sz="2800" dirty="0" err="1">
                <a:latin typeface="Montserrat" panose="00000500000000000000" pitchFamily="2" charset="0"/>
              </a:rPr>
              <a:t>sebatas</a:t>
            </a:r>
            <a:r>
              <a:rPr lang="en-ID" sz="2800" dirty="0">
                <a:latin typeface="Montserrat" panose="00000500000000000000" pitchFamily="2" charset="0"/>
              </a:rPr>
              <a:t> </a:t>
            </a:r>
            <a:r>
              <a:rPr lang="en-ID" sz="2800" dirty="0" err="1">
                <a:latin typeface="Montserrat" panose="00000500000000000000" pitchFamily="2" charset="0"/>
              </a:rPr>
              <a:t>itu</a:t>
            </a:r>
            <a:r>
              <a:rPr lang="en-ID" sz="2800" dirty="0">
                <a:latin typeface="Montserrat" panose="00000500000000000000" pitchFamily="2" charset="0"/>
              </a:rPr>
              <a:t>. </a:t>
            </a:r>
            <a:r>
              <a:rPr lang="en-ID" sz="2800" dirty="0" err="1">
                <a:latin typeface="Montserrat" panose="00000500000000000000" pitchFamily="2" charset="0"/>
              </a:rPr>
              <a:t>Untuk</a:t>
            </a:r>
            <a:r>
              <a:rPr lang="en-ID" sz="2800" dirty="0">
                <a:latin typeface="Montserrat" panose="00000500000000000000" pitchFamily="2" charset="0"/>
              </a:rPr>
              <a:t> </a:t>
            </a:r>
            <a:r>
              <a:rPr lang="en-ID" sz="2800" dirty="0" err="1">
                <a:solidFill>
                  <a:srgbClr val="FF0000"/>
                </a:solidFill>
                <a:latin typeface="Montserrat" panose="00000500000000000000" pitchFamily="2" charset="0"/>
              </a:rPr>
              <a:t>nilai</a:t>
            </a:r>
            <a:r>
              <a:rPr lang="en-ID" sz="2800" dirty="0">
                <a:solidFill>
                  <a:srgbClr val="FF0000"/>
                </a:solidFill>
                <a:latin typeface="Montserrat" panose="00000500000000000000" pitchFamily="2" charset="0"/>
              </a:rPr>
              <a:t> yang </a:t>
            </a:r>
            <a:r>
              <a:rPr lang="en-ID" sz="2800" dirty="0" err="1">
                <a:solidFill>
                  <a:srgbClr val="FF0000"/>
                </a:solidFill>
                <a:latin typeface="Montserrat" panose="00000500000000000000" pitchFamily="2" charset="0"/>
              </a:rPr>
              <a:t>tidak</a:t>
            </a:r>
            <a:r>
              <a:rPr lang="en-ID" sz="2800" dirty="0">
                <a:solidFill>
                  <a:srgbClr val="FF0000"/>
                </a:solidFill>
                <a:latin typeface="Montserrat" panose="00000500000000000000" pitchFamily="2" charset="0"/>
              </a:rPr>
              <a:t> </a:t>
            </a:r>
            <a:r>
              <a:rPr lang="en-ID" sz="2800" dirty="0" err="1">
                <a:latin typeface="Montserrat" panose="00000500000000000000" pitchFamily="2" charset="0"/>
              </a:rPr>
              <a:t>sesuai</a:t>
            </a:r>
            <a:r>
              <a:rPr lang="en-ID" sz="2800" dirty="0">
                <a:latin typeface="Montserrat" panose="00000500000000000000" pitchFamily="2" charset="0"/>
              </a:rPr>
              <a:t> </a:t>
            </a:r>
            <a:r>
              <a:rPr lang="en-ID" sz="2800" dirty="0" err="1">
                <a:latin typeface="Montserrat" panose="00000500000000000000" pitchFamily="2" charset="0"/>
              </a:rPr>
              <a:t>tapi</a:t>
            </a:r>
            <a:r>
              <a:rPr lang="en-ID" sz="2800" dirty="0">
                <a:latin typeface="Montserrat" panose="00000500000000000000" pitchFamily="2" charset="0"/>
              </a:rPr>
              <a:t> </a:t>
            </a:r>
            <a:r>
              <a:rPr lang="en-ID" sz="2800" dirty="0" err="1">
                <a:solidFill>
                  <a:srgbClr val="FF0000"/>
                </a:solidFill>
                <a:latin typeface="Montserrat" panose="00000500000000000000" pitchFamily="2" charset="0"/>
              </a:rPr>
              <a:t>muncul</a:t>
            </a:r>
            <a:r>
              <a:rPr lang="en-ID" sz="2800" dirty="0">
                <a:latin typeface="Montserrat" panose="00000500000000000000" pitchFamily="2" charset="0"/>
              </a:rPr>
              <a:t> </a:t>
            </a:r>
            <a:r>
              <a:rPr lang="en-ID" sz="2800" dirty="0" err="1">
                <a:latin typeface="Montserrat" panose="00000500000000000000" pitchFamily="2" charset="0"/>
              </a:rPr>
              <a:t>didalam</a:t>
            </a:r>
            <a:r>
              <a:rPr lang="en-ID" sz="2800" dirty="0">
                <a:latin typeface="Montserrat" panose="00000500000000000000" pitchFamily="2" charset="0"/>
              </a:rPr>
              <a:t> </a:t>
            </a:r>
            <a:r>
              <a:rPr lang="en-ID" sz="2800" dirty="0" err="1">
                <a:latin typeface="Montserrat" panose="00000500000000000000" pitchFamily="2" charset="0"/>
              </a:rPr>
              <a:t>suatu</a:t>
            </a:r>
            <a:r>
              <a:rPr lang="en-ID" sz="2800" dirty="0">
                <a:latin typeface="Montserrat" panose="00000500000000000000" pitchFamily="2" charset="0"/>
              </a:rPr>
              <a:t> </a:t>
            </a:r>
            <a:r>
              <a:rPr lang="en-ID" sz="2800" dirty="0" err="1">
                <a:latin typeface="Montserrat" panose="00000500000000000000" pitchFamily="2" charset="0"/>
              </a:rPr>
              <a:t>kolom</a:t>
            </a:r>
            <a:r>
              <a:rPr lang="en-ID" sz="2800" dirty="0">
                <a:latin typeface="Montserrat" panose="00000500000000000000" pitchFamily="2" charset="0"/>
              </a:rPr>
              <a:t> </a:t>
            </a:r>
            <a:r>
              <a:rPr lang="en-ID" sz="2800" dirty="0" err="1">
                <a:latin typeface="Montserrat" panose="00000500000000000000" pitchFamily="2" charset="0"/>
              </a:rPr>
              <a:t>tertentu</a:t>
            </a:r>
            <a:r>
              <a:rPr lang="en-ID" sz="2800" dirty="0">
                <a:latin typeface="Montserrat" panose="00000500000000000000" pitchFamily="2" charset="0"/>
              </a:rPr>
              <a:t> juga </a:t>
            </a:r>
            <a:r>
              <a:rPr lang="en-ID" sz="2800" dirty="0" err="1">
                <a:latin typeface="Montserrat" panose="00000500000000000000" pitchFamily="2" charset="0"/>
              </a:rPr>
              <a:t>bisa</a:t>
            </a:r>
            <a:r>
              <a:rPr lang="en-ID" sz="2800" dirty="0">
                <a:latin typeface="Montserrat" panose="00000500000000000000" pitchFamily="2" charset="0"/>
              </a:rPr>
              <a:t> </a:t>
            </a:r>
            <a:r>
              <a:rPr lang="en-ID" sz="2800" dirty="0" err="1">
                <a:latin typeface="Montserrat" panose="00000500000000000000" pitchFamily="2" charset="0"/>
              </a:rPr>
              <a:t>dianggap</a:t>
            </a:r>
            <a:r>
              <a:rPr lang="en-ID" sz="2800" dirty="0">
                <a:latin typeface="Montserrat" panose="00000500000000000000" pitchFamily="2" charset="0"/>
              </a:rPr>
              <a:t> </a:t>
            </a:r>
            <a:r>
              <a:rPr lang="en-ID" sz="2800" dirty="0" err="1">
                <a:latin typeface="Montserrat" panose="00000500000000000000" pitchFamily="2" charset="0"/>
              </a:rPr>
              <a:t>sebagai</a:t>
            </a:r>
            <a:r>
              <a:rPr lang="en-ID" sz="2800" dirty="0">
                <a:latin typeface="Montserrat" panose="00000500000000000000" pitchFamily="2" charset="0"/>
              </a:rPr>
              <a:t> missing value. </a:t>
            </a:r>
            <a:r>
              <a:rPr lang="en-ID" sz="2800" dirty="0" err="1">
                <a:latin typeface="Montserrat" panose="00000500000000000000" pitchFamily="2" charset="0"/>
              </a:rPr>
              <a:t>Misal</a:t>
            </a:r>
            <a:r>
              <a:rPr lang="en-ID" sz="2800" dirty="0">
                <a:latin typeface="Montserrat" panose="00000500000000000000" pitchFamily="2" charset="0"/>
              </a:rPr>
              <a:t> </a:t>
            </a:r>
            <a:r>
              <a:rPr lang="en-ID" sz="2800" dirty="0" err="1">
                <a:latin typeface="Montserrat" panose="00000500000000000000" pitchFamily="2" charset="0"/>
              </a:rPr>
              <a:t>tipenya</a:t>
            </a:r>
            <a:r>
              <a:rPr lang="en-ID" sz="2800" dirty="0">
                <a:latin typeface="Montserrat" panose="00000500000000000000" pitchFamily="2" charset="0"/>
              </a:rPr>
              <a:t> </a:t>
            </a:r>
            <a:r>
              <a:rPr lang="en-ID" sz="2800" dirty="0" err="1">
                <a:latin typeface="Montserrat" panose="00000500000000000000" pitchFamily="2" charset="0"/>
              </a:rPr>
              <a:t>kategorikal</a:t>
            </a:r>
            <a:r>
              <a:rPr lang="en-ID" sz="2800" dirty="0">
                <a:latin typeface="Montserrat" panose="00000500000000000000" pitchFamily="2" charset="0"/>
              </a:rPr>
              <a:t> </a:t>
            </a:r>
            <a:r>
              <a:rPr lang="en-ID" sz="2800" dirty="0" err="1">
                <a:latin typeface="Montserrat" panose="00000500000000000000" pitchFamily="2" charset="0"/>
              </a:rPr>
              <a:t>tapi</a:t>
            </a:r>
            <a:r>
              <a:rPr lang="en-ID" sz="2800" dirty="0">
                <a:latin typeface="Montserrat" panose="00000500000000000000" pitchFamily="2" charset="0"/>
              </a:rPr>
              <a:t> </a:t>
            </a:r>
            <a:r>
              <a:rPr lang="en-ID" sz="2800" dirty="0" err="1">
                <a:latin typeface="Montserrat" panose="00000500000000000000" pitchFamily="2" charset="0"/>
              </a:rPr>
              <a:t>isinya</a:t>
            </a:r>
            <a:r>
              <a:rPr lang="en-ID" sz="2800" dirty="0">
                <a:latin typeface="Montserrat" panose="00000500000000000000" pitchFamily="2" charset="0"/>
              </a:rPr>
              <a:t> </a:t>
            </a:r>
            <a:r>
              <a:rPr lang="en-ID" sz="2800" dirty="0" err="1">
                <a:latin typeface="Montserrat" panose="00000500000000000000" pitchFamily="2" charset="0"/>
              </a:rPr>
              <a:t>ada</a:t>
            </a:r>
            <a:r>
              <a:rPr lang="en-ID" sz="2800" dirty="0">
                <a:latin typeface="Montserrat" panose="00000500000000000000" pitchFamily="2" charset="0"/>
              </a:rPr>
              <a:t> yang </a:t>
            </a:r>
            <a:r>
              <a:rPr lang="en-ID" sz="2800" dirty="0" err="1">
                <a:latin typeface="Montserrat" panose="00000500000000000000" pitchFamily="2" charset="0"/>
              </a:rPr>
              <a:t>berupa</a:t>
            </a:r>
            <a:r>
              <a:rPr lang="en-ID" sz="2800" dirty="0">
                <a:latin typeface="Montserrat" panose="00000500000000000000" pitchFamily="2" charset="0"/>
              </a:rPr>
              <a:t> </a:t>
            </a:r>
            <a:r>
              <a:rPr lang="en-ID" sz="2800" dirty="0" err="1">
                <a:latin typeface="Montserrat" panose="00000500000000000000" pitchFamily="2" charset="0"/>
              </a:rPr>
              <a:t>angka</a:t>
            </a:r>
            <a:r>
              <a:rPr lang="en-ID" sz="2800" dirty="0">
                <a:latin typeface="Montserrat" panose="00000500000000000000" pitchFamily="2" charset="0"/>
              </a:rPr>
              <a:t> dan juga </a:t>
            </a:r>
            <a:r>
              <a:rPr lang="en-ID" sz="2800" dirty="0" err="1">
                <a:latin typeface="Montserrat" panose="00000500000000000000" pitchFamily="2" charset="0"/>
              </a:rPr>
              <a:t>sebaliknya</a:t>
            </a:r>
            <a:r>
              <a:rPr lang="en-ID" sz="2800" dirty="0">
                <a:latin typeface="Montserrat" panose="00000500000000000000" pitchFamily="2" charset="0"/>
              </a:rPr>
              <a:t>.</a:t>
            </a:r>
            <a:endParaRPr sz="2800" dirty="0">
              <a:latin typeface="Montserrat" panose="00000500000000000000" pitchFamily="2" charset="0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" name="Gambar 2">
            <a:extLst>
              <a:ext uri="{FF2B5EF4-FFF2-40B4-BE49-F238E27FC236}">
                <a16:creationId xmlns:a16="http://schemas.microsoft.com/office/drawing/2014/main" id="{9950B8CA-CE9D-0EDE-7A09-17DCEA536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061" y="4094663"/>
            <a:ext cx="6358539" cy="4158173"/>
          </a:xfrm>
          <a:prstGeom prst="rect">
            <a:avLst/>
          </a:prstGeom>
        </p:spPr>
      </p:pic>
      <p:sp>
        <p:nvSpPr>
          <p:cNvPr id="11" name="Kotak Teks 4">
            <a:extLst>
              <a:ext uri="{FF2B5EF4-FFF2-40B4-BE49-F238E27FC236}">
                <a16:creationId xmlns:a16="http://schemas.microsoft.com/office/drawing/2014/main" id="{95A392A4-D3F1-2509-87C3-306DE9EEEB79}"/>
              </a:ext>
            </a:extLst>
          </p:cNvPr>
          <p:cNvSpPr txBox="1"/>
          <p:nvPr/>
        </p:nvSpPr>
        <p:spPr>
          <a:xfrm>
            <a:off x="1860584" y="8650886"/>
            <a:ext cx="162589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800" dirty="0">
                <a:solidFill>
                  <a:schemeClr val="tx1"/>
                </a:solidFill>
                <a:latin typeface="Montserrat" panose="00000500000000000000" pitchFamily="2" charset="0"/>
              </a:rPr>
              <a:t>Missing Value </a:t>
            </a:r>
            <a:r>
              <a:rPr lang="en-ID" sz="2800" dirty="0" err="1">
                <a:solidFill>
                  <a:schemeClr val="tx1"/>
                </a:solidFill>
                <a:latin typeface="Montserrat" panose="00000500000000000000" pitchFamily="2" charset="0"/>
              </a:rPr>
              <a:t>diatas</a:t>
            </a:r>
            <a:r>
              <a:rPr lang="en-ID" sz="2800" dirty="0">
                <a:solidFill>
                  <a:schemeClr val="tx1"/>
                </a:solidFill>
                <a:latin typeface="Montserrat" panose="00000500000000000000" pitchFamily="2" charset="0"/>
              </a:rPr>
              <a:t> :</a:t>
            </a:r>
            <a:r>
              <a:rPr lang="en-ID" sz="2800" dirty="0">
                <a:solidFill>
                  <a:srgbClr val="FF0000"/>
                </a:solidFill>
                <a:latin typeface="Montserrat" panose="00000500000000000000" pitchFamily="2" charset="0"/>
              </a:rPr>
              <a:t> -1 dan Unknown</a:t>
            </a:r>
            <a:r>
              <a:rPr lang="en-ID" sz="2800" dirty="0">
                <a:solidFill>
                  <a:schemeClr val="tx1"/>
                </a:solidFill>
                <a:latin typeface="Montserrat" panose="00000500000000000000" pitchFamily="2" charset="0"/>
              </a:rPr>
              <a:t> -&gt; </a:t>
            </a:r>
            <a:r>
              <a:rPr lang="en-ID" sz="2800" dirty="0" err="1">
                <a:solidFill>
                  <a:schemeClr val="tx1"/>
                </a:solidFill>
                <a:latin typeface="Montserrat" panose="00000500000000000000" pitchFamily="2" charset="0"/>
              </a:rPr>
              <a:t>Padahal</a:t>
            </a:r>
            <a:r>
              <a:rPr lang="en-ID" sz="2800" dirty="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ID" sz="2800" dirty="0" err="1">
                <a:solidFill>
                  <a:schemeClr val="tx1"/>
                </a:solidFill>
                <a:latin typeface="Montserrat" panose="00000500000000000000" pitchFamily="2" charset="0"/>
              </a:rPr>
              <a:t>tipe</a:t>
            </a:r>
            <a:r>
              <a:rPr lang="en-ID" sz="2800" dirty="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ID" sz="2800" dirty="0" err="1">
                <a:solidFill>
                  <a:schemeClr val="tx1"/>
                </a:solidFill>
                <a:latin typeface="Montserrat" panose="00000500000000000000" pitchFamily="2" charset="0"/>
              </a:rPr>
              <a:t>datanya</a:t>
            </a:r>
            <a:r>
              <a:rPr lang="en-ID" sz="2800" dirty="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ID" sz="2800" dirty="0" err="1">
                <a:solidFill>
                  <a:schemeClr val="tx1"/>
                </a:solidFill>
                <a:latin typeface="Montserrat" panose="00000500000000000000" pitchFamily="2" charset="0"/>
              </a:rPr>
              <a:t>kategorikal</a:t>
            </a:r>
            <a:r>
              <a:rPr lang="en-ID" sz="2800" dirty="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n-ID" sz="2800" dirty="0" err="1">
                <a:solidFill>
                  <a:schemeClr val="tx1"/>
                </a:solidFill>
                <a:latin typeface="Montserrat" panose="00000500000000000000" pitchFamily="2" charset="0"/>
              </a:rPr>
              <a:t>Campuran</a:t>
            </a:r>
            <a:endParaRPr lang="en-ID" sz="28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381911"/>
      </p:ext>
    </p:extLst>
  </p:cSld>
  <p:clrMapOvr>
    <a:masterClrMapping/>
  </p:clrMapOvr>
  <p:transition spd="slow">
    <p:cover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FF388-6544-5388-C77E-5E4F9B846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58E602A-58DA-729D-4FA2-6273F761AB63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52F3203-2FDA-7B96-A87B-6C4318F766B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17B3F91-C1FA-8C9A-C008-6CBADD99D8C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44F996D-B4A0-2578-D05E-5097C624FC66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E196FB2-B036-6EE1-48BC-07926E0BEB8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CD90BB9-8ECF-C2DE-B7E4-4DAF81C0C6F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29D8FD1E-0D3E-FF5E-12F5-2C3FB3EA7444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9E02FC4-1CFC-E0FB-88F4-593B2EBB315A}"/>
              </a:ext>
            </a:extLst>
          </p:cNvPr>
          <p:cNvSpPr txBox="1"/>
          <p:nvPr/>
        </p:nvSpPr>
        <p:spPr>
          <a:xfrm>
            <a:off x="766657" y="1047312"/>
            <a:ext cx="141075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Jenis Missing Value</a:t>
            </a:r>
          </a:p>
        </p:txBody>
      </p:sp>
      <p:sp>
        <p:nvSpPr>
          <p:cNvPr id="15" name="Kotak Teks 4">
            <a:extLst>
              <a:ext uri="{FF2B5EF4-FFF2-40B4-BE49-F238E27FC236}">
                <a16:creationId xmlns:a16="http://schemas.microsoft.com/office/drawing/2014/main" id="{048AD206-EBD0-43AD-AF6E-0EBD649D4D3E}"/>
              </a:ext>
            </a:extLst>
          </p:cNvPr>
          <p:cNvSpPr txBox="1"/>
          <p:nvPr/>
        </p:nvSpPr>
        <p:spPr>
          <a:xfrm>
            <a:off x="1277237" y="2115779"/>
            <a:ext cx="7409563" cy="3352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anose="00000500000000000000" pitchFamily="2" charset="0"/>
              </a:rPr>
              <a:t>Missing Value yang Jelas (Explicit Missing)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400" dirty="0">
                <a:latin typeface="Montserrat" panose="00000500000000000000" pitchFamily="2" charset="0"/>
              </a:rPr>
              <a:t>✅ </a:t>
            </a:r>
            <a:r>
              <a:rPr lang="en-US" sz="2400" dirty="0" err="1">
                <a:latin typeface="Montserrat" panose="00000500000000000000" pitchFamily="2" charset="0"/>
              </a:rPr>
              <a:t>NaN</a:t>
            </a:r>
            <a:r>
              <a:rPr lang="en-US" sz="2400" dirty="0">
                <a:latin typeface="Montserrat" panose="00000500000000000000" pitchFamily="2" charset="0"/>
              </a:rPr>
              <a:t> (Not a Number) – format </a:t>
            </a:r>
            <a:r>
              <a:rPr lang="en-US" sz="2400" dirty="0" err="1">
                <a:latin typeface="Montserrat" panose="00000500000000000000" pitchFamily="2" charset="0"/>
              </a:rPr>
              <a:t>standar</a:t>
            </a:r>
            <a:r>
              <a:rPr lang="en-US" sz="2400" dirty="0">
                <a:latin typeface="Montserrat" panose="00000500000000000000" pitchFamily="2" charset="0"/>
              </a:rPr>
              <a:t> di pandas/</a:t>
            </a:r>
            <a:r>
              <a:rPr lang="en-US" sz="2400" dirty="0" err="1">
                <a:latin typeface="Montserrat" panose="00000500000000000000" pitchFamily="2" charset="0"/>
              </a:rPr>
              <a:t>numpy</a:t>
            </a:r>
            <a:endParaRPr lang="en-US" sz="2400" dirty="0">
              <a:latin typeface="Montserrat" panose="00000500000000000000" pitchFamily="2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400" dirty="0">
                <a:latin typeface="Montserrat" panose="00000500000000000000" pitchFamily="2" charset="0"/>
              </a:rPr>
              <a:t>✅ None – </a:t>
            </a:r>
            <a:r>
              <a:rPr lang="en-US" sz="2400" dirty="0" err="1">
                <a:latin typeface="Montserrat" panose="00000500000000000000" pitchFamily="2" charset="0"/>
              </a:rPr>
              <a:t>tipe</a:t>
            </a:r>
            <a:r>
              <a:rPr lang="en-US" sz="2400" dirty="0">
                <a:latin typeface="Montserrat" panose="00000500000000000000" pitchFamily="2" charset="0"/>
              </a:rPr>
              <a:t> data Python untuk </a:t>
            </a:r>
            <a:r>
              <a:rPr lang="en-US" sz="2400" dirty="0" err="1">
                <a:latin typeface="Montserrat" panose="00000500000000000000" pitchFamily="2" charset="0"/>
              </a:rPr>
              <a:t>nilai</a:t>
            </a:r>
            <a:r>
              <a:rPr lang="en-US" sz="2400" dirty="0">
                <a:latin typeface="Montserrat" panose="00000500000000000000" pitchFamily="2" charset="0"/>
              </a:rPr>
              <a:t> kosong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400" dirty="0">
                <a:latin typeface="Montserrat" panose="00000500000000000000" pitchFamily="2" charset="0"/>
              </a:rPr>
              <a:t>✅ null – </a:t>
            </a:r>
            <a:r>
              <a:rPr lang="en-US" sz="2400" dirty="0" err="1">
                <a:latin typeface="Montserrat" panose="00000500000000000000" pitchFamily="2" charset="0"/>
              </a:rPr>
              <a:t>sering</a:t>
            </a:r>
            <a:r>
              <a:rPr lang="en-US" sz="2400" dirty="0">
                <a:latin typeface="Montserrat" panose="00000500000000000000" pitchFamily="2" charset="0"/>
              </a:rPr>
              <a:t> muncul di database SQL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Montserrat" panose="00000500000000000000" pitchFamily="2" charset="0"/>
              </a:rPr>
              <a:t>✅ Na – </a:t>
            </a:r>
            <a:r>
              <a:rPr lang="en-US" sz="2400" dirty="0" err="1">
                <a:latin typeface="Montserrat" panose="00000500000000000000" pitchFamily="2" charset="0"/>
              </a:rPr>
              <a:t>sering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digunakan</a:t>
            </a:r>
            <a:r>
              <a:rPr lang="en-US" sz="2400" dirty="0">
                <a:latin typeface="Montserrat" panose="00000500000000000000" pitchFamily="2" charset="0"/>
              </a:rPr>
              <a:t> di file CSV </a:t>
            </a:r>
            <a:r>
              <a:rPr lang="en-US" sz="2400" dirty="0" err="1">
                <a:latin typeface="Montserrat" panose="00000500000000000000" pitchFamily="2" charset="0"/>
              </a:rPr>
              <a:t>atau</a:t>
            </a:r>
            <a:r>
              <a:rPr lang="en-US" sz="2400" dirty="0">
                <a:latin typeface="Montserrat" panose="00000500000000000000" pitchFamily="2" charset="0"/>
              </a:rPr>
              <a:t> Excel</a:t>
            </a:r>
          </a:p>
        </p:txBody>
      </p:sp>
      <p:sp>
        <p:nvSpPr>
          <p:cNvPr id="10" name="Kotak Teks 4">
            <a:extLst>
              <a:ext uri="{FF2B5EF4-FFF2-40B4-BE49-F238E27FC236}">
                <a16:creationId xmlns:a16="http://schemas.microsoft.com/office/drawing/2014/main" id="{DD98F288-B9A5-FEC2-F4BF-6F75031039BC}"/>
              </a:ext>
            </a:extLst>
          </p:cNvPr>
          <p:cNvSpPr txBox="1"/>
          <p:nvPr/>
        </p:nvSpPr>
        <p:spPr>
          <a:xfrm>
            <a:off x="1277237" y="5804872"/>
            <a:ext cx="7409563" cy="279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anose="00000500000000000000" pitchFamily="2" charset="0"/>
              </a:rPr>
              <a:t>Missing Value yang </a:t>
            </a:r>
            <a:r>
              <a:rPr lang="en-US" sz="2400" b="1" dirty="0" err="1">
                <a:latin typeface="Montserrat" panose="00000500000000000000" pitchFamily="2" charset="0"/>
              </a:rPr>
              <a:t>Dikodekan</a:t>
            </a:r>
            <a:r>
              <a:rPr lang="en-US" sz="2400" b="1" dirty="0">
                <a:latin typeface="Montserrat" panose="00000500000000000000" pitchFamily="2" charset="0"/>
              </a:rPr>
              <a:t> </a:t>
            </a:r>
            <a:r>
              <a:rPr lang="en-US" sz="2400" b="1" dirty="0" err="1">
                <a:latin typeface="Montserrat" panose="00000500000000000000" pitchFamily="2" charset="0"/>
              </a:rPr>
              <a:t>Secara</a:t>
            </a:r>
            <a:r>
              <a:rPr lang="en-US" sz="2400" b="1" dirty="0">
                <a:latin typeface="Montserrat" panose="00000500000000000000" pitchFamily="2" charset="0"/>
              </a:rPr>
              <a:t> Manual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400" dirty="0">
                <a:latin typeface="Montserrat" panose="00000500000000000000" pitchFamily="2" charset="0"/>
              </a:rPr>
              <a:t>✅ -1, 9999, </a:t>
            </a:r>
            <a:r>
              <a:rPr lang="en-US" sz="2400" dirty="0" err="1">
                <a:latin typeface="Montserrat" panose="00000500000000000000" pitchFamily="2" charset="0"/>
              </a:rPr>
              <a:t>atau</a:t>
            </a:r>
            <a:r>
              <a:rPr lang="en-US" sz="2400" dirty="0">
                <a:latin typeface="Montserrat" panose="00000500000000000000" pitchFamily="2" charset="0"/>
              </a:rPr>
              <a:t> 0 untuk data </a:t>
            </a:r>
            <a:r>
              <a:rPr lang="en-US" sz="2400" dirty="0" err="1">
                <a:latin typeface="Montserrat" panose="00000500000000000000" pitchFamily="2" charset="0"/>
              </a:rPr>
              <a:t>numerik</a:t>
            </a:r>
            <a:endParaRPr lang="en-US" sz="2400" dirty="0">
              <a:latin typeface="Montserrat" panose="000005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Montserrat" panose="00000500000000000000" pitchFamily="2" charset="0"/>
              </a:rPr>
              <a:t>✅ "Unknown", "Tidak Tahu", "?" untuk data </a:t>
            </a:r>
            <a:r>
              <a:rPr lang="en-US" sz="2400" dirty="0" err="1">
                <a:latin typeface="Montserrat" panose="00000500000000000000" pitchFamily="2" charset="0"/>
              </a:rPr>
              <a:t>kategorikal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17" name="Kotak Teks 4">
            <a:extLst>
              <a:ext uri="{FF2B5EF4-FFF2-40B4-BE49-F238E27FC236}">
                <a16:creationId xmlns:a16="http://schemas.microsoft.com/office/drawing/2014/main" id="{AFC9A0CE-A25C-9C8F-B39C-C02F507CBB25}"/>
              </a:ext>
            </a:extLst>
          </p:cNvPr>
          <p:cNvSpPr txBox="1"/>
          <p:nvPr/>
        </p:nvSpPr>
        <p:spPr>
          <a:xfrm>
            <a:off x="9601200" y="2115779"/>
            <a:ext cx="7409563" cy="3907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anose="00000500000000000000" pitchFamily="2" charset="0"/>
              </a:rPr>
              <a:t>Missing Value </a:t>
            </a:r>
            <a:r>
              <a:rPr lang="en-US" sz="2400" b="1" dirty="0" err="1">
                <a:latin typeface="Montserrat" panose="00000500000000000000" pitchFamily="2" charset="0"/>
              </a:rPr>
              <a:t>karena</a:t>
            </a:r>
            <a:r>
              <a:rPr lang="en-US" sz="2400" b="1" dirty="0">
                <a:latin typeface="Montserrat" panose="00000500000000000000" pitchFamily="2" charset="0"/>
              </a:rPr>
              <a:t> Format yang Tidak Sesuai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Montserrat" panose="00000500000000000000" pitchFamily="2" charset="0"/>
              </a:rPr>
              <a:t>✅ </a:t>
            </a:r>
            <a:r>
              <a:rPr lang="en-US" sz="2400" dirty="0" err="1">
                <a:latin typeface="Montserrat" panose="00000500000000000000" pitchFamily="2" charset="0"/>
              </a:rPr>
              <a:t>Spasi</a:t>
            </a:r>
            <a:r>
              <a:rPr lang="en-US" sz="2400" dirty="0">
                <a:latin typeface="Montserrat" panose="00000500000000000000" pitchFamily="2" charset="0"/>
              </a:rPr>
              <a:t> kosong (" ") → </a:t>
            </a:r>
            <a:r>
              <a:rPr lang="en-US" sz="2400" dirty="0" err="1">
                <a:latin typeface="Montserrat" panose="00000500000000000000" pitchFamily="2" charset="0"/>
              </a:rPr>
              <a:t>dianggap</a:t>
            </a:r>
            <a:r>
              <a:rPr lang="en-US" sz="2400" dirty="0">
                <a:latin typeface="Montserrat" panose="00000500000000000000" pitchFamily="2" charset="0"/>
              </a:rPr>
              <a:t> sebagai string, bukan </a:t>
            </a:r>
            <a:r>
              <a:rPr lang="en-US" sz="2400" dirty="0" err="1">
                <a:latin typeface="Montserrat" panose="00000500000000000000" pitchFamily="2" charset="0"/>
              </a:rPr>
              <a:t>NaN</a:t>
            </a:r>
            <a:endParaRPr lang="en-US" sz="24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Montserrat" panose="00000500000000000000" pitchFamily="2" charset="0"/>
              </a:rPr>
              <a:t>✅ </a:t>
            </a:r>
            <a:r>
              <a:rPr lang="en-US" sz="2400" dirty="0" err="1">
                <a:latin typeface="Montserrat" panose="00000500000000000000" pitchFamily="2" charset="0"/>
              </a:rPr>
              <a:t>Karakter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khusus</a:t>
            </a:r>
            <a:r>
              <a:rPr lang="en-US" sz="2400" dirty="0">
                <a:latin typeface="Montserrat" panose="00000500000000000000" pitchFamily="2" charset="0"/>
              </a:rPr>
              <a:t> ("NULL", "#N/A")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Montserrat" panose="00000500000000000000" pitchFamily="2" charset="0"/>
              </a:rPr>
              <a:t>✅ </a:t>
            </a:r>
            <a:r>
              <a:rPr lang="en-US" sz="2400" dirty="0" err="1">
                <a:latin typeface="Montserrat" panose="00000500000000000000" pitchFamily="2" charset="0"/>
              </a:rPr>
              <a:t>Tipe</a:t>
            </a:r>
            <a:r>
              <a:rPr lang="en-US" sz="2400" dirty="0">
                <a:latin typeface="Montserrat" panose="00000500000000000000" pitchFamily="2" charset="0"/>
              </a:rPr>
              <a:t> data tidak sesuai (</a:t>
            </a:r>
            <a:r>
              <a:rPr lang="en-US" sz="2400" dirty="0" err="1">
                <a:latin typeface="Montserrat" panose="00000500000000000000" pitchFamily="2" charset="0"/>
              </a:rPr>
              <a:t>misalnya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angka</a:t>
            </a:r>
            <a:r>
              <a:rPr lang="en-US" sz="2400" dirty="0">
                <a:latin typeface="Montserrat" panose="00000500000000000000" pitchFamily="2" charset="0"/>
              </a:rPr>
              <a:t> dalam </a:t>
            </a:r>
            <a:r>
              <a:rPr lang="en-US" sz="2400" dirty="0" err="1">
                <a:latin typeface="Montserrat" panose="00000500000000000000" pitchFamily="2" charset="0"/>
              </a:rPr>
              <a:t>bentuk</a:t>
            </a:r>
            <a:r>
              <a:rPr lang="en-US" sz="2400" dirty="0">
                <a:latin typeface="Montserrat" panose="00000500000000000000" pitchFamily="2" charset="0"/>
              </a:rPr>
              <a:t> string)</a:t>
            </a:r>
          </a:p>
        </p:txBody>
      </p:sp>
    </p:spTree>
    <p:extLst>
      <p:ext uri="{BB962C8B-B14F-4D97-AF65-F5344CB8AC3E}">
        <p14:creationId xmlns:p14="http://schemas.microsoft.com/office/powerpoint/2010/main" val="926287854"/>
      </p:ext>
    </p:extLst>
  </p:cSld>
  <p:clrMapOvr>
    <a:masterClrMapping/>
  </p:clrMapOvr>
  <p:transition spd="slow">
    <p:cover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7B155-5002-769D-12B1-39A37B8D4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7ADBD66-CF1E-49A7-7939-3364BFE486E7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E81C5AB-99BC-82E5-4A4A-A735EA6569F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D29844E-2351-5997-E23A-66581732D26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1F51322-E564-0E3E-99E7-D89F22CAFA9E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3D8E790-569A-EAE6-2443-75413124DEF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01EDA6B-AAD6-6348-DB9A-78AD290576B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4CC4EC6-A02C-32A9-2153-3CA2D3602BC5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744C6F2-1A7D-F222-BE86-070D868BA65C}"/>
              </a:ext>
            </a:extLst>
          </p:cNvPr>
          <p:cNvSpPr txBox="1"/>
          <p:nvPr/>
        </p:nvSpPr>
        <p:spPr>
          <a:xfrm>
            <a:off x="766657" y="1047312"/>
            <a:ext cx="141075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Handling Missing Value</a:t>
            </a:r>
          </a:p>
        </p:txBody>
      </p:sp>
      <p:sp>
        <p:nvSpPr>
          <p:cNvPr id="13" name="Google Shape;154;g1400b17b2d9_2_46">
            <a:extLst>
              <a:ext uri="{FF2B5EF4-FFF2-40B4-BE49-F238E27FC236}">
                <a16:creationId xmlns:a16="http://schemas.microsoft.com/office/drawing/2014/main" id="{0B168D8C-20D6-B9A3-5A26-28A01516303E}"/>
              </a:ext>
            </a:extLst>
          </p:cNvPr>
          <p:cNvSpPr txBox="1"/>
          <p:nvPr/>
        </p:nvSpPr>
        <p:spPr>
          <a:xfrm>
            <a:off x="1391020" y="4972747"/>
            <a:ext cx="7981580" cy="1705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just" rtl="0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1. Jika </a:t>
            </a:r>
            <a:r>
              <a:rPr lang="en-US" sz="2400" b="1" dirty="0" err="1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numerikal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kolom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maka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handle menggunakan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nilai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median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dari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data train,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lalu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aplikasikan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ke data train dan ke data test di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kolom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bersangkutan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.</a:t>
            </a:r>
            <a:endParaRPr sz="2400" dirty="0">
              <a:latin typeface="Montserrat" panose="00000500000000000000" pitchFamily="2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4" name="Kotak Teks 2">
            <a:extLst>
              <a:ext uri="{FF2B5EF4-FFF2-40B4-BE49-F238E27FC236}">
                <a16:creationId xmlns:a16="http://schemas.microsoft.com/office/drawing/2014/main" id="{3F5EF8DB-78F9-99A7-BD9E-10638D958120}"/>
              </a:ext>
            </a:extLst>
          </p:cNvPr>
          <p:cNvSpPr txBox="1"/>
          <p:nvPr/>
        </p:nvSpPr>
        <p:spPr>
          <a:xfrm>
            <a:off x="1391020" y="6823659"/>
            <a:ext cx="7981580" cy="1761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indent="0" algn="just" rtl="0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2. Jika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kolom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kategorikal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maka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handle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menggunakan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nilai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modus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dari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data train,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lalu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aplikasikan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ke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data train dan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ke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data test di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kolom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bersangkutan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.</a:t>
            </a:r>
            <a:endParaRPr lang="en-US" sz="2400" dirty="0">
              <a:latin typeface="Montserrat" panose="00000500000000000000" pitchFamily="2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5" name="Kotak Teks 4">
            <a:extLst>
              <a:ext uri="{FF2B5EF4-FFF2-40B4-BE49-F238E27FC236}">
                <a16:creationId xmlns:a16="http://schemas.microsoft.com/office/drawing/2014/main" id="{1A075C60-A4AD-AC50-B561-81799E78EF20}"/>
              </a:ext>
            </a:extLst>
          </p:cNvPr>
          <p:cNvSpPr txBox="1"/>
          <p:nvPr/>
        </p:nvSpPr>
        <p:spPr>
          <a:xfrm>
            <a:off x="1277237" y="2115779"/>
            <a:ext cx="8095363" cy="279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Cek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terlebih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dahulu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,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nilai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unik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di tiap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kolom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.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Kemudian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cek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berapa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persen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missing value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tiap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kolom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.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Secara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Statistik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jika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&gt; 20%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maka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drop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kolomnya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,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jika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dibawah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itu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maka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handling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dengan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cara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: </a:t>
            </a:r>
            <a:endParaRPr lang="en-US" sz="2400" dirty="0">
              <a:latin typeface="Montserrat" panose="00000500000000000000" pitchFamily="2" charset="0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" name="Gambar 2">
            <a:extLst>
              <a:ext uri="{FF2B5EF4-FFF2-40B4-BE49-F238E27FC236}">
                <a16:creationId xmlns:a16="http://schemas.microsoft.com/office/drawing/2014/main" id="{599A0B6A-1137-8EB9-DBD7-DDD5DE3EA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8909" y="2839200"/>
            <a:ext cx="6525097" cy="426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432144"/>
      </p:ext>
    </p:extLst>
  </p:cSld>
  <p:clrMapOvr>
    <a:masterClrMapping/>
  </p:clrMapOvr>
  <p:transition spd="slow">
    <p:cover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D1951E-9795-E2CC-B35C-39B817B59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74E60E6-DF82-EA60-0FD2-7033C307831B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D843297-25B6-2AAA-A752-B89022A2387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213CE4E-792A-6D77-D8AB-0594FBCF2BF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97C5BC9-FBC9-D85F-392C-6038AF34499E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7BB4E64-837B-E3E6-FA5B-08003B5F661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11FF385-CBB5-3537-A4D6-407D7CDADA8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6A9CA899-0130-302C-253B-AF0D721C9891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2653E6D-0048-BFE5-9BFD-EDC9D32BCE83}"/>
              </a:ext>
            </a:extLst>
          </p:cNvPr>
          <p:cNvSpPr txBox="1"/>
          <p:nvPr/>
        </p:nvSpPr>
        <p:spPr>
          <a:xfrm>
            <a:off x="766657" y="1047312"/>
            <a:ext cx="141075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Handling Missing Value</a:t>
            </a:r>
          </a:p>
        </p:txBody>
      </p:sp>
      <p:sp>
        <p:nvSpPr>
          <p:cNvPr id="15" name="Kotak Teks 4">
            <a:extLst>
              <a:ext uri="{FF2B5EF4-FFF2-40B4-BE49-F238E27FC236}">
                <a16:creationId xmlns:a16="http://schemas.microsoft.com/office/drawing/2014/main" id="{8597F689-7833-DC7F-BE5B-F5935830670E}"/>
              </a:ext>
            </a:extLst>
          </p:cNvPr>
          <p:cNvSpPr txBox="1"/>
          <p:nvPr/>
        </p:nvSpPr>
        <p:spPr>
          <a:xfrm>
            <a:off x="1277237" y="2115779"/>
            <a:ext cx="11295763" cy="72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i-FI" sz="2400" b="1" dirty="0">
                <a:solidFill>
                  <a:srgbClr val="FF0000"/>
                </a:solidFill>
                <a:latin typeface="Montserrat" panose="00000500000000000000" pitchFamily="2" charset="0"/>
              </a:rPr>
              <a:t>Kenapa untuk Data Numerik Menggunakan Median?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DB2094-922D-90D3-47F3-67556B424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236" y="3238500"/>
            <a:ext cx="6338453" cy="1905000"/>
          </a:xfrm>
          <a:prstGeom prst="rect">
            <a:avLst/>
          </a:prstGeom>
        </p:spPr>
      </p:pic>
      <p:sp>
        <p:nvSpPr>
          <p:cNvPr id="18" name="Kotak Teks 4">
            <a:extLst>
              <a:ext uri="{FF2B5EF4-FFF2-40B4-BE49-F238E27FC236}">
                <a16:creationId xmlns:a16="http://schemas.microsoft.com/office/drawing/2014/main" id="{B6DDD5D5-0C33-FFFD-4B22-F40A4E8CD139}"/>
              </a:ext>
            </a:extLst>
          </p:cNvPr>
          <p:cNvSpPr txBox="1"/>
          <p:nvPr/>
        </p:nvSpPr>
        <p:spPr>
          <a:xfrm>
            <a:off x="1277236" y="4846858"/>
            <a:ext cx="15334364" cy="441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2400" dirty="0">
                <a:latin typeface="Montserrat" panose="00000500000000000000" pitchFamily="2" charset="0"/>
              </a:rPr>
              <a:t>Jika dengan mean, maka Mean terlalu tinggi karena dipengaruhi oleh outlier </a:t>
            </a:r>
            <a:r>
              <a:rPr lang="sv-SE" sz="2400" dirty="0">
                <a:solidFill>
                  <a:srgbClr val="FF0000"/>
                </a:solidFill>
                <a:latin typeface="Montserrat" panose="00000500000000000000" pitchFamily="2" charset="0"/>
              </a:rPr>
              <a:t>1000</a:t>
            </a:r>
            <a:r>
              <a:rPr lang="sv-SE" sz="2400" dirty="0">
                <a:latin typeface="Montserrat" panose="00000500000000000000" pitchFamily="2" charset="0"/>
              </a:rPr>
              <a:t>.</a:t>
            </a:r>
          </a:p>
          <a:p>
            <a:pPr marL="1270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24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Jika Median :</a:t>
            </a:r>
            <a:endParaRPr lang="fi-FI" sz="2400" dirty="0">
              <a:latin typeface="Montserrat" panose="00000500000000000000" pitchFamily="2" charset="0"/>
              <a:ea typeface="Trebuchet MS"/>
              <a:cs typeface="Trebuchet MS"/>
              <a:sym typeface="Trebuchet MS"/>
            </a:endParaRPr>
          </a:p>
          <a:p>
            <a:pPr marL="1270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i-FI" sz="24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kita urutkan: [10, 12, 14, 1000], median = (12 + 14) / 2 = 13 → masih representatif.</a:t>
            </a:r>
          </a:p>
          <a:p>
            <a:pPr marL="1270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i-FI" sz="2400" dirty="0">
              <a:latin typeface="Montserrat" panose="00000500000000000000" pitchFamily="2" charset="0"/>
              <a:ea typeface="Trebuchet MS"/>
              <a:cs typeface="Trebuchet MS"/>
              <a:sym typeface="Trebuchet MS"/>
            </a:endParaRPr>
          </a:p>
          <a:p>
            <a:pPr marL="1270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Montserrat" panose="00000500000000000000" pitchFamily="2" charset="0"/>
              </a:rPr>
              <a:t>Note:</a:t>
            </a:r>
            <a:r>
              <a:rPr lang="en-US" sz="2400" dirty="0">
                <a:latin typeface="Montserrat" panose="00000500000000000000" pitchFamily="2" charset="0"/>
              </a:rPr>
              <a:t> Jika </a:t>
            </a:r>
            <a:r>
              <a:rPr lang="en-US" sz="2400" dirty="0" err="1">
                <a:latin typeface="Montserrat" panose="00000500000000000000" pitchFamily="2" charset="0"/>
              </a:rPr>
              <a:t>distribusi</a:t>
            </a:r>
            <a:r>
              <a:rPr lang="en-US" sz="2400" dirty="0">
                <a:latin typeface="Montserrat" panose="00000500000000000000" pitchFamily="2" charset="0"/>
              </a:rPr>
              <a:t> data </a:t>
            </a:r>
            <a:r>
              <a:rPr lang="en-US" sz="2400" b="1" dirty="0">
                <a:latin typeface="Montserrat" panose="00000500000000000000" pitchFamily="2" charset="0"/>
              </a:rPr>
              <a:t>normal (tidak </a:t>
            </a:r>
            <a:r>
              <a:rPr lang="en-US" sz="2400" b="1" dirty="0" err="1">
                <a:latin typeface="Montserrat" panose="00000500000000000000" pitchFamily="2" charset="0"/>
              </a:rPr>
              <a:t>ada</a:t>
            </a:r>
            <a:r>
              <a:rPr lang="en-US" sz="2400" b="1" dirty="0">
                <a:latin typeface="Montserrat" panose="00000500000000000000" pitchFamily="2" charset="0"/>
              </a:rPr>
              <a:t> outlier)</a:t>
            </a:r>
            <a:r>
              <a:rPr lang="en-US" sz="2400" dirty="0">
                <a:latin typeface="Montserrat" panose="00000500000000000000" pitchFamily="2" charset="0"/>
              </a:rPr>
              <a:t>, </a:t>
            </a:r>
            <a:r>
              <a:rPr lang="en-US" sz="2400" b="1" dirty="0">
                <a:latin typeface="Montserrat" panose="00000500000000000000" pitchFamily="2" charset="0"/>
              </a:rPr>
              <a:t>mean juga </a:t>
            </a:r>
            <a:r>
              <a:rPr lang="en-US" sz="2400" b="1" dirty="0" err="1">
                <a:latin typeface="Montserrat" panose="00000500000000000000" pitchFamily="2" charset="0"/>
              </a:rPr>
              <a:t>bisa</a:t>
            </a:r>
            <a:r>
              <a:rPr lang="en-US" sz="2400" b="1" dirty="0">
                <a:latin typeface="Montserrat" panose="00000500000000000000" pitchFamily="2" charset="0"/>
              </a:rPr>
              <a:t> </a:t>
            </a:r>
            <a:r>
              <a:rPr lang="en-US" sz="2400" b="1" dirty="0" err="1">
                <a:latin typeface="Montserrat" panose="00000500000000000000" pitchFamily="2" charset="0"/>
              </a:rPr>
              <a:t>digunakan</a:t>
            </a:r>
            <a:r>
              <a:rPr lang="en-US" sz="2400" dirty="0">
                <a:latin typeface="Montserrat" panose="00000500000000000000" pitchFamily="2" charset="0"/>
              </a:rPr>
              <a:t> sebagai </a:t>
            </a:r>
            <a:r>
              <a:rPr lang="en-US" sz="2400" dirty="0" err="1">
                <a:latin typeface="Montserrat" panose="00000500000000000000" pitchFamily="2" charset="0"/>
              </a:rPr>
              <a:t>pengganti</a:t>
            </a:r>
            <a:r>
              <a:rPr lang="en-US" sz="2400" dirty="0">
                <a:latin typeface="Montserrat" panose="00000500000000000000" pitchFamily="2" charset="0"/>
              </a:rPr>
              <a:t>.</a:t>
            </a:r>
            <a:endParaRPr lang="en-US" sz="2400" dirty="0">
              <a:latin typeface="Montserrat" panose="00000500000000000000" pitchFamily="2" charset="0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040724189"/>
      </p:ext>
    </p:extLst>
  </p:cSld>
  <p:clrMapOvr>
    <a:masterClrMapping/>
  </p:clrMapOvr>
  <p:transition spd="slow">
    <p:cover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FDE705-A17D-B10E-366D-58793C391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24027DE-7AE1-BF54-769C-C7AD9A0FA66C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148C455-D37E-FAEC-6F60-ADFF49D45B0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8C7A1A9-951C-9997-2A63-568456A9A0A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33DCBDE-F77B-51E9-3EE5-4093C3755F37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C7D6732-41C9-D766-818F-3EE05B0C01E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48EB0CC-1F51-65FB-1BEF-089EB796BFF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288B8B9D-FA19-6F49-CA6B-5E01FCB47A95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3AFB2E3-175B-7D17-C1C6-94FB3696C20A}"/>
              </a:ext>
            </a:extLst>
          </p:cNvPr>
          <p:cNvSpPr txBox="1"/>
          <p:nvPr/>
        </p:nvSpPr>
        <p:spPr>
          <a:xfrm>
            <a:off x="766657" y="1047312"/>
            <a:ext cx="141075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Handling Missing Value</a:t>
            </a:r>
          </a:p>
        </p:txBody>
      </p:sp>
      <p:sp>
        <p:nvSpPr>
          <p:cNvPr id="11" name="Kotak Teks 4">
            <a:extLst>
              <a:ext uri="{FF2B5EF4-FFF2-40B4-BE49-F238E27FC236}">
                <a16:creationId xmlns:a16="http://schemas.microsoft.com/office/drawing/2014/main" id="{C92D5447-BB77-D05A-5A0B-8991FC7E926F}"/>
              </a:ext>
            </a:extLst>
          </p:cNvPr>
          <p:cNvSpPr txBox="1"/>
          <p:nvPr/>
        </p:nvSpPr>
        <p:spPr>
          <a:xfrm>
            <a:off x="1143000" y="1852451"/>
            <a:ext cx="14935200" cy="367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0000"/>
                </a:solidFill>
                <a:latin typeface="Montserrat" panose="00000500000000000000" pitchFamily="2" charset="0"/>
              </a:rPr>
              <a:t>Kenapa untuk Data </a:t>
            </a:r>
            <a:r>
              <a:rPr lang="en-US" sz="2400" b="1" dirty="0" err="1">
                <a:solidFill>
                  <a:srgbClr val="FF0000"/>
                </a:solidFill>
                <a:latin typeface="Montserrat" panose="00000500000000000000" pitchFamily="2" charset="0"/>
              </a:rPr>
              <a:t>Kategorik</a:t>
            </a:r>
            <a:r>
              <a:rPr lang="en-US" sz="2400" b="1" dirty="0">
                <a:solidFill>
                  <a:srgbClr val="FF0000"/>
                </a:solidFill>
                <a:latin typeface="Montserrat" panose="00000500000000000000" pitchFamily="2" charset="0"/>
              </a:rPr>
              <a:t> Menggunakan Mode/modus?</a:t>
            </a:r>
          </a:p>
          <a:p>
            <a:pPr marL="1270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>
                <a:latin typeface="Montserrat" panose="00000500000000000000" pitchFamily="2" charset="0"/>
              </a:rPr>
              <a:t>Alasan </a:t>
            </a:r>
            <a:r>
              <a:rPr lang="en-US" sz="2400" u="sng" dirty="0" err="1">
                <a:latin typeface="Montserrat" panose="00000500000000000000" pitchFamily="2" charset="0"/>
              </a:rPr>
              <a:t>utama</a:t>
            </a:r>
            <a:r>
              <a:rPr lang="en-US" sz="2400" u="sng" dirty="0">
                <a:latin typeface="Montserrat" panose="00000500000000000000" pitchFamily="2" charset="0"/>
              </a:rPr>
              <a:t>: </a:t>
            </a:r>
            <a:r>
              <a:rPr lang="en-US" sz="2400" dirty="0">
                <a:latin typeface="Montserrat" panose="00000500000000000000" pitchFamily="2" charset="0"/>
              </a:rPr>
              <a:t>Mode </a:t>
            </a:r>
            <a:r>
              <a:rPr lang="en-US" sz="2400" dirty="0" err="1">
                <a:latin typeface="Montserrat" panose="00000500000000000000" pitchFamily="2" charset="0"/>
              </a:rPr>
              <a:t>atau</a:t>
            </a:r>
            <a:r>
              <a:rPr lang="en-US" sz="2400" dirty="0">
                <a:latin typeface="Montserrat" panose="00000500000000000000" pitchFamily="2" charset="0"/>
              </a:rPr>
              <a:t> Modus adalah </a:t>
            </a:r>
            <a:r>
              <a:rPr lang="en-US" sz="2400" dirty="0" err="1">
                <a:latin typeface="Montserrat" panose="00000500000000000000" pitchFamily="2" charset="0"/>
              </a:rPr>
              <a:t>nilai</a:t>
            </a:r>
            <a:r>
              <a:rPr lang="en-US" sz="2400" dirty="0">
                <a:latin typeface="Montserrat" panose="00000500000000000000" pitchFamily="2" charset="0"/>
              </a:rPr>
              <a:t> yang paling </a:t>
            </a:r>
            <a:r>
              <a:rPr lang="en-US" sz="2400" dirty="0" err="1">
                <a:latin typeface="Montserrat" panose="00000500000000000000" pitchFamily="2" charset="0"/>
              </a:rPr>
              <a:t>sering</a:t>
            </a:r>
            <a:r>
              <a:rPr lang="en-US" sz="2400" dirty="0">
                <a:latin typeface="Montserrat" panose="00000500000000000000" pitchFamily="2" charset="0"/>
              </a:rPr>
              <a:t> muncul, sehingga </a:t>
            </a:r>
            <a:r>
              <a:rPr lang="en-US" sz="2400" dirty="0" err="1">
                <a:latin typeface="Montserrat" panose="00000500000000000000" pitchFamily="2" charset="0"/>
              </a:rPr>
              <a:t>mewakili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tren</a:t>
            </a:r>
            <a:r>
              <a:rPr lang="en-US" sz="2400" dirty="0">
                <a:latin typeface="Montserrat" panose="00000500000000000000" pitchFamily="2" charset="0"/>
              </a:rPr>
              <a:t> data.</a:t>
            </a:r>
          </a:p>
          <a:p>
            <a:pPr marL="1270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Contoh:</a:t>
            </a:r>
          </a:p>
          <a:p>
            <a:pPr marL="1270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rgbClr val="FF0000"/>
              </a:solidFill>
              <a:latin typeface="Montserrat" panose="00000500000000000000" pitchFamily="2" charset="0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DA114BE-BE95-092E-7E4D-220B114DA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999" y="4880365"/>
            <a:ext cx="8001001" cy="122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025685"/>
      </p:ext>
    </p:extLst>
  </p:cSld>
  <p:clrMapOvr>
    <a:masterClrMapping/>
  </p:clrMapOvr>
  <p:transition spd="slow">
    <p:cover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FA8156-BE4F-2E8A-BA28-BD69C4386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627CFFA-5316-B25D-30FD-4F9892BF2F96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8884D73-8BD7-0F39-76EA-CA02EF09747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072B53A-FB9E-25A0-4D51-6ED590A69C2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B31BF69-345C-4A23-BBAD-583806D687C8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D2BA1DB-9F0E-8B92-94D7-C17609F94A0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23F107D-715B-3E61-CD15-018E1A03E35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E0F7F58-001A-3B4F-0A1E-F59BC7223EB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FB8D12A-FC1F-B6D5-0240-4303E8D5AA53}"/>
              </a:ext>
            </a:extLst>
          </p:cNvPr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ctr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4. Encoder</a:t>
            </a:r>
          </a:p>
        </p:txBody>
      </p:sp>
      <p:sp>
        <p:nvSpPr>
          <p:cNvPr id="13" name="Kotak Teks 4">
            <a:extLst>
              <a:ext uri="{FF2B5EF4-FFF2-40B4-BE49-F238E27FC236}">
                <a16:creationId xmlns:a16="http://schemas.microsoft.com/office/drawing/2014/main" id="{2C572BD2-A885-8277-9DDF-F8E14B69905F}"/>
              </a:ext>
            </a:extLst>
          </p:cNvPr>
          <p:cNvSpPr txBox="1"/>
          <p:nvPr/>
        </p:nvSpPr>
        <p:spPr>
          <a:xfrm>
            <a:off x="1828800" y="1915232"/>
            <a:ext cx="14706600" cy="1137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Data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Kategorikal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itu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perlu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dilakukan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encoding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supaya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berubah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menjadi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numerik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data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dengan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pendekatan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teknik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tertentu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,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supaya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bisa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diolah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di Machine Learning. Ada 3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jenis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tipe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Kategori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:</a:t>
            </a:r>
            <a:endParaRPr lang="en-US" sz="2400" dirty="0">
              <a:latin typeface="Montserrat" panose="00000500000000000000" pitchFamily="2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4" name="Kotak Teks 6">
            <a:extLst>
              <a:ext uri="{FF2B5EF4-FFF2-40B4-BE49-F238E27FC236}">
                <a16:creationId xmlns:a16="http://schemas.microsoft.com/office/drawing/2014/main" id="{C8DACACF-37D4-B39F-B89B-8F0898A6B649}"/>
              </a:ext>
            </a:extLst>
          </p:cNvPr>
          <p:cNvSpPr txBox="1"/>
          <p:nvPr/>
        </p:nvSpPr>
        <p:spPr>
          <a:xfrm>
            <a:off x="1828800" y="3405785"/>
            <a:ext cx="14706600" cy="3907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nn-NO" sz="2400" dirty="0">
                <a:latin typeface="Montserrat" panose="00000500000000000000" pitchFamily="2" charset="0"/>
              </a:rPr>
              <a:t>Data nominal tidak memiliki tingkatan.</a:t>
            </a:r>
          </a:p>
          <a:p>
            <a:pPr marL="1270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nn-NO" sz="2400" dirty="0">
                <a:solidFill>
                  <a:srgbClr val="FF0000"/>
                </a:solidFill>
                <a:latin typeface="Montserrat" panose="00000500000000000000" pitchFamily="2" charset="0"/>
              </a:rPr>
              <a:t>Contoh : gender, Tipe Lokasi kerja, dst</a:t>
            </a:r>
          </a:p>
          <a:p>
            <a:pPr marL="127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24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2. Data Ordinal : </a:t>
            </a:r>
            <a:r>
              <a:rPr lang="nn-NO" sz="2400" dirty="0">
                <a:latin typeface="Montserrat" panose="00000500000000000000" pitchFamily="2" charset="0"/>
              </a:rPr>
              <a:t>Data ordinal adalah data diskrit yang </a:t>
            </a:r>
          </a:p>
          <a:p>
            <a:pPr marL="127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2400" dirty="0">
                <a:latin typeface="Montserrat" panose="00000500000000000000" pitchFamily="2" charset="0"/>
              </a:rPr>
              <a:t>mengandung urutan. </a:t>
            </a:r>
          </a:p>
          <a:p>
            <a:pPr marL="127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2400" dirty="0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Contoh : Tingkatan pendidikan, tingkatan level jabatan dst.</a:t>
            </a:r>
          </a:p>
          <a:p>
            <a:pPr marL="127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24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3. Data Kardinalitas : tipe kategorik yang memiliki nilai yang banyak </a:t>
            </a:r>
            <a:r>
              <a:rPr lang="nn-NO" sz="2400" i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(perspektif)</a:t>
            </a:r>
            <a:r>
              <a:rPr lang="nn-NO" sz="24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dan unik di dalam suatu kolom dan bersifat nominal </a:t>
            </a:r>
            <a:r>
              <a:rPr lang="nn-NO" sz="2400" dirty="0">
                <a:latin typeface="Montserrat" panose="00000500000000000000" pitchFamily="2" charset="0"/>
              </a:rPr>
              <a:t>tidak memiliki tingkatan.</a:t>
            </a:r>
            <a:endParaRPr lang="en-US" sz="2400" dirty="0">
              <a:latin typeface="Montserrat" panose="00000500000000000000" pitchFamily="2" charset="0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031846678"/>
      </p:ext>
    </p:extLst>
  </p:cSld>
  <p:clrMapOvr>
    <a:masterClrMapping/>
  </p:clrMapOvr>
  <p:transition spd="slow">
    <p:cover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59C36A-18BC-756D-8C9A-EDC282ABF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ambar 19">
            <a:extLst>
              <a:ext uri="{FF2B5EF4-FFF2-40B4-BE49-F238E27FC236}">
                <a16:creationId xmlns:a16="http://schemas.microsoft.com/office/drawing/2014/main" id="{2F9EE78C-3005-8F68-3D9A-61CDAA681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2" y="4404337"/>
            <a:ext cx="7523780" cy="1265777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C4C58C04-0043-9104-3CC6-15F3346475F8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0B3F36E-9FDF-F004-34C4-C56CA7EE786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4EEA8DA-4FDA-A726-08AD-E1E8A54276A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18843DE-D255-05E0-2A59-CBC575310EA4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E6FE980-49F2-E784-F4C3-CB422010AB5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D51FFCC-88C2-3237-596F-94A2399F4EA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3B16A94F-588B-CE45-5C60-240C219A992A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1E84F7E-2D6B-282B-5980-505B064E9EF2}"/>
              </a:ext>
            </a:extLst>
          </p:cNvPr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Encoder</a:t>
            </a:r>
          </a:p>
        </p:txBody>
      </p:sp>
      <p:sp>
        <p:nvSpPr>
          <p:cNvPr id="9" name="Google Shape;184;g1400b17b2d9_2_77">
            <a:extLst>
              <a:ext uri="{FF2B5EF4-FFF2-40B4-BE49-F238E27FC236}">
                <a16:creationId xmlns:a16="http://schemas.microsoft.com/office/drawing/2014/main" id="{C71E0614-AD6C-9675-E7C9-DAA4E0822005}"/>
              </a:ext>
            </a:extLst>
          </p:cNvPr>
          <p:cNvSpPr txBox="1"/>
          <p:nvPr/>
        </p:nvSpPr>
        <p:spPr>
          <a:xfrm>
            <a:off x="2549080" y="7036225"/>
            <a:ext cx="4424217" cy="222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/>
          <a:p>
            <a:pPr marL="12700" marR="4445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Label Encoder : </a:t>
            </a:r>
          </a:p>
          <a:p>
            <a:pPr marL="12700" marR="4445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a. Yes -&gt; 1, No -&gt; 0</a:t>
            </a:r>
          </a:p>
          <a:p>
            <a:pPr marL="12700" marR="4445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b. Tingkat Pendidikan :</a:t>
            </a:r>
          </a:p>
          <a:p>
            <a:pPr marL="12700" marR="4445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SMP -&gt; 1, SMA -&gt; 2, S1 -&gt; 3 </a:t>
            </a:r>
            <a:endParaRPr sz="2400" dirty="0">
              <a:latin typeface="Montserrat" panose="00000500000000000000" pitchFamily="2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10" name="Google Shape;188;g1400b17b2d9_2_77">
            <a:extLst>
              <a:ext uri="{FF2B5EF4-FFF2-40B4-BE49-F238E27FC236}">
                <a16:creationId xmlns:a16="http://schemas.microsoft.com/office/drawing/2014/main" id="{C1C67B54-27CA-CF0E-6444-3A3CBDC7AF7A}"/>
              </a:ext>
            </a:extLst>
          </p:cNvPr>
          <p:cNvSpPr/>
          <p:nvPr/>
        </p:nvSpPr>
        <p:spPr>
          <a:xfrm>
            <a:off x="1639230" y="1736144"/>
            <a:ext cx="711058" cy="711058"/>
          </a:xfrm>
          <a:custGeom>
            <a:avLst/>
            <a:gdLst/>
            <a:ahLst/>
            <a:cxnLst/>
            <a:rect l="l" t="t" r="r" b="b"/>
            <a:pathLst>
              <a:path w="817245" h="817244" extrusionOk="0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11" name="Google Shape;189;g1400b17b2d9_2_77">
            <a:extLst>
              <a:ext uri="{FF2B5EF4-FFF2-40B4-BE49-F238E27FC236}">
                <a16:creationId xmlns:a16="http://schemas.microsoft.com/office/drawing/2014/main" id="{F52487C8-7D1E-98D2-8441-792CADA42CC6}"/>
              </a:ext>
            </a:extLst>
          </p:cNvPr>
          <p:cNvSpPr txBox="1"/>
          <p:nvPr/>
        </p:nvSpPr>
        <p:spPr>
          <a:xfrm>
            <a:off x="1941666" y="1921918"/>
            <a:ext cx="106500" cy="375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anose="00000500000000000000" pitchFamily="2" charset="0"/>
                <a:ea typeface="Georgia"/>
                <a:cs typeface="Georgia"/>
                <a:sym typeface="Georgia"/>
              </a:rPr>
              <a:t>1</a:t>
            </a:r>
            <a:endParaRPr sz="2400" dirty="0">
              <a:latin typeface="Montserrat" panose="00000500000000000000" pitchFamily="2" charset="0"/>
              <a:ea typeface="Georgia"/>
              <a:cs typeface="Georgia"/>
              <a:sym typeface="Georgia"/>
            </a:endParaRPr>
          </a:p>
        </p:txBody>
      </p:sp>
      <p:sp>
        <p:nvSpPr>
          <p:cNvPr id="16" name="Google Shape;191;g1400b17b2d9_2_77">
            <a:extLst>
              <a:ext uri="{FF2B5EF4-FFF2-40B4-BE49-F238E27FC236}">
                <a16:creationId xmlns:a16="http://schemas.microsoft.com/office/drawing/2014/main" id="{6982BD2D-4702-C4BE-4C02-677288FC9BEC}"/>
              </a:ext>
            </a:extLst>
          </p:cNvPr>
          <p:cNvSpPr txBox="1"/>
          <p:nvPr/>
        </p:nvSpPr>
        <p:spPr>
          <a:xfrm>
            <a:off x="9747356" y="7056279"/>
            <a:ext cx="141816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2000"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" name="Kotak Teks 7">
            <a:extLst>
              <a:ext uri="{FF2B5EF4-FFF2-40B4-BE49-F238E27FC236}">
                <a16:creationId xmlns:a16="http://schemas.microsoft.com/office/drawing/2014/main" id="{65D67F09-B128-3847-333C-940F28A04B2E}"/>
              </a:ext>
            </a:extLst>
          </p:cNvPr>
          <p:cNvSpPr txBox="1"/>
          <p:nvPr/>
        </p:nvSpPr>
        <p:spPr>
          <a:xfrm>
            <a:off x="2350288" y="1858915"/>
            <a:ext cx="5498312" cy="48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44450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One Hot Encoding (OHE) :</a:t>
            </a:r>
            <a:endParaRPr lang="en-US" sz="2400" b="1" dirty="0">
              <a:latin typeface="Montserrat" panose="00000500000000000000" pitchFamily="2" charset="0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" name="Gambar 9">
            <a:extLst>
              <a:ext uri="{FF2B5EF4-FFF2-40B4-BE49-F238E27FC236}">
                <a16:creationId xmlns:a16="http://schemas.microsoft.com/office/drawing/2014/main" id="{73568AF9-60C2-AA66-517B-2F45DE31A4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9080" y="2468614"/>
            <a:ext cx="1141597" cy="2367133"/>
          </a:xfrm>
          <a:prstGeom prst="rect">
            <a:avLst/>
          </a:prstGeom>
        </p:spPr>
      </p:pic>
      <p:sp>
        <p:nvSpPr>
          <p:cNvPr id="19" name="Panah: Kanan 10">
            <a:extLst>
              <a:ext uri="{FF2B5EF4-FFF2-40B4-BE49-F238E27FC236}">
                <a16:creationId xmlns:a16="http://schemas.microsoft.com/office/drawing/2014/main" id="{65AC4FF9-5CDD-F1C8-C97D-23A04D272C17}"/>
              </a:ext>
            </a:extLst>
          </p:cNvPr>
          <p:cNvSpPr/>
          <p:nvPr/>
        </p:nvSpPr>
        <p:spPr>
          <a:xfrm>
            <a:off x="4080881" y="3626391"/>
            <a:ext cx="766022" cy="2601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" name="Gambar 12">
            <a:extLst>
              <a:ext uri="{FF2B5EF4-FFF2-40B4-BE49-F238E27FC236}">
                <a16:creationId xmlns:a16="http://schemas.microsoft.com/office/drawing/2014/main" id="{CE1D836E-70A0-1D8D-85FD-3E1E0FD0FF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7107" y="2423279"/>
            <a:ext cx="4342442" cy="2412467"/>
          </a:xfrm>
          <a:prstGeom prst="rect">
            <a:avLst/>
          </a:prstGeom>
        </p:spPr>
      </p:pic>
      <p:sp>
        <p:nvSpPr>
          <p:cNvPr id="21" name="Kotak Teks 14">
            <a:extLst>
              <a:ext uri="{FF2B5EF4-FFF2-40B4-BE49-F238E27FC236}">
                <a16:creationId xmlns:a16="http://schemas.microsoft.com/office/drawing/2014/main" id="{C5BE287A-F36B-4189-6ED1-2049E20B7FC1}"/>
              </a:ext>
            </a:extLst>
          </p:cNvPr>
          <p:cNvSpPr txBox="1"/>
          <p:nvPr/>
        </p:nvSpPr>
        <p:spPr>
          <a:xfrm>
            <a:off x="2414035" y="4849963"/>
            <a:ext cx="7165513" cy="169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4445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Notes : Nilai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kategorik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di data train dan test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haruslah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sama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,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jika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tidak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maka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akan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error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Machine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Learningnya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.</a:t>
            </a:r>
            <a:endParaRPr lang="en-US" sz="2400" dirty="0">
              <a:latin typeface="Montserrat" panose="00000500000000000000" pitchFamily="2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22" name="Google Shape;184;g1400b17b2d9_2_77">
            <a:extLst>
              <a:ext uri="{FF2B5EF4-FFF2-40B4-BE49-F238E27FC236}">
                <a16:creationId xmlns:a16="http://schemas.microsoft.com/office/drawing/2014/main" id="{981DF769-8AE4-8E92-840A-3EA787DC700B}"/>
              </a:ext>
            </a:extLst>
          </p:cNvPr>
          <p:cNvSpPr txBox="1"/>
          <p:nvPr/>
        </p:nvSpPr>
        <p:spPr>
          <a:xfrm>
            <a:off x="11315619" y="1921918"/>
            <a:ext cx="4720108" cy="212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/>
          <a:p>
            <a:pPr marL="12700" marR="444500" lvl="0" indent="0" algn="just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Mean Encoding : </a:t>
            </a:r>
          </a:p>
          <a:p>
            <a:pPr marL="12700" marR="444500" lvl="0" indent="0" algn="just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Nilai rata-rata pada ratio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nilai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di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suatu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kolom</a:t>
            </a:r>
            <a:r>
              <a:rPr lang="en-US" sz="2400" dirty="0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kategorik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yang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bergantung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dengan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ratio </a:t>
            </a:r>
            <a:r>
              <a:rPr lang="en-US" sz="2400" dirty="0" err="1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kolom</a:t>
            </a:r>
            <a:r>
              <a:rPr lang="en-US" sz="24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target</a:t>
            </a:r>
            <a:endParaRPr sz="2400" dirty="0">
              <a:solidFill>
                <a:srgbClr val="FF0000"/>
              </a:solidFill>
              <a:latin typeface="Montserrat" panose="00000500000000000000" pitchFamily="2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26" name="Google Shape;188;g1400b17b2d9_2_77">
            <a:extLst>
              <a:ext uri="{FF2B5EF4-FFF2-40B4-BE49-F238E27FC236}">
                <a16:creationId xmlns:a16="http://schemas.microsoft.com/office/drawing/2014/main" id="{718E1AF0-DA07-6302-8180-53C158FDDD03}"/>
              </a:ext>
            </a:extLst>
          </p:cNvPr>
          <p:cNvSpPr/>
          <p:nvPr/>
        </p:nvSpPr>
        <p:spPr>
          <a:xfrm>
            <a:off x="1639230" y="6836104"/>
            <a:ext cx="711058" cy="711058"/>
          </a:xfrm>
          <a:custGeom>
            <a:avLst/>
            <a:gdLst/>
            <a:ahLst/>
            <a:cxnLst/>
            <a:rect l="l" t="t" r="r" b="b"/>
            <a:pathLst>
              <a:path w="817245" h="817244" extrusionOk="0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27" name="Google Shape;189;g1400b17b2d9_2_77">
            <a:extLst>
              <a:ext uri="{FF2B5EF4-FFF2-40B4-BE49-F238E27FC236}">
                <a16:creationId xmlns:a16="http://schemas.microsoft.com/office/drawing/2014/main" id="{4B1F936D-AA24-D63A-9629-BC10977405E0}"/>
              </a:ext>
            </a:extLst>
          </p:cNvPr>
          <p:cNvSpPr txBox="1"/>
          <p:nvPr/>
        </p:nvSpPr>
        <p:spPr>
          <a:xfrm>
            <a:off x="1941666" y="7021878"/>
            <a:ext cx="106500" cy="375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  <a:ea typeface="Georgia"/>
                <a:cs typeface="Georgia"/>
                <a:sym typeface="Georgia"/>
              </a:rPr>
              <a:t>2</a:t>
            </a:r>
            <a:endParaRPr sz="2400" b="1" dirty="0">
              <a:solidFill>
                <a:schemeClr val="bg1"/>
              </a:solidFill>
              <a:latin typeface="Montserrat" panose="00000500000000000000" pitchFamily="2" charset="0"/>
              <a:ea typeface="Georgia"/>
              <a:cs typeface="Georgia"/>
              <a:sym typeface="Georgia"/>
            </a:endParaRPr>
          </a:p>
        </p:txBody>
      </p:sp>
      <p:sp>
        <p:nvSpPr>
          <p:cNvPr id="28" name="Google Shape;188;g1400b17b2d9_2_77">
            <a:extLst>
              <a:ext uri="{FF2B5EF4-FFF2-40B4-BE49-F238E27FC236}">
                <a16:creationId xmlns:a16="http://schemas.microsoft.com/office/drawing/2014/main" id="{9B726B67-F6FD-CE5E-CA4E-A7CD108865B5}"/>
              </a:ext>
            </a:extLst>
          </p:cNvPr>
          <p:cNvSpPr/>
          <p:nvPr/>
        </p:nvSpPr>
        <p:spPr>
          <a:xfrm>
            <a:off x="10424162" y="1736144"/>
            <a:ext cx="711058" cy="711058"/>
          </a:xfrm>
          <a:custGeom>
            <a:avLst/>
            <a:gdLst/>
            <a:ahLst/>
            <a:cxnLst/>
            <a:rect l="l" t="t" r="r" b="b"/>
            <a:pathLst>
              <a:path w="817245" h="817244" extrusionOk="0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29" name="Google Shape;189;g1400b17b2d9_2_77">
            <a:extLst>
              <a:ext uri="{FF2B5EF4-FFF2-40B4-BE49-F238E27FC236}">
                <a16:creationId xmlns:a16="http://schemas.microsoft.com/office/drawing/2014/main" id="{343684A3-C42C-E63F-5F34-5AAB6C43E703}"/>
              </a:ext>
            </a:extLst>
          </p:cNvPr>
          <p:cNvSpPr txBox="1"/>
          <p:nvPr/>
        </p:nvSpPr>
        <p:spPr>
          <a:xfrm>
            <a:off x="10726598" y="1921918"/>
            <a:ext cx="106500" cy="375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  <a:ea typeface="Georgia"/>
                <a:cs typeface="Georgia"/>
                <a:sym typeface="Georgia"/>
              </a:rPr>
              <a:t>3</a:t>
            </a:r>
            <a:endParaRPr sz="2400" b="1" dirty="0">
              <a:solidFill>
                <a:schemeClr val="bg1"/>
              </a:solidFill>
              <a:latin typeface="Montserrat" panose="00000500000000000000" pitchFamily="2" charset="0"/>
              <a:ea typeface="Georgia"/>
              <a:cs typeface="Georgia"/>
              <a:sym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687164626"/>
      </p:ext>
    </p:extLst>
  </p:cSld>
  <p:clrMapOvr>
    <a:masterClrMapping/>
  </p:clrMapOvr>
  <p:transition spd="slow">
    <p:cover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E6135-6D81-595C-1FAF-9F1E81D51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2060259-0EBE-62D5-FE39-56C969BDF71C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245170D-0DD6-C705-71E5-B667F34FF07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7CDD344-0F13-FCDA-E552-E7CCA38D18C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6CE0235-E2E3-D3C8-16B6-1946720CB846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DD19EB2-17AB-E661-2AA5-70BF4EF5104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C1FD384-ED0F-6252-8930-5185B064004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3D721B73-0BC6-B40A-D56C-ED3A648E9C29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F98A593-8E62-CDB0-9BDC-2BCF4A9EE8C2}"/>
              </a:ext>
            </a:extLst>
          </p:cNvPr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ctr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5. Skala Fitur</a:t>
            </a:r>
          </a:p>
        </p:txBody>
      </p:sp>
      <p:sp>
        <p:nvSpPr>
          <p:cNvPr id="9" name="Kotak Teks 4">
            <a:extLst>
              <a:ext uri="{FF2B5EF4-FFF2-40B4-BE49-F238E27FC236}">
                <a16:creationId xmlns:a16="http://schemas.microsoft.com/office/drawing/2014/main" id="{35AE442C-B965-D01B-50BD-885656C54F6E}"/>
              </a:ext>
            </a:extLst>
          </p:cNvPr>
          <p:cNvSpPr txBox="1"/>
          <p:nvPr/>
        </p:nvSpPr>
        <p:spPr>
          <a:xfrm>
            <a:off x="1066800" y="1694512"/>
            <a:ext cx="16230600" cy="1137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400" dirty="0" err="1">
                <a:latin typeface="Montserrat" panose="00000500000000000000" pitchFamily="2" charset="0"/>
              </a:rPr>
              <a:t>Tujuan</a:t>
            </a:r>
            <a:r>
              <a:rPr lang="en-ID" sz="2400" dirty="0">
                <a:latin typeface="Montserrat" panose="00000500000000000000" pitchFamily="2" charset="0"/>
              </a:rPr>
              <a:t> </a:t>
            </a:r>
            <a:r>
              <a:rPr lang="en-ID" sz="2400" dirty="0" err="1">
                <a:latin typeface="Montserrat" panose="00000500000000000000" pitchFamily="2" charset="0"/>
              </a:rPr>
              <a:t>dari</a:t>
            </a:r>
            <a:r>
              <a:rPr lang="en-ID" sz="2400" dirty="0">
                <a:latin typeface="Montserrat" panose="00000500000000000000" pitchFamily="2" charset="0"/>
              </a:rPr>
              <a:t> feature scaling </a:t>
            </a:r>
            <a:r>
              <a:rPr lang="en-ID" sz="2400" dirty="0" err="1">
                <a:latin typeface="Montserrat" panose="00000500000000000000" pitchFamily="2" charset="0"/>
              </a:rPr>
              <a:t>adalah</a:t>
            </a:r>
            <a:r>
              <a:rPr lang="en-ID" sz="2400" dirty="0">
                <a:latin typeface="Montserrat" panose="00000500000000000000" pitchFamily="2" charset="0"/>
              </a:rPr>
              <a:t> </a:t>
            </a:r>
            <a:r>
              <a:rPr lang="en-ID" sz="2400" dirty="0" err="1">
                <a:latin typeface="Montserrat" panose="00000500000000000000" pitchFamily="2" charset="0"/>
              </a:rPr>
              <a:t>untuk</a:t>
            </a:r>
            <a:r>
              <a:rPr lang="en-ID" sz="2400" dirty="0">
                <a:latin typeface="Montserrat" panose="00000500000000000000" pitchFamily="2" charset="0"/>
              </a:rPr>
              <a:t> </a:t>
            </a:r>
            <a:r>
              <a:rPr lang="en-ID" sz="2400" dirty="0" err="1">
                <a:solidFill>
                  <a:srgbClr val="FF0000"/>
                </a:solidFill>
                <a:latin typeface="Montserrat" panose="00000500000000000000" pitchFamily="2" charset="0"/>
              </a:rPr>
              <a:t>mengubah</a:t>
            </a:r>
            <a:r>
              <a:rPr lang="en-ID" sz="2400" dirty="0">
                <a:solidFill>
                  <a:srgbClr val="FF0000"/>
                </a:solidFill>
                <a:latin typeface="Montserrat" panose="00000500000000000000" pitchFamily="2" charset="0"/>
              </a:rPr>
              <a:t> </a:t>
            </a:r>
            <a:r>
              <a:rPr lang="en-ID" sz="2400" dirty="0" err="1">
                <a:solidFill>
                  <a:srgbClr val="FF0000"/>
                </a:solidFill>
                <a:latin typeface="Montserrat" panose="00000500000000000000" pitchFamily="2" charset="0"/>
              </a:rPr>
              <a:t>skala</a:t>
            </a:r>
            <a:r>
              <a:rPr lang="en-ID" sz="2400" dirty="0">
                <a:solidFill>
                  <a:srgbClr val="FF0000"/>
                </a:solidFill>
                <a:latin typeface="Montserrat" panose="00000500000000000000" pitchFamily="2" charset="0"/>
              </a:rPr>
              <a:t> </a:t>
            </a:r>
            <a:r>
              <a:rPr lang="en-ID" sz="2400" dirty="0" err="1">
                <a:solidFill>
                  <a:srgbClr val="FF0000"/>
                </a:solidFill>
                <a:latin typeface="Montserrat" panose="00000500000000000000" pitchFamily="2" charset="0"/>
              </a:rPr>
              <a:t>nilai-nilai</a:t>
            </a:r>
            <a:r>
              <a:rPr lang="en-ID" sz="2400" dirty="0">
                <a:solidFill>
                  <a:srgbClr val="FF0000"/>
                </a:solidFill>
                <a:latin typeface="Montserrat" panose="00000500000000000000" pitchFamily="2" charset="0"/>
              </a:rPr>
              <a:t> </a:t>
            </a:r>
            <a:r>
              <a:rPr lang="en-ID" sz="2400" dirty="0" err="1">
                <a:latin typeface="Montserrat" panose="00000500000000000000" pitchFamily="2" charset="0"/>
              </a:rPr>
              <a:t>dalam</a:t>
            </a:r>
            <a:r>
              <a:rPr lang="en-ID" sz="2400" dirty="0">
                <a:latin typeface="Montserrat" panose="00000500000000000000" pitchFamily="2" charset="0"/>
              </a:rPr>
              <a:t> </a:t>
            </a:r>
            <a:r>
              <a:rPr lang="en-ID" sz="2400" dirty="0" err="1">
                <a:latin typeface="Montserrat" panose="00000500000000000000" pitchFamily="2" charset="0"/>
              </a:rPr>
              <a:t>fitur</a:t>
            </a:r>
            <a:r>
              <a:rPr lang="en-ID" sz="2400" dirty="0">
                <a:latin typeface="Montserrat" panose="00000500000000000000" pitchFamily="2" charset="0"/>
              </a:rPr>
              <a:t> (</a:t>
            </a:r>
            <a:r>
              <a:rPr lang="en-ID" sz="2400" dirty="0" err="1">
                <a:latin typeface="Montserrat" panose="00000500000000000000" pitchFamily="2" charset="0"/>
              </a:rPr>
              <a:t>kolom</a:t>
            </a:r>
            <a:r>
              <a:rPr lang="en-ID" sz="2400" dirty="0">
                <a:latin typeface="Montserrat" panose="00000500000000000000" pitchFamily="2" charset="0"/>
              </a:rPr>
              <a:t>) data </a:t>
            </a:r>
            <a:r>
              <a:rPr lang="en-ID" sz="2400" dirty="0" err="1">
                <a:latin typeface="Montserrat" panose="00000500000000000000" pitchFamily="2" charset="0"/>
              </a:rPr>
              <a:t>sehingga</a:t>
            </a:r>
            <a:r>
              <a:rPr lang="en-ID" sz="2400" dirty="0">
                <a:latin typeface="Montserrat" panose="00000500000000000000" pitchFamily="2" charset="0"/>
              </a:rPr>
              <a:t> </a:t>
            </a:r>
            <a:r>
              <a:rPr lang="en-ID" sz="2400" dirty="0" err="1">
                <a:latin typeface="Montserrat" panose="00000500000000000000" pitchFamily="2" charset="0"/>
              </a:rPr>
              <a:t>mereka</a:t>
            </a:r>
            <a:r>
              <a:rPr lang="en-ID" sz="2400" dirty="0">
                <a:latin typeface="Montserrat" panose="00000500000000000000" pitchFamily="2" charset="0"/>
              </a:rPr>
              <a:t> </a:t>
            </a:r>
            <a:r>
              <a:rPr lang="en-ID" sz="2400" dirty="0" err="1">
                <a:latin typeface="Montserrat" panose="00000500000000000000" pitchFamily="2" charset="0"/>
              </a:rPr>
              <a:t>memiliki</a:t>
            </a:r>
            <a:r>
              <a:rPr lang="en-ID" sz="2400" dirty="0">
                <a:latin typeface="Montserrat" panose="00000500000000000000" pitchFamily="2" charset="0"/>
              </a:rPr>
              <a:t> </a:t>
            </a:r>
            <a:r>
              <a:rPr lang="en-ID" sz="2400" dirty="0" err="1">
                <a:latin typeface="Montserrat" panose="00000500000000000000" pitchFamily="2" charset="0"/>
              </a:rPr>
              <a:t>rentang</a:t>
            </a:r>
            <a:r>
              <a:rPr lang="en-ID" sz="2400" dirty="0">
                <a:latin typeface="Montserrat" panose="00000500000000000000" pitchFamily="2" charset="0"/>
              </a:rPr>
              <a:t> </a:t>
            </a:r>
            <a:r>
              <a:rPr lang="en-ID" sz="2400" dirty="0" err="1">
                <a:latin typeface="Montserrat" panose="00000500000000000000" pitchFamily="2" charset="0"/>
              </a:rPr>
              <a:t>atau</a:t>
            </a:r>
            <a:r>
              <a:rPr lang="en-ID" sz="2400" dirty="0">
                <a:latin typeface="Montserrat" panose="00000500000000000000" pitchFamily="2" charset="0"/>
              </a:rPr>
              <a:t> </a:t>
            </a:r>
            <a:r>
              <a:rPr lang="en-ID" sz="2400" dirty="0" err="1">
                <a:latin typeface="Montserrat" panose="00000500000000000000" pitchFamily="2" charset="0"/>
              </a:rPr>
              <a:t>skala</a:t>
            </a:r>
            <a:r>
              <a:rPr lang="en-ID" sz="2400" dirty="0">
                <a:latin typeface="Montserrat" panose="00000500000000000000" pitchFamily="2" charset="0"/>
              </a:rPr>
              <a:t> yang </a:t>
            </a:r>
            <a:r>
              <a:rPr lang="en-ID" sz="2400" dirty="0" err="1">
                <a:latin typeface="Montserrat" panose="00000500000000000000" pitchFamily="2" charset="0"/>
              </a:rPr>
              <a:t>serupa</a:t>
            </a:r>
            <a:r>
              <a:rPr lang="en-ID" sz="2400" dirty="0">
                <a:latin typeface="Montserrat" panose="00000500000000000000" pitchFamily="2" charset="0"/>
              </a:rPr>
              <a:t>.</a:t>
            </a:r>
          </a:p>
        </p:txBody>
      </p:sp>
      <p:sp>
        <p:nvSpPr>
          <p:cNvPr id="10" name="Kotak Teks 12">
            <a:extLst>
              <a:ext uri="{FF2B5EF4-FFF2-40B4-BE49-F238E27FC236}">
                <a16:creationId xmlns:a16="http://schemas.microsoft.com/office/drawing/2014/main" id="{3D17D62E-B0BB-B2D1-3B95-CBAAD4EA127E}"/>
              </a:ext>
            </a:extLst>
          </p:cNvPr>
          <p:cNvSpPr txBox="1"/>
          <p:nvPr/>
        </p:nvSpPr>
        <p:spPr>
          <a:xfrm>
            <a:off x="1066800" y="3036450"/>
            <a:ext cx="7543800" cy="224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ID" sz="2400" b="1" dirty="0" err="1">
                <a:latin typeface="Montserrat" panose="00000500000000000000" pitchFamily="2" charset="0"/>
              </a:rPr>
              <a:t>StandardScaler</a:t>
            </a:r>
            <a:endParaRPr lang="en-ID" sz="2400" b="1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ID" sz="2400" dirty="0" err="1">
                <a:latin typeface="Montserrat" panose="00000500000000000000" pitchFamily="2" charset="0"/>
              </a:rPr>
              <a:t>Transformasi</a:t>
            </a:r>
            <a:r>
              <a:rPr lang="en-ID" sz="2400" dirty="0">
                <a:latin typeface="Montserrat" panose="00000500000000000000" pitchFamily="2" charset="0"/>
              </a:rPr>
              <a:t> </a:t>
            </a:r>
            <a:r>
              <a:rPr lang="en-ID" sz="2400" dirty="0" err="1">
                <a:latin typeface="Montserrat" panose="00000500000000000000" pitchFamily="2" charset="0"/>
              </a:rPr>
              <a:t>nilai</a:t>
            </a:r>
            <a:r>
              <a:rPr lang="en-ID" sz="2400" dirty="0">
                <a:latin typeface="Montserrat" panose="00000500000000000000" pitchFamily="2" charset="0"/>
              </a:rPr>
              <a:t> </a:t>
            </a:r>
            <a:r>
              <a:rPr lang="en-ID" sz="2400" dirty="0" err="1">
                <a:latin typeface="Montserrat" panose="00000500000000000000" pitchFamily="2" charset="0"/>
              </a:rPr>
              <a:t>sehingga</a:t>
            </a:r>
            <a:r>
              <a:rPr lang="en-ID" sz="2400" dirty="0">
                <a:latin typeface="Montserrat" panose="00000500000000000000" pitchFamily="2" charset="0"/>
              </a:rPr>
              <a:t> </a:t>
            </a:r>
            <a:r>
              <a:rPr lang="en-ID" sz="2400" dirty="0" err="1">
                <a:latin typeface="Montserrat" panose="00000500000000000000" pitchFamily="2" charset="0"/>
              </a:rPr>
              <a:t>memiliki</a:t>
            </a:r>
            <a:r>
              <a:rPr lang="en-ID" sz="2400" dirty="0">
                <a:latin typeface="Montserrat" panose="00000500000000000000" pitchFamily="2" charset="0"/>
              </a:rPr>
              <a:t> </a:t>
            </a:r>
            <a:r>
              <a:rPr lang="en-ID" sz="2400" dirty="0">
                <a:solidFill>
                  <a:srgbClr val="FF0000"/>
                </a:solidFill>
                <a:latin typeface="Montserrat" panose="00000500000000000000" pitchFamily="2" charset="0"/>
              </a:rPr>
              <a:t>rata-rata</a:t>
            </a:r>
            <a:r>
              <a:rPr lang="en-ID" sz="2400" dirty="0">
                <a:latin typeface="Montserrat" panose="00000500000000000000" pitchFamily="2" charset="0"/>
              </a:rPr>
              <a:t> </a:t>
            </a:r>
            <a:r>
              <a:rPr lang="en-ID" sz="2400" dirty="0" err="1">
                <a:latin typeface="Montserrat" panose="00000500000000000000" pitchFamily="2" charset="0"/>
              </a:rPr>
              <a:t>nol</a:t>
            </a:r>
            <a:r>
              <a:rPr lang="en-ID" sz="2400" dirty="0">
                <a:latin typeface="Montserrat" panose="00000500000000000000" pitchFamily="2" charset="0"/>
              </a:rPr>
              <a:t> (0) dan </a:t>
            </a:r>
            <a:r>
              <a:rPr lang="en-ID" sz="2400" dirty="0" err="1">
                <a:solidFill>
                  <a:srgbClr val="FF0000"/>
                </a:solidFill>
                <a:latin typeface="Montserrat" panose="00000500000000000000" pitchFamily="2" charset="0"/>
              </a:rPr>
              <a:t>standar</a:t>
            </a:r>
            <a:r>
              <a:rPr lang="en-ID" sz="2400" dirty="0">
                <a:solidFill>
                  <a:srgbClr val="FF0000"/>
                </a:solidFill>
                <a:latin typeface="Montserrat" panose="00000500000000000000" pitchFamily="2" charset="0"/>
              </a:rPr>
              <a:t> </a:t>
            </a:r>
            <a:r>
              <a:rPr lang="en-ID" sz="2400" dirty="0" err="1">
                <a:solidFill>
                  <a:srgbClr val="FF0000"/>
                </a:solidFill>
                <a:latin typeface="Montserrat" panose="00000500000000000000" pitchFamily="2" charset="0"/>
              </a:rPr>
              <a:t>deviasi</a:t>
            </a:r>
            <a:r>
              <a:rPr lang="en-ID" sz="2400" dirty="0">
                <a:latin typeface="Montserrat" panose="00000500000000000000" pitchFamily="2" charset="0"/>
              </a:rPr>
              <a:t> </a:t>
            </a:r>
            <a:r>
              <a:rPr lang="en-ID" sz="2400" dirty="0" err="1">
                <a:latin typeface="Montserrat" panose="00000500000000000000" pitchFamily="2" charset="0"/>
              </a:rPr>
              <a:t>satu</a:t>
            </a:r>
            <a:r>
              <a:rPr lang="en-ID" sz="2400" dirty="0">
                <a:latin typeface="Montserrat" panose="00000500000000000000" pitchFamily="2" charset="0"/>
              </a:rPr>
              <a:t> (1).</a:t>
            </a:r>
          </a:p>
          <a:p>
            <a:pPr>
              <a:lnSpc>
                <a:spcPct val="150000"/>
              </a:lnSpc>
            </a:pPr>
            <a:endParaRPr lang="en-ID" sz="2400" b="1" dirty="0">
              <a:latin typeface="Montserrat" panose="00000500000000000000" pitchFamily="2" charset="0"/>
            </a:endParaRPr>
          </a:p>
        </p:txBody>
      </p:sp>
      <p:pic>
        <p:nvPicPr>
          <p:cNvPr id="11" name="Gambar 14">
            <a:extLst>
              <a:ext uri="{FF2B5EF4-FFF2-40B4-BE49-F238E27FC236}">
                <a16:creationId xmlns:a16="http://schemas.microsoft.com/office/drawing/2014/main" id="{D5C07814-C0B3-B64A-D43F-1FF968BD9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994" y="5146509"/>
            <a:ext cx="3803049" cy="1314477"/>
          </a:xfrm>
          <a:prstGeom prst="rect">
            <a:avLst/>
          </a:prstGeom>
        </p:spPr>
      </p:pic>
      <p:pic>
        <p:nvPicPr>
          <p:cNvPr id="15" name="Gambar 16">
            <a:extLst>
              <a:ext uri="{FF2B5EF4-FFF2-40B4-BE49-F238E27FC236}">
                <a16:creationId xmlns:a16="http://schemas.microsoft.com/office/drawing/2014/main" id="{5295F914-B7EF-F1B3-8FC8-BAD1811558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994" y="6568808"/>
            <a:ext cx="7483093" cy="1851291"/>
          </a:xfrm>
          <a:prstGeom prst="rect">
            <a:avLst/>
          </a:prstGeom>
        </p:spPr>
      </p:pic>
      <p:sp>
        <p:nvSpPr>
          <p:cNvPr id="16" name="Kotak Teks 12">
            <a:extLst>
              <a:ext uri="{FF2B5EF4-FFF2-40B4-BE49-F238E27FC236}">
                <a16:creationId xmlns:a16="http://schemas.microsoft.com/office/drawing/2014/main" id="{EC035425-7407-3242-4719-24A793A904C3}"/>
              </a:ext>
            </a:extLst>
          </p:cNvPr>
          <p:cNvSpPr txBox="1"/>
          <p:nvPr/>
        </p:nvSpPr>
        <p:spPr>
          <a:xfrm>
            <a:off x="8839200" y="3073755"/>
            <a:ext cx="7543800" cy="169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400" b="1" dirty="0">
                <a:latin typeface="Montserrat" panose="00000500000000000000" pitchFamily="2" charset="0"/>
              </a:rPr>
              <a:t>2. </a:t>
            </a:r>
            <a:r>
              <a:rPr lang="en-ID" sz="2400" b="1" dirty="0" err="1">
                <a:latin typeface="Montserrat" panose="00000500000000000000" pitchFamily="2" charset="0"/>
              </a:rPr>
              <a:t>MinMaxScaler</a:t>
            </a:r>
            <a:endParaRPr lang="en-ID" sz="2400" b="1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2400" dirty="0">
                <a:latin typeface="Montserrat" panose="00000500000000000000" pitchFamily="2" charset="0"/>
              </a:rPr>
              <a:t>Kolom hasil transformasi berada dalam rentang tertentu, seringkali </a:t>
            </a:r>
            <a:r>
              <a:rPr lang="pt-BR" sz="2400" dirty="0">
                <a:solidFill>
                  <a:srgbClr val="FF0000"/>
                </a:solidFill>
                <a:latin typeface="Montserrat" panose="00000500000000000000" pitchFamily="2" charset="0"/>
              </a:rPr>
              <a:t>antara 0 dan 1</a:t>
            </a:r>
            <a:r>
              <a:rPr lang="pt-BR" sz="2400" dirty="0">
                <a:latin typeface="Montserrat" panose="00000500000000000000" pitchFamily="2" charset="0"/>
              </a:rPr>
              <a:t>.</a:t>
            </a:r>
            <a:endParaRPr lang="en-ID" sz="2400" b="1" dirty="0">
              <a:latin typeface="Montserrat" panose="00000500000000000000" pitchFamily="2" charset="0"/>
            </a:endParaRPr>
          </a:p>
        </p:txBody>
      </p:sp>
      <p:pic>
        <p:nvPicPr>
          <p:cNvPr id="17" name="Gambar 8">
            <a:extLst>
              <a:ext uri="{FF2B5EF4-FFF2-40B4-BE49-F238E27FC236}">
                <a16:creationId xmlns:a16="http://schemas.microsoft.com/office/drawing/2014/main" id="{B7512022-EE6D-08A5-193E-706DF31E5A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9200" y="5143499"/>
            <a:ext cx="6373222" cy="1314477"/>
          </a:xfrm>
          <a:prstGeom prst="rect">
            <a:avLst/>
          </a:prstGeom>
        </p:spPr>
      </p:pic>
      <p:pic>
        <p:nvPicPr>
          <p:cNvPr id="18" name="Gambar 10">
            <a:extLst>
              <a:ext uri="{FF2B5EF4-FFF2-40B4-BE49-F238E27FC236}">
                <a16:creationId xmlns:a16="http://schemas.microsoft.com/office/drawing/2014/main" id="{1DCFA003-41C9-137E-4B38-E9ACA94B20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9200" y="6568807"/>
            <a:ext cx="6629400" cy="190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638367"/>
      </p:ext>
    </p:extLst>
  </p:cSld>
  <p:clrMapOvr>
    <a:masterClrMapping/>
  </p:clrMapOvr>
  <p:transition spd="slow">
    <p:cover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4A154F-CADF-7FF9-BA32-619196301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DCA234C-12F6-F1F8-A258-B5B88B920FF4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31EC634-6D58-F1A1-78E4-05C8D41EAA5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DD578A9-1542-9172-4893-6E8F765C18B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D70758B-6FD0-A559-FA57-122320C49557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2C19953-4D52-710A-8B5D-E5BCB2EB582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4C16A83-4BF8-3721-B240-A4ECDF8319A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74F73DC0-143B-DE41-3BC0-3C8AA4EB6C13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7E3E8B8-7E9A-4C68-560B-3B7D1D771530}"/>
              </a:ext>
            </a:extLst>
          </p:cNvPr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5. Skala Fitur</a:t>
            </a:r>
          </a:p>
        </p:txBody>
      </p:sp>
      <p:sp>
        <p:nvSpPr>
          <p:cNvPr id="13" name="Kotak Teks 3">
            <a:extLst>
              <a:ext uri="{FF2B5EF4-FFF2-40B4-BE49-F238E27FC236}">
                <a16:creationId xmlns:a16="http://schemas.microsoft.com/office/drawing/2014/main" id="{A94A59CA-7420-F3A7-6A52-4682465D9D7D}"/>
              </a:ext>
            </a:extLst>
          </p:cNvPr>
          <p:cNvSpPr txBox="1"/>
          <p:nvPr/>
        </p:nvSpPr>
        <p:spPr>
          <a:xfrm>
            <a:off x="4267200" y="1943100"/>
            <a:ext cx="11456021" cy="815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indent="0" algn="just" rtl="0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Kapan </a:t>
            </a:r>
            <a:r>
              <a:rPr lang="en-US" sz="4400" dirty="0" err="1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memakai</a:t>
            </a:r>
            <a:r>
              <a:rPr lang="en-US" sz="4400" dirty="0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standarscaller</a:t>
            </a:r>
            <a:r>
              <a:rPr lang="en-US" sz="4400" b="1" dirty="0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4400" dirty="0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??</a:t>
            </a:r>
          </a:p>
        </p:txBody>
      </p:sp>
      <p:sp>
        <p:nvSpPr>
          <p:cNvPr id="14" name="Kotak Teks 7">
            <a:extLst>
              <a:ext uri="{FF2B5EF4-FFF2-40B4-BE49-F238E27FC236}">
                <a16:creationId xmlns:a16="http://schemas.microsoft.com/office/drawing/2014/main" id="{DB559BA9-B9FC-8063-321B-CCA76DA3A07A}"/>
              </a:ext>
            </a:extLst>
          </p:cNvPr>
          <p:cNvSpPr txBox="1"/>
          <p:nvPr/>
        </p:nvSpPr>
        <p:spPr>
          <a:xfrm>
            <a:off x="1447800" y="3262084"/>
            <a:ext cx="14782800" cy="5569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Standard Scaler (Z-Score Scaling)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: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Biasanya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digunakan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saat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altLang="en-US" sz="2400" dirty="0" err="1">
                <a:latin typeface="Montserrat" panose="00000500000000000000" pitchFamily="2" charset="0"/>
              </a:rPr>
              <a:t>kita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ingin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menjaga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distribusi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data tetap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mendekati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distribusi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normal (dengan rata-rata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nol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dan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deviasi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standar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satu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).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Cocok untuk algoritma yang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bergantung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pada perbedaan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jarak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antar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data, seperti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regresi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logistik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, SVM, dan k-means clustering.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Berguna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saat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data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memiliki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outlier yang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signifikan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karena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scaling dengan z-score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lebih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tahan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terhadap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outlier.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400" dirty="0">
              <a:latin typeface="Montserrat" panose="00000500000000000000" pitchFamily="2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Kekurangan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: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b="1" dirty="0">
                <a:latin typeface="Montserrat" panose="00000500000000000000" pitchFamily="2" charset="0"/>
              </a:rPr>
              <a:t>Tidak </a:t>
            </a:r>
            <a:r>
              <a:rPr lang="en-US" sz="2400" b="1" dirty="0" err="1">
                <a:latin typeface="Montserrat" panose="00000500000000000000" pitchFamily="2" charset="0"/>
              </a:rPr>
              <a:t>membatasi</a:t>
            </a:r>
            <a:r>
              <a:rPr lang="en-US" sz="2400" b="1" dirty="0">
                <a:latin typeface="Montserrat" panose="00000500000000000000" pitchFamily="2" charset="0"/>
              </a:rPr>
              <a:t> </a:t>
            </a:r>
            <a:r>
              <a:rPr lang="en-US" sz="2400" b="1" dirty="0" err="1">
                <a:latin typeface="Montserrat" panose="00000500000000000000" pitchFamily="2" charset="0"/>
              </a:rPr>
              <a:t>nilai</a:t>
            </a:r>
            <a:r>
              <a:rPr lang="en-US" sz="2400" b="1" dirty="0">
                <a:latin typeface="Montserrat" panose="00000500000000000000" pitchFamily="2" charset="0"/>
              </a:rPr>
              <a:t> dalam </a:t>
            </a:r>
            <a:r>
              <a:rPr lang="en-US" sz="2400" b="1" dirty="0" err="1">
                <a:latin typeface="Montserrat" panose="00000500000000000000" pitchFamily="2" charset="0"/>
              </a:rPr>
              <a:t>rentang</a:t>
            </a:r>
            <a:r>
              <a:rPr lang="en-US" sz="2400" b="1" dirty="0">
                <a:latin typeface="Montserrat" panose="00000500000000000000" pitchFamily="2" charset="0"/>
              </a:rPr>
              <a:t> </a:t>
            </a:r>
            <a:r>
              <a:rPr lang="en-US" sz="2400" b="1" dirty="0" err="1">
                <a:latin typeface="Montserrat" panose="00000500000000000000" pitchFamily="2" charset="0"/>
              </a:rPr>
              <a:t>tertentu</a:t>
            </a:r>
            <a:r>
              <a:rPr lang="en-US" sz="2400" dirty="0">
                <a:latin typeface="Montserrat" panose="00000500000000000000" pitchFamily="2" charset="0"/>
              </a:rPr>
              <a:t>, sehingga </a:t>
            </a:r>
            <a:r>
              <a:rPr lang="en-US" sz="2400" dirty="0" err="1">
                <a:latin typeface="Montserrat" panose="00000500000000000000" pitchFamily="2" charset="0"/>
              </a:rPr>
              <a:t>interpretasi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angka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lebih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sulit</a:t>
            </a:r>
            <a:r>
              <a:rPr lang="en-US" sz="2400" dirty="0">
                <a:latin typeface="Montserrat" panose="00000500000000000000" pitchFamily="2" charset="0"/>
              </a:rPr>
              <a:t>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545687"/>
      </p:ext>
    </p:extLst>
  </p:cSld>
  <p:clrMapOvr>
    <a:masterClrMapping/>
  </p:clrMapOvr>
  <p:transition spd="slow">
    <p:cover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8B9D00-F510-A02A-25A8-DD0E5B92D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DC492D-33EA-83DC-FC6A-BDADD1D46E68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F0C2E57-AB8A-3371-C0D1-1F816488D36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8196AD3-2510-2DA3-FB49-0FF3A56B9B7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B869C7A-DC7E-4952-F3A2-FEFA2AE7A556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1A2F7FC-D4D8-AC07-B962-EAF3AA2E53F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62EBFBF-060B-D132-F40D-CF9923C1A83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7F920E4-914F-7CD2-E196-5CBBB0219584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0CA3B52-CB95-A2A8-416C-33D4516F5D03}"/>
              </a:ext>
            </a:extLst>
          </p:cNvPr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5. Skala Fitur</a:t>
            </a:r>
          </a:p>
        </p:txBody>
      </p:sp>
      <p:sp>
        <p:nvSpPr>
          <p:cNvPr id="13" name="Kotak Teks 3">
            <a:extLst>
              <a:ext uri="{FF2B5EF4-FFF2-40B4-BE49-F238E27FC236}">
                <a16:creationId xmlns:a16="http://schemas.microsoft.com/office/drawing/2014/main" id="{89B276A7-84FD-87F2-406B-9B0F6FF19892}"/>
              </a:ext>
            </a:extLst>
          </p:cNvPr>
          <p:cNvSpPr txBox="1"/>
          <p:nvPr/>
        </p:nvSpPr>
        <p:spPr>
          <a:xfrm>
            <a:off x="4267200" y="1943100"/>
            <a:ext cx="11456021" cy="815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indent="0" algn="just" rtl="0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Kapan </a:t>
            </a:r>
            <a:r>
              <a:rPr lang="en-US" sz="4400" dirty="0" err="1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memakai</a:t>
            </a:r>
            <a:r>
              <a:rPr lang="en-US" sz="4400" dirty="0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minmaxscaler</a:t>
            </a:r>
            <a:r>
              <a:rPr lang="en-US" sz="4400" b="1" dirty="0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4400" dirty="0">
                <a:solidFill>
                  <a:srgbClr val="FF0000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??</a:t>
            </a:r>
          </a:p>
        </p:txBody>
      </p:sp>
      <p:sp>
        <p:nvSpPr>
          <p:cNvPr id="9" name="Kotak Teks 7">
            <a:extLst>
              <a:ext uri="{FF2B5EF4-FFF2-40B4-BE49-F238E27FC236}">
                <a16:creationId xmlns:a16="http://schemas.microsoft.com/office/drawing/2014/main" id="{BC6449EB-16C5-8B0A-BC18-7D26D138B388}"/>
              </a:ext>
            </a:extLst>
          </p:cNvPr>
          <p:cNvSpPr txBox="1"/>
          <p:nvPr/>
        </p:nvSpPr>
        <p:spPr>
          <a:xfrm>
            <a:off x="1905000" y="3234411"/>
            <a:ext cx="13652811" cy="612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Min-Max Scaler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: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Biasanya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digunakan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ketika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kita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ingin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mengubah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data ke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rentang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tertentu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, seperti [0, 1]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atau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[-1, 1].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Cocok untuk algoritma yang tidak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bergantung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pada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distribusi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data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atau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jarak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antar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data, seperti decision trees, random forests, dan neural networks.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Berguna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saat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data Anda tidak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memiliki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asumsi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distribusi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normal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atau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kita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ingin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menjaga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interpretabilitas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rentang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asli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data.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 err="1">
                <a:latin typeface="Montserrat" panose="00000500000000000000" pitchFamily="2" charset="0"/>
              </a:rPr>
              <a:t>Kekurangan</a:t>
            </a:r>
            <a:r>
              <a:rPr lang="en-US" altLang="en-US" sz="2400" b="1" dirty="0">
                <a:latin typeface="Montserrat" panose="00000500000000000000" pitchFamily="2" charset="0"/>
              </a:rPr>
              <a:t>: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latin typeface="Montserrat" panose="00000500000000000000" pitchFamily="2" charset="0"/>
              </a:rPr>
              <a:t>Sangat </a:t>
            </a:r>
            <a:r>
              <a:rPr lang="en-US" sz="2400" b="1" dirty="0" err="1">
                <a:latin typeface="Montserrat" panose="00000500000000000000" pitchFamily="2" charset="0"/>
              </a:rPr>
              <a:t>sensitif</a:t>
            </a:r>
            <a:r>
              <a:rPr lang="en-US" sz="2400" b="1" dirty="0">
                <a:latin typeface="Montserrat" panose="00000500000000000000" pitchFamily="2" charset="0"/>
              </a:rPr>
              <a:t> </a:t>
            </a:r>
            <a:r>
              <a:rPr lang="en-US" sz="2400" b="1" dirty="0" err="1">
                <a:latin typeface="Montserrat" panose="00000500000000000000" pitchFamily="2" charset="0"/>
              </a:rPr>
              <a:t>terhadap</a:t>
            </a:r>
            <a:r>
              <a:rPr lang="en-US" sz="2400" b="1" dirty="0">
                <a:latin typeface="Montserrat" panose="00000500000000000000" pitchFamily="2" charset="0"/>
              </a:rPr>
              <a:t> outlier</a:t>
            </a:r>
            <a:r>
              <a:rPr lang="en-US" sz="2400" dirty="0">
                <a:latin typeface="Montserrat" panose="00000500000000000000" pitchFamily="2" charset="0"/>
              </a:rPr>
              <a:t>, </a:t>
            </a:r>
            <a:r>
              <a:rPr lang="en-US" sz="2400" dirty="0" err="1">
                <a:latin typeface="Montserrat" panose="00000500000000000000" pitchFamily="2" charset="0"/>
              </a:rPr>
              <a:t>karena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rentang</a:t>
            </a:r>
            <a:r>
              <a:rPr lang="en-US" sz="2400" dirty="0">
                <a:latin typeface="Montserrat" panose="00000500000000000000" pitchFamily="2" charset="0"/>
              </a:rPr>
              <a:t> min &amp; max sangat </a:t>
            </a:r>
            <a:r>
              <a:rPr lang="en-US" sz="2400" dirty="0" err="1">
                <a:latin typeface="Montserrat" panose="00000500000000000000" pitchFamily="2" charset="0"/>
              </a:rPr>
              <a:t>dipengaruhi</a:t>
            </a:r>
            <a:r>
              <a:rPr lang="en-US" sz="2400" dirty="0">
                <a:latin typeface="Montserrat" panose="00000500000000000000" pitchFamily="2" charset="0"/>
              </a:rPr>
              <a:t> oleh </a:t>
            </a:r>
            <a:r>
              <a:rPr lang="en-US" sz="2400" dirty="0" err="1">
                <a:latin typeface="Montserrat" panose="00000500000000000000" pitchFamily="2" charset="0"/>
              </a:rPr>
              <a:t>nilai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ekstrem</a:t>
            </a:r>
            <a:r>
              <a:rPr lang="en-US" sz="2400" dirty="0">
                <a:latin typeface="Montserrat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3216579"/>
      </p:ext>
    </p:extLst>
  </p:cSld>
  <p:clrMapOvr>
    <a:masterClrMapping/>
  </p:clrMapOvr>
  <p:transition spd="slow">
    <p:cover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FC02A-1274-6173-4B48-D03F674E4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75B742D-710D-B337-1CBD-D3D657394865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D4ABD8C-FE4A-A0F6-1EA3-EE75A5B143B0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6F3F4FB-2EB2-5D86-F571-2C378D6CF943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1FFB0D20-39CC-2DE0-38D0-D40167413611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7A2105-D023-7432-B579-1AF29A367FB7}"/>
              </a:ext>
            </a:extLst>
          </p:cNvPr>
          <p:cNvSpPr txBox="1"/>
          <p:nvPr/>
        </p:nvSpPr>
        <p:spPr>
          <a:xfrm>
            <a:off x="751417" y="4186831"/>
            <a:ext cx="16014230" cy="1872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1"/>
              </a:lnSpc>
              <a:spcBef>
                <a:spcPct val="0"/>
              </a:spcBef>
            </a:pPr>
            <a:r>
              <a:rPr lang="en-US" sz="6092" b="1" spc="20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Next Topic: Introduction to Regression</a:t>
            </a:r>
          </a:p>
        </p:txBody>
      </p:sp>
    </p:spTree>
    <p:extLst>
      <p:ext uri="{BB962C8B-B14F-4D97-AF65-F5344CB8AC3E}">
        <p14:creationId xmlns:p14="http://schemas.microsoft.com/office/powerpoint/2010/main" val="242971259"/>
      </p:ext>
    </p:extLst>
  </p:cSld>
  <p:clrMapOvr>
    <a:masterClrMapping/>
  </p:clrMapOvr>
  <p:transition spd="slow">
    <p:cover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6461D-11C2-DD31-E475-004797246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893496D-2A39-8767-9DB7-D61A83F9176F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3DE2A36-F4E5-7979-4441-3A49C6535AF1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CE3334C-3D66-FC68-0A25-79A199146469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FD77E41E-327F-1ED8-A49B-114222409713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5DC699-E69B-682E-5826-7724296FD074}"/>
              </a:ext>
            </a:extLst>
          </p:cNvPr>
          <p:cNvSpPr txBox="1"/>
          <p:nvPr/>
        </p:nvSpPr>
        <p:spPr>
          <a:xfrm>
            <a:off x="1139750" y="817667"/>
            <a:ext cx="16014230" cy="936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1"/>
              </a:lnSpc>
              <a:spcBef>
                <a:spcPct val="0"/>
              </a:spcBef>
            </a:pPr>
            <a:r>
              <a:rPr lang="en-US" sz="6092" b="1" spc="20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Ringkasan</a:t>
            </a:r>
            <a:endParaRPr lang="en-US" sz="6092" b="1" spc="201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6" name="Kotak Teks 7">
            <a:extLst>
              <a:ext uri="{FF2B5EF4-FFF2-40B4-BE49-F238E27FC236}">
                <a16:creationId xmlns:a16="http://schemas.microsoft.com/office/drawing/2014/main" id="{26FB75AD-55E9-E916-BCB4-E0230DC9C4DF}"/>
              </a:ext>
            </a:extLst>
          </p:cNvPr>
          <p:cNvSpPr txBox="1"/>
          <p:nvPr/>
        </p:nvSpPr>
        <p:spPr>
          <a:xfrm>
            <a:off x="1600200" y="2247900"/>
            <a:ext cx="13652811" cy="7370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Montserrat" panose="00000500000000000000" pitchFamily="2" charset="0"/>
              </a:rPr>
              <a:t>EDA membantu </a:t>
            </a:r>
            <a:r>
              <a:rPr lang="en-US" sz="2400" dirty="0" err="1">
                <a:latin typeface="Montserrat" panose="00000500000000000000" pitchFamily="2" charset="0"/>
              </a:rPr>
              <a:t>memahami</a:t>
            </a:r>
            <a:r>
              <a:rPr lang="en-US" sz="2400" dirty="0">
                <a:latin typeface="Montserrat" panose="00000500000000000000" pitchFamily="2" charset="0"/>
              </a:rPr>
              <a:t> data sebelum </a:t>
            </a:r>
            <a:r>
              <a:rPr lang="en-US" sz="2400" dirty="0" err="1">
                <a:latin typeface="Montserrat" panose="00000500000000000000" pitchFamily="2" charset="0"/>
              </a:rPr>
              <a:t>diproses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lebih</a:t>
            </a:r>
            <a:r>
              <a:rPr lang="en-US" sz="2400" dirty="0">
                <a:latin typeface="Montserrat" panose="00000500000000000000" pitchFamily="2" charset="0"/>
              </a:rPr>
              <a:t> lanjut.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Montserrat" panose="00000500000000000000" pitchFamily="2" charset="0"/>
              </a:rPr>
              <a:t>Feature Engineering penting untuk </a:t>
            </a:r>
            <a:r>
              <a:rPr lang="en-US" sz="2400" dirty="0" err="1">
                <a:latin typeface="Montserrat" panose="00000500000000000000" pitchFamily="2" charset="0"/>
              </a:rPr>
              <a:t>meningkatkan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performa</a:t>
            </a:r>
            <a:r>
              <a:rPr lang="en-US" sz="2400" dirty="0">
                <a:latin typeface="Montserrat" panose="00000500000000000000" pitchFamily="2" charset="0"/>
              </a:rPr>
              <a:t> model.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en-US" sz="2400" dirty="0" err="1">
                <a:latin typeface="Montserrat" panose="00000500000000000000" pitchFamily="2" charset="0"/>
              </a:rPr>
              <a:t>Duplikat</a:t>
            </a:r>
            <a:r>
              <a:rPr lang="en-US" sz="2400" dirty="0">
                <a:latin typeface="Montserrat" panose="00000500000000000000" pitchFamily="2" charset="0"/>
              </a:rPr>
              <a:t>, outlier, missing value, encoding, dan scaling </a:t>
            </a:r>
            <a:r>
              <a:rPr lang="en-US" sz="2400" dirty="0" err="1">
                <a:latin typeface="Montserrat" panose="00000500000000000000" pitchFamily="2" charset="0"/>
              </a:rPr>
              <a:t>harus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diperhatikan</a:t>
            </a:r>
            <a:r>
              <a:rPr lang="en-US" sz="2400" dirty="0">
                <a:latin typeface="Montserrat" panose="00000500000000000000" pitchFamily="2" charset="0"/>
              </a:rPr>
              <a:t>.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en-US" sz="2400" dirty="0" err="1">
                <a:latin typeface="Montserrat" panose="00000500000000000000" pitchFamily="2" charset="0"/>
              </a:rPr>
              <a:t>Visualisasi</a:t>
            </a:r>
            <a:r>
              <a:rPr lang="en-US" sz="2400" dirty="0">
                <a:latin typeface="Montserrat" panose="00000500000000000000" pitchFamily="2" charset="0"/>
              </a:rPr>
              <a:t> membantu </a:t>
            </a:r>
            <a:r>
              <a:rPr lang="en-US" sz="2400" dirty="0" err="1">
                <a:latin typeface="Montserrat" panose="00000500000000000000" pitchFamily="2" charset="0"/>
              </a:rPr>
              <a:t>kita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melihat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perubahan</a:t>
            </a:r>
            <a:r>
              <a:rPr lang="en-US" sz="2400" dirty="0">
                <a:latin typeface="Montserrat" panose="00000500000000000000" pitchFamily="2" charset="0"/>
              </a:rPr>
              <a:t> data sebelum &amp; </a:t>
            </a:r>
            <a:r>
              <a:rPr lang="en-US" sz="2400" dirty="0" err="1">
                <a:latin typeface="Montserrat" panose="00000500000000000000" pitchFamily="2" charset="0"/>
              </a:rPr>
              <a:t>sesudah</a:t>
            </a:r>
            <a:r>
              <a:rPr lang="en-US" sz="2400" dirty="0">
                <a:latin typeface="Montserrat" panose="00000500000000000000" pitchFamily="2" charset="0"/>
              </a:rPr>
              <a:t> preprocessing.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Montserrat" panose="00000500000000000000" pitchFamily="2" charset="0"/>
              </a:rPr>
              <a:t>Tanpa Feature Engineering, model ML </a:t>
            </a:r>
            <a:r>
              <a:rPr lang="en-US" sz="2400" dirty="0" err="1">
                <a:latin typeface="Montserrat" panose="00000500000000000000" pitchFamily="2" charset="0"/>
              </a:rPr>
              <a:t>bisa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bekerja</a:t>
            </a:r>
            <a:r>
              <a:rPr lang="en-US" sz="2400" dirty="0">
                <a:latin typeface="Montserrat" panose="00000500000000000000" pitchFamily="2" charset="0"/>
              </a:rPr>
              <a:t> dengan </a:t>
            </a:r>
            <a:r>
              <a:rPr lang="en-US" sz="2400" dirty="0" err="1">
                <a:latin typeface="Montserrat" panose="00000500000000000000" pitchFamily="2" charset="0"/>
              </a:rPr>
              <a:t>buruk</a:t>
            </a:r>
            <a:r>
              <a:rPr lang="en-US" sz="2400" dirty="0">
                <a:latin typeface="Montserrat" panose="00000500000000000000" pitchFamily="2" charset="0"/>
              </a:rPr>
              <a:t>. 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/>
            </a:pPr>
            <a:endParaRPr lang="en-US" sz="2400" dirty="0">
              <a:latin typeface="Montserrat" panose="00000500000000000000" pitchFamily="2" charset="0"/>
            </a:endParaRPr>
          </a:p>
          <a:p>
            <a:pPr algn="ctr">
              <a:lnSpc>
                <a:spcPct val="200000"/>
              </a:lnSpc>
            </a:pPr>
            <a:r>
              <a:rPr lang="en-US" sz="2400" b="1" dirty="0">
                <a:latin typeface="Montserrat" panose="00000500000000000000" pitchFamily="2" charset="0"/>
              </a:rPr>
              <a:t>📌</a:t>
            </a:r>
            <a:r>
              <a:rPr lang="en-US" sz="2400" b="1" dirty="0" err="1">
                <a:latin typeface="Montserrat" panose="00000500000000000000" pitchFamily="2" charset="0"/>
              </a:rPr>
              <a:t>Penutup</a:t>
            </a:r>
            <a:r>
              <a:rPr lang="en-US" sz="2400" b="1" dirty="0">
                <a:latin typeface="Montserrat" panose="00000500000000000000" pitchFamily="2" charset="0"/>
              </a:rPr>
              <a:t>:</a:t>
            </a:r>
            <a:br>
              <a:rPr lang="en-US" sz="2400" dirty="0">
                <a:latin typeface="Montserrat" panose="00000500000000000000" pitchFamily="2" charset="0"/>
              </a:rPr>
            </a:br>
            <a:r>
              <a:rPr lang="en-US" sz="2400" b="1" i="1" dirty="0">
                <a:latin typeface="Montserrat" panose="00000500000000000000" pitchFamily="2" charset="0"/>
              </a:rPr>
              <a:t>"Jadi, sebelum </a:t>
            </a:r>
            <a:r>
              <a:rPr lang="en-US" sz="2400" b="1" i="1" dirty="0" err="1">
                <a:latin typeface="Montserrat" panose="00000500000000000000" pitchFamily="2" charset="0"/>
              </a:rPr>
              <a:t>buru-buru</a:t>
            </a:r>
            <a:r>
              <a:rPr lang="en-US" sz="2400" b="1" i="1" dirty="0">
                <a:latin typeface="Montserrat" panose="00000500000000000000" pitchFamily="2" charset="0"/>
              </a:rPr>
              <a:t> </a:t>
            </a:r>
            <a:r>
              <a:rPr lang="en-US" sz="2400" b="1" i="1" dirty="0" err="1">
                <a:latin typeface="Montserrat" panose="00000500000000000000" pitchFamily="2" charset="0"/>
              </a:rPr>
              <a:t>membangun</a:t>
            </a:r>
            <a:r>
              <a:rPr lang="en-US" sz="2400" b="1" i="1" dirty="0">
                <a:latin typeface="Montserrat" panose="00000500000000000000" pitchFamily="2" charset="0"/>
              </a:rPr>
              <a:t> model Machine Learning, </a:t>
            </a:r>
            <a:r>
              <a:rPr lang="en-US" sz="2400" b="1" i="1" dirty="0" err="1">
                <a:latin typeface="Montserrat" panose="00000500000000000000" pitchFamily="2" charset="0"/>
              </a:rPr>
              <a:t>pastikan</a:t>
            </a:r>
            <a:r>
              <a:rPr lang="en-US" sz="2400" b="1" i="1" dirty="0">
                <a:latin typeface="Montserrat" panose="00000500000000000000" pitchFamily="2" charset="0"/>
              </a:rPr>
              <a:t> </a:t>
            </a:r>
            <a:r>
              <a:rPr lang="en-US" sz="2400" b="1" i="1" dirty="0" err="1">
                <a:latin typeface="Montserrat" panose="00000500000000000000" pitchFamily="2" charset="0"/>
              </a:rPr>
              <a:t>kita</a:t>
            </a:r>
            <a:r>
              <a:rPr lang="en-US" sz="2400" b="1" i="1" dirty="0">
                <a:latin typeface="Montserrat" panose="00000500000000000000" pitchFamily="2" charset="0"/>
              </a:rPr>
              <a:t> </a:t>
            </a:r>
            <a:r>
              <a:rPr lang="en-US" sz="2400" b="1" i="1" dirty="0" err="1">
                <a:latin typeface="Montserrat" panose="00000500000000000000" pitchFamily="2" charset="0"/>
              </a:rPr>
              <a:t>memahami</a:t>
            </a:r>
            <a:r>
              <a:rPr lang="en-US" sz="2400" b="1" i="1" dirty="0">
                <a:latin typeface="Montserrat" panose="00000500000000000000" pitchFamily="2" charset="0"/>
              </a:rPr>
              <a:t> dan </a:t>
            </a:r>
            <a:r>
              <a:rPr lang="en-US" sz="2400" b="1" i="1" dirty="0" err="1">
                <a:latin typeface="Montserrat" panose="00000500000000000000" pitchFamily="2" charset="0"/>
              </a:rPr>
              <a:t>membersihkan</a:t>
            </a:r>
            <a:r>
              <a:rPr lang="en-US" sz="2400" b="1" i="1" dirty="0">
                <a:latin typeface="Montserrat" panose="00000500000000000000" pitchFamily="2" charset="0"/>
              </a:rPr>
              <a:t> data dengan baik!"</a:t>
            </a:r>
            <a:endParaRPr lang="en-US" sz="2400" b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864807"/>
      </p:ext>
    </p:extLst>
  </p:cSld>
  <p:clrMapOvr>
    <a:masterClrMapping/>
  </p:clrMapOvr>
  <p:transition spd="slow">
    <p:cover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D9CB6-F362-4BE6-70E8-9376BF2D2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FEFF1E9-5E3B-21ED-E895-D82661911A28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F9DE36D-1CA3-032A-0F40-FB01839AC4FE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14571C7-A5F5-6477-2667-903A3A80D6EF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3ACB24A5-DD46-7222-03CA-34FFF1BAB37C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97E01675-4D66-4F94-805A-F00AC34F87CF}"/>
              </a:ext>
            </a:extLst>
          </p:cNvPr>
          <p:cNvSpPr txBox="1"/>
          <p:nvPr/>
        </p:nvSpPr>
        <p:spPr>
          <a:xfrm>
            <a:off x="6083684" y="1257300"/>
            <a:ext cx="5211826" cy="933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311"/>
              </a:lnSpc>
              <a:spcBef>
                <a:spcPct val="0"/>
              </a:spcBef>
            </a:pPr>
            <a:r>
              <a:rPr lang="en-US" sz="6092" b="1" spc="20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Reference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46B2E8D7-FBE4-16BA-BBCF-92EE3826DAC6}"/>
              </a:ext>
            </a:extLst>
          </p:cNvPr>
          <p:cNvSpPr txBox="1"/>
          <p:nvPr/>
        </p:nvSpPr>
        <p:spPr>
          <a:xfrm>
            <a:off x="767595" y="2919347"/>
            <a:ext cx="15844005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sz="2400" b="1" i="0" u="none" strike="noStrike" baseline="0" dirty="0">
                <a:solidFill>
                  <a:schemeClr val="accent5">
                    <a:lumMod val="75000"/>
                  </a:schemeClr>
                </a:solidFill>
                <a:latin typeface="FreeSansBold"/>
              </a:rPr>
              <a:t>Hands-On Exploratory Data Analysis with Python</a:t>
            </a:r>
            <a:endParaRPr lang="en-US" sz="2400" b="0" dirty="0">
              <a:solidFill>
                <a:schemeClr val="accent5">
                  <a:lumMod val="75000"/>
                </a:schemeClr>
              </a:solidFill>
              <a:effectLst/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454684"/>
      </p:ext>
    </p:extLst>
  </p:cSld>
  <p:clrMapOvr>
    <a:masterClrMapping/>
  </p:clrMapOvr>
  <p:transition spd="slow">
    <p:cover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65651E-1151-844A-6B1B-56FCF577A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DE8CEC6-418C-E4AF-357F-3805B8E55B11}"/>
              </a:ext>
            </a:extLst>
          </p:cNvPr>
          <p:cNvGrpSpPr/>
          <p:nvPr/>
        </p:nvGrpSpPr>
        <p:grpSpPr>
          <a:xfrm>
            <a:off x="1" y="9791700"/>
            <a:ext cx="18288000" cy="495300"/>
            <a:chOff x="0" y="0"/>
            <a:chExt cx="6110362" cy="26513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584C945-D063-D83F-EF83-BCD4040DF6E2}"/>
                </a:ext>
              </a:extLst>
            </p:cNvPr>
            <p:cNvSpPr/>
            <p:nvPr/>
          </p:nvSpPr>
          <p:spPr>
            <a:xfrm>
              <a:off x="0" y="0"/>
              <a:ext cx="6110362" cy="265132"/>
            </a:xfrm>
            <a:custGeom>
              <a:avLst/>
              <a:gdLst/>
              <a:ahLst/>
              <a:cxnLst/>
              <a:rect l="l" t="t" r="r" b="b"/>
              <a:pathLst>
                <a:path w="6110362" h="265132">
                  <a:moveTo>
                    <a:pt x="0" y="0"/>
                  </a:moveTo>
                  <a:lnTo>
                    <a:pt x="6110362" y="0"/>
                  </a:lnTo>
                  <a:lnTo>
                    <a:pt x="6110362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15E530F-4D57-E19B-13D6-FA0D4A75B307}"/>
                </a:ext>
              </a:extLst>
            </p:cNvPr>
            <p:cNvSpPr txBox="1"/>
            <p:nvPr/>
          </p:nvSpPr>
          <p:spPr>
            <a:xfrm>
              <a:off x="0" y="-38100"/>
              <a:ext cx="6110362" cy="30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E692EF2-E34C-51B4-8577-1DDACBC2C2F9}"/>
              </a:ext>
            </a:extLst>
          </p:cNvPr>
          <p:cNvGrpSpPr/>
          <p:nvPr/>
        </p:nvGrpSpPr>
        <p:grpSpPr>
          <a:xfrm>
            <a:off x="1" y="0"/>
            <a:ext cx="18288000" cy="419100"/>
            <a:chOff x="0" y="0"/>
            <a:chExt cx="6110362" cy="49365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DD44FC5-F6E0-D90E-A112-81E802B58314}"/>
                </a:ext>
              </a:extLst>
            </p:cNvPr>
            <p:cNvSpPr/>
            <p:nvPr/>
          </p:nvSpPr>
          <p:spPr>
            <a:xfrm>
              <a:off x="0" y="0"/>
              <a:ext cx="6110362" cy="493651"/>
            </a:xfrm>
            <a:custGeom>
              <a:avLst/>
              <a:gdLst/>
              <a:ahLst/>
              <a:cxnLst/>
              <a:rect l="l" t="t" r="r" b="b"/>
              <a:pathLst>
                <a:path w="6110362" h="493651">
                  <a:moveTo>
                    <a:pt x="0" y="0"/>
                  </a:moveTo>
                  <a:lnTo>
                    <a:pt x="6110362" y="0"/>
                  </a:lnTo>
                  <a:lnTo>
                    <a:pt x="6110362" y="493651"/>
                  </a:lnTo>
                  <a:lnTo>
                    <a:pt x="0" y="493651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3D5E564-4AEC-6CB8-5F3D-4BA2472F3C31}"/>
                </a:ext>
              </a:extLst>
            </p:cNvPr>
            <p:cNvSpPr txBox="1"/>
            <p:nvPr/>
          </p:nvSpPr>
          <p:spPr>
            <a:xfrm>
              <a:off x="0" y="-38100"/>
              <a:ext cx="6110362" cy="531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5A1B7F6B-1D3B-6D68-F767-8A297E98107D}"/>
              </a:ext>
            </a:extLst>
          </p:cNvPr>
          <p:cNvSpPr txBox="1"/>
          <p:nvPr/>
        </p:nvSpPr>
        <p:spPr>
          <a:xfrm>
            <a:off x="4734204" y="3627935"/>
            <a:ext cx="8819592" cy="1771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510"/>
              </a:lnSpc>
              <a:spcBef>
                <a:spcPct val="0"/>
              </a:spcBef>
            </a:pPr>
            <a:r>
              <a:rPr lang="en-US" sz="10364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63200179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3064</TotalTime>
  <Words>2147</Words>
  <Application>Microsoft Office PowerPoint</Application>
  <PresentationFormat>Custom</PresentationFormat>
  <Paragraphs>282</Paragraphs>
  <Slides>39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2" baseType="lpstr">
      <vt:lpstr>Arial</vt:lpstr>
      <vt:lpstr>Montserrat</vt:lpstr>
      <vt:lpstr>Georgia</vt:lpstr>
      <vt:lpstr>Calibri</vt:lpstr>
      <vt:lpstr>Open Sans Extra Bold</vt:lpstr>
      <vt:lpstr>Montserrat Classic Bold</vt:lpstr>
      <vt:lpstr>Trebuchet MS</vt:lpstr>
      <vt:lpstr>Aptos</vt:lpstr>
      <vt:lpstr>Montserrat Classic</vt:lpstr>
      <vt:lpstr>Courier New</vt:lpstr>
      <vt:lpstr>FreeSansBold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</dc:title>
  <dc:creator>M S I</dc:creator>
  <cp:lastModifiedBy>Naura Nazhifah</cp:lastModifiedBy>
  <cp:revision>30</cp:revision>
  <dcterms:created xsi:type="dcterms:W3CDTF">2006-08-16T00:00:00Z</dcterms:created>
  <dcterms:modified xsi:type="dcterms:W3CDTF">2025-03-09T22:38:16Z</dcterms:modified>
  <dc:identifier>DAGWy-tLfhM</dc:identifier>
</cp:coreProperties>
</file>